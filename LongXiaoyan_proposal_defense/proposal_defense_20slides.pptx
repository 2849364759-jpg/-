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9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3"/>
    <p:sldMasterId id="2147483668" r:id="rId4"/>
    <p:sldMasterId id="2147483678" r:id="rId5"/>
    <p:sldMasterId id="2147483688" r:id="rId6"/>
    <p:sldMasterId id="2147483698" r:id="rId7"/>
    <p:sldMasterId id="2147483708" r:id="rId8"/>
    <p:sldMasterId id="2147483718" r:id="rId9"/>
    <p:sldMasterId id="2147483728" r:id="rId10"/>
    <p:sldMasterId id="2147483738" r:id="rId11"/>
  </p:sldMasterIdLst>
  <p:notesMasterIdLst>
    <p:notesMasterId r:id="rId13"/>
  </p:notesMasterIdLst>
  <p:sldIdLst>
    <p:sldId id="550" r:id="rId12"/>
    <p:sldId id="553" r:id="rId16"/>
    <p:sldId id="554" r:id="rId17"/>
    <p:sldId id="556" r:id="rId18"/>
    <p:sldId id="555" r:id="rId19"/>
    <p:sldId id="558" r:id="rId21"/>
    <p:sldId id="559" r:id="rId22"/>
    <p:sldId id="560" r:id="rId23"/>
    <p:sldId id="561" r:id="rId24"/>
    <p:sldId id="562" r:id="rId25"/>
    <p:sldId id="564" r:id="rId27"/>
    <p:sldId id="565" r:id="rId28"/>
    <p:sldId id="566" r:id="rId29"/>
    <p:sldId id="567" r:id="rId30"/>
    <p:sldId id="568" r:id="rId31"/>
    <p:sldId id="570" r:id="rId33"/>
    <p:sldId id="571" r:id="rId34"/>
    <p:sldId id="574" r:id="rId37"/>
    <p:sldId id="578" r:id="rId41"/>
    <p:sldId id="580" r:id="rId43"/>
  </p:sldIdLst>
  <p:sldSz cx="12192000" cy="6858000"/>
  <p:notesSz cx="6858000" cy="9144000"/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AB"/>
    <a:srgbClr val="355E35"/>
    <a:srgbClr val="0F0E74"/>
    <a:srgbClr val="081E8D"/>
    <a:srgbClr val="25327F"/>
    <a:srgbClr val="1C2085"/>
    <a:srgbClr val="1D2186"/>
    <a:srgbClr val="F5F5F5"/>
    <a:srgbClr val="932F31"/>
    <a:srgbClr val="045D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3963" autoAdjust="0"/>
  </p:normalViewPr>
  <p:slideViewPr>
    <p:cSldViewPr snapToGrid="0" showGuides="1">
      <p:cViewPr>
        <p:scale>
          <a:sx n="75" d="100"/>
          <a:sy n="75" d="100"/>
        </p:scale>
        <p:origin x="1459" y="81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7" Type="http://schemas.openxmlformats.org/officeDocument/2006/relationships/slide" Target="slides/slide25.xml"/><Relationship Id="rId41" Type="http://schemas.openxmlformats.org/officeDocument/2006/relationships/slide" Target="slides/slide29.xml"/><Relationship Id="rId43" Type="http://schemas.openxmlformats.org/officeDocument/2006/relationships/slide" Target="slides/slide3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ableStyles" Target="tableStyles.xml"/><Relationship Id="rId47" Type="http://schemas.openxmlformats.org/officeDocument/2006/relationships/tags" Target="tags/tag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4261-0CDD-45A3-84C2-311859DE5B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开场：本课题采用造模后干预设计，重点评价不同剂量逍遥散的行为学效应，并探索相关蛋白和生化指标之间的联系。题目按原报告保留，不能将通路名称理解为已验证的因果机制。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按照为何研究、研究什么、如何实施、如何保证可靠性、何时完成的顺序汇报。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强调模型的用途与局限。SPT和OFT分别提供奖赏相关行为和活动探索信息，不将单一行为指标直接等同于临床抑郁诊断。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原报告未明确各药味处方克数，因此本页仅呈现八味组成，不补写具体克数。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把文献作为研究基础而不是本项目结果。文献[4]研究的是白藜芦醇与CUMS小鼠，不能直接替代逍遥散大鼠实验。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解释SIRT1可通过去乙酰化调节PGC-1α，但本实验只做总蛋白表达，因此不能据此认定通路被激活，更不能证明其介导了行为改善。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假设使用可能与相关，而不是预设上调、下调或显著性。三项目标依次对应药效、指标变化、关联分析。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原报告的详细方法明确为造模4周、干预4周，干预时停止新应激。本页统一采用这一设计。模型判定标准必须预先制定，不按给药后的结果筛选。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这些是原报告的拟定梯度，并非已验证有效剂量。每组n不在原报告中，因此不补写。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原报告给出0.52 g/mL母液及稀释、浓缩计算，PPT提炼为最终对应关系，不把体积换算当作人鼠等效剂量的依据。各味克数及薄荷等煎煮细节须药学确认。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干预末复测依据详细研究方法和计划。原报告SPT单段漏写终点，但总体设计明确有复测，已统一。OFT并非抑郁特异性测量，不把活动距离增加独立解释为抗抑郁作用。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脑组织检测强调一致取材范围和前处理。原报告未指定脑区，必须实验前明确；目标蛋白总表达不等于活性，内参需验证适用性。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三项指标各自回答不同问题，不能合并称为通路活化检测。结合蛋白与行为结果讨论，不预设ATP升高或MDA下降。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本页为可编辑技术路线。每个阶段按原报告提炼；三个检测层面最终汇入统计分析，不包含额外机制阻断实验。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正式实验前需明确主要终点、样本量估算参数和具体多重比较方法。相关分析属于探索，不证明因果关系；本页不新增原文没有的软件名称或每组数量。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原报告平台条件与部分待核实说明并存，故谨慎使用报告列有而非承诺全部到位。末尾TGR5/cAMP/p-PKA段落与本研究不符，未纳入；基金编号及经费来源应由导师核实。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这里的预期成果是数据和研究认识，不是预期显著性。后续可考虑通路功能验证，但不能写为本期已开展或既定新增实验。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完整保留报告五阶段，特别保留2028年1至6月论文与答辩阶段，不按此前图片中的2027年12月提前截断。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文献信息取自上传报告，未新增文献或补写未核实的DOI。原报告正文Ge等与文献[5]作者不一致，PPT避免沿用该作者称谓。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结束时用一句话概括：本研究拟通过分剂量干预和多层面检测，评价逍遥散对CUMS大鼠的作用，为后续因果机制验证提供线索。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76D6-055B-45E1-A07F-40AF9915DBEF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5F64-BFC4-4590-A3B4-6A8E5499F5A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568D8-79F4-46BC-90CE-49E11C42A0D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25B4-6830-40BE-A5C5-D0009D62CE3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7ECB5-DF12-4F03-B25B-CC38BA2A35A7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A149-A363-431E-B2E9-9DD43A6A5442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5C69-CD13-4645-994F-4DA991B20B4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0B33-C4D1-4774-A4A7-56335ECBF98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AD8D1-C647-4D2D-889F-D9046B63B25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76D6-055B-45E1-A07F-40AF9915DBEF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5F64-BFC4-4590-A3B4-6A8E5499F5A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568D8-79F4-46BC-90CE-49E11C42A0D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25B4-6830-40BE-A5C5-D0009D62CE3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7ECB5-DF12-4F03-B25B-CC38BA2A35A7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A149-A363-431E-B2E9-9DD43A6A5442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5C69-CD13-4645-994F-4DA991B20B4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0B33-C4D1-4774-A4A7-56335ECBF98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AD8D1-C647-4D2D-889F-D9046B63B25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76D6-055B-45E1-A07F-40AF9915DBEF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5F64-BFC4-4590-A3B4-6A8E5499F5A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568D8-79F4-46BC-90CE-49E11C42A0D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25B4-6830-40BE-A5C5-D0009D62CE3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7ECB5-DF12-4F03-B25B-CC38BA2A35A7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A149-A363-431E-B2E9-9DD43A6A5442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5C69-CD13-4645-994F-4DA991B20B4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0B33-C4D1-4774-A4A7-56335ECBF98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AD8D1-C647-4D2D-889F-D9046B63B25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76D6-055B-45E1-A07F-40AF9915DBEF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5F64-BFC4-4590-A3B4-6A8E5499F5A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568D8-79F4-46BC-90CE-49E11C42A0D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25B4-6830-40BE-A5C5-D0009D62CE3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7ECB5-DF12-4F03-B25B-CC38BA2A35A7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A149-A363-431E-B2E9-9DD43A6A5442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5C69-CD13-4645-994F-4DA991B20B4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0B33-C4D1-4774-A4A7-56335ECBF98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AD8D1-C647-4D2D-889F-D9046B63B25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76D6-055B-45E1-A07F-40AF9915DBEF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5F64-BFC4-4590-A3B4-6A8E5499F5A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568D8-79F4-46BC-90CE-49E11C42A0D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25B4-6830-40BE-A5C5-D0009D62CE3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7ECB5-DF12-4F03-B25B-CC38BA2A35A7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A149-A363-431E-B2E9-9DD43A6A5442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5C69-CD13-4645-994F-4DA991B20B4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0B33-C4D1-4774-A4A7-56335ECBF98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AD8D1-C647-4D2D-889F-D9046B63B25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76D6-055B-45E1-A07F-40AF9915DBEF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5F64-BFC4-4590-A3B4-6A8E5499F5A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568D8-79F4-46BC-90CE-49E11C42A0D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25B4-6830-40BE-A5C5-D0009D62CE3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7ECB5-DF12-4F03-B25B-CC38BA2A35A7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A149-A363-431E-B2E9-9DD43A6A5442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5C69-CD13-4645-994F-4DA991B20B4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0B33-C4D1-4774-A4A7-56335ECBF98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AD8D1-C647-4D2D-889F-D9046B63B25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76D6-055B-45E1-A07F-40AF9915DBEF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5F64-BFC4-4590-A3B4-6A8E5499F5A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568D8-79F4-46BC-90CE-49E11C42A0D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25B4-6830-40BE-A5C5-D0009D62CE3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7ECB5-DF12-4F03-B25B-CC38BA2A35A7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A149-A363-431E-B2E9-9DD43A6A5442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5C69-CD13-4645-994F-4DA991B20B4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0B33-C4D1-4774-A4A7-56335ECBF98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AD8D1-C647-4D2D-889F-D9046B63B25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76D6-055B-45E1-A07F-40AF9915DBEF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5F64-BFC4-4590-A3B4-6A8E5499F5A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568D8-79F4-46BC-90CE-49E11C42A0D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25B4-6830-40BE-A5C5-D0009D62CE3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7ECB5-DF12-4F03-B25B-CC38BA2A35A7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A149-A363-431E-B2E9-9DD43A6A5442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5C69-CD13-4645-994F-4DA991B20B4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0B33-C4D1-4774-A4A7-56335ECBF98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AD8D1-C647-4D2D-889F-D9046B63B25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76D6-055B-45E1-A07F-40AF9915DBEF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5F64-BFC4-4590-A3B4-6A8E5499F5A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568D8-79F4-46BC-90CE-49E11C42A0D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25B4-6830-40BE-A5C5-D0009D62CE3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7ECB5-DF12-4F03-B25B-CC38BA2A35A7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A149-A363-431E-B2E9-9DD43A6A5442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5C69-CD13-4645-994F-4DA991B20B4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0B33-C4D1-4774-A4A7-56335ECBF98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AD8D1-C647-4D2D-889F-D9046B63B25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76D6-055B-45E1-A07F-40AF9915DBEF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5F64-BFC4-4590-A3B4-6A8E5499F5A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568D8-79F4-46BC-90CE-49E11C42A0D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25B4-6830-40BE-A5C5-D0009D62CE3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7ECB5-DF12-4F03-B25B-CC38BA2A35A7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A149-A363-431E-B2E9-9DD43A6A5442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5C69-CD13-4645-994F-4DA991B20B4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0B33-C4D1-4774-A4A7-56335ECBF98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AD8D1-C647-4D2D-889F-D9046B63B25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3000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Relationship Id="rId9" Type="http://schemas.openxmlformats.org/officeDocument/2006/relationships/slideLayout" Target="../slideLayouts/slideLayout27.xml"/><Relationship Id="rId10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Relationship Id="rId9" Type="http://schemas.openxmlformats.org/officeDocument/2006/relationships/slideLayout" Target="../slideLayouts/slideLayout36.xml"/><Relationship Id="rId10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5.xml"/><Relationship Id="rId10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3.xml"/><Relationship Id="rId10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8.xml"/><Relationship Id="rId6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0.xml"/><Relationship Id="rId8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2.xml"/><Relationship Id="rId10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slideLayout" Target="../slideLayouts/slideLayout74.xml"/><Relationship Id="rId3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7.xml"/><Relationship Id="rId6" Type="http://schemas.openxmlformats.org/officeDocument/2006/relationships/slideLayout" Target="../slideLayouts/slideLayout78.xml"/><Relationship Id="rId7" Type="http://schemas.openxmlformats.org/officeDocument/2006/relationships/slideLayout" Target="../slideLayouts/slideLayout79.xml"/><Relationship Id="rId8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1.xml"/><Relationship Id="rId10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slideLayout" Target="../slideLayouts/slideLayout83.xml"/><Relationship Id="rId3" Type="http://schemas.openxmlformats.org/officeDocument/2006/relationships/slideLayout" Target="../slideLayouts/slideLayout84.xml"/><Relationship Id="rId4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0.xml"/><Relationship Id="rId10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29830-9399-4348-B48B-DE7CC3D5F97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slow" advTm="3000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29830-9399-4348-B48B-DE7CC3D5F97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ransition spd="slow" advTm="3000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29830-9399-4348-B48B-DE7CC3D5F97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</p:sldLayoutIdLst>
  <p:transition spd="slow" advTm="3000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29830-9399-4348-B48B-DE7CC3D5F97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</p:sldLayoutIdLst>
  <p:transition spd="slow" advTm="3000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29830-9399-4348-B48B-DE7CC3D5F97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</p:sldLayoutIdLst>
  <p:transition spd="slow" advTm="3000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29830-9399-4348-B48B-DE7CC3D5F97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</p:sldLayoutIdLst>
  <p:transition spd="slow" advTm="3000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29830-9399-4348-B48B-DE7CC3D5F97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</p:sldLayoutIdLst>
  <p:transition spd="slow" advTm="3000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29830-9399-4348-B48B-DE7CC3D5F97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</p:sldLayoutIdLst>
  <p:transition spd="slow" advTm="3000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29830-9399-4348-B48B-DE7CC3D5F97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</p:sldLayoutIdLst>
  <p:transition spd="slow" advTm="3000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29830-9399-4348-B48B-DE7CC3D5F97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</p:sldLayoutIdLst>
  <p:transition spd="slow" advTm="3000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3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5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image" Target="../media/image3.png"/><Relationship Id="rId15" Type="http://schemas.openxmlformats.org/officeDocument/2006/relationships/image" Target="../media/image2.png"/><Relationship Id="rId16" Type="http://schemas.openxmlformats.org/officeDocument/2006/relationships/slideLayout" Target="../slideLayouts/slideLayout85.xml"/><Relationship Id="rId17" Type="http://schemas.openxmlformats.org/officeDocument/2006/relationships/notesSlide" Target="../notesSlides/notesSlide5.xml"/><Relationship Id="rId18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5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5.xml"/><Relationship Id="rId4" Type="http://schemas.openxmlformats.org/officeDocument/2006/relationships/notesSlide" Target="../notesSlides/notesSlide7.xml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86.xml"/><Relationship Id="rId5" Type="http://schemas.openxmlformats.org/officeDocument/2006/relationships/notesSlide" Target="../notesSlides/notesSlide9.xml"/><Relationship Id="rId6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6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6.xml"/><Relationship Id="rId4" Type="http://schemas.openxmlformats.org/officeDocument/2006/relationships/notesSlide" Target="../notesSlides/notesSlide11.xml"/><Relationship Id="rId5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86.xml"/><Relationship Id="rId6" Type="http://schemas.openxmlformats.org/officeDocument/2006/relationships/notesSlide" Target="../notesSlides/notesSlide12.xml"/><Relationship Id="rId7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6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7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7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7.xml"/><Relationship Id="rId4" Type="http://schemas.openxmlformats.org/officeDocument/2006/relationships/notesSlide" Target="../notesSlides/notesSlide18.xml"/><Relationship Id="rId5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7.xml"/><Relationship Id="rId4" Type="http://schemas.openxmlformats.org/officeDocument/2006/relationships/notesSlide" Target="../notesSlides/notesSlide19.xml"/><Relationship Id="rId5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8.xml"/><Relationship Id="rId4" Type="http://schemas.openxmlformats.org/officeDocument/2006/relationships/notesSlide" Target="../notesSlides/notesSlide21.xml"/><Relationship Id="rId5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8.xml"/><Relationship Id="rId4" Type="http://schemas.openxmlformats.org/officeDocument/2006/relationships/notesSlide" Target="../notesSlides/notesSlide22.xml"/><Relationship Id="rId5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89.xml"/><Relationship Id="rId5" Type="http://schemas.openxmlformats.org/officeDocument/2006/relationships/notesSlide" Target="../notesSlides/notesSlide25.xml"/><Relationship Id="rId6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9.xml"/><Relationship Id="rId4" Type="http://schemas.openxmlformats.org/officeDocument/2006/relationships/notesSlide" Target="../notesSlides/notesSlide29.xml"/><Relationship Id="rId5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2.xml"/><Relationship Id="rId3" Type="http://schemas.openxmlformats.org/officeDocument/2006/relationships/notesSlide" Target="../notesSlides/notesSlide3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228600"/>
            <a:ext cx="4069080" cy="213969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240280"/>
            <a:ext cx="11365992" cy="2148840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77240" y="2651760"/>
            <a:ext cx="10634472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31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逍遥散调控SIRT1/PGC-1α通路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31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改善CUMS大鼠抑郁状态的机制研究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4617720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4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硕士学位论文开题汇报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349240"/>
            <a:ext cx="9601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汇报人：龙小燕    指导教师：何渝煦 教授 / 主任医师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中医内科学 · 云南中医药大学第一临床学院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2026年10月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55448"/>
            <a:ext cx="2514600" cy="5943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27832" y="146304"/>
            <a:ext cx="1618488" cy="438912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227832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10328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科学问题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2824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质量控制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7816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计划与展望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50976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9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汇报内容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698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云南中医药大学第一临床学院 · 硕士学位论文开题汇报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0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02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783080"/>
            <a:ext cx="566928" cy="502920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94360" y="184708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8308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研究背景与立题依据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837943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为什么选择逍遥散与代谢调节视角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587752"/>
            <a:ext cx="566928" cy="502920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587752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科学问题与研究目标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642616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拟回答的问题及证据边界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92424"/>
            <a:ext cx="566928" cy="502920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594360" y="345643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392424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研究方案与技术路线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447288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模型、分组、给药与多层面评价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197096"/>
            <a:ext cx="566928" cy="502920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594360" y="426110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197096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质量控制与可行性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251959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统计方法、关键难点与实施保障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001768"/>
            <a:ext cx="566928" cy="502920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594360" y="506577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001768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研究计划与预期成果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056631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阶段任务、创新特点及后续方向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1480" y="155448"/>
            <a:ext cx="2514600" cy="5943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27832" y="146304"/>
            <a:ext cx="1618488" cy="438912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227832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10328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科学问题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2824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质量控制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7816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计划与展望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50976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9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研究背景：从慢性应激到代谢适应异常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698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依据：开题报告文献[39–40]。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0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03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874519"/>
            <a:ext cx="3566160" cy="324612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04088" y="205740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624327"/>
            <a:ext cx="31638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慢性应激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383279"/>
            <a:ext cx="3163824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涉及神经内分泌、神经炎症与代谢适应等多种过程。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874519"/>
            <a:ext cx="3566160" cy="324612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498848" y="205740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624327"/>
            <a:ext cx="31638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抑郁样表型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3383279"/>
            <a:ext cx="3163824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CUMS可诱导奖赏敏感性降低，以及自主活动和探索行为改变。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874519"/>
            <a:ext cx="3566160" cy="324612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293608" y="205740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624327"/>
            <a:ext cx="31638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研究切入点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3383279"/>
            <a:ext cx="3163824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关注脑组织能量状态与氧化还原稳态，补充行为学层面的药效评价。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96128"/>
            <a:ext cx="11155680" cy="521207"/>
          </a:xfrm>
          <a:prstGeom prst="roundRect">
            <a:avLst/>
          </a:prstGeom>
          <a:solidFill>
            <a:srgbClr val="E7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704088" y="5687568"/>
            <a:ext cx="10744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1">
                <a:solidFill>
                  <a:srgbClr val="247F8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CUMS用于模拟部分应激相关表型，不能等同于人类抑郁障碍的全部特征。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55448"/>
            <a:ext cx="2514600" cy="5943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27832" y="146304"/>
            <a:ext cx="1618488" cy="438912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227832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10328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科学问题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2824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质量控制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7816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计划与展望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50976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9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逍遥散：中医理论依据与方剂组成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698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云南中医药大学第一临床学院 · 硕士学位论文开题汇报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0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04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828800"/>
            <a:ext cx="3703320" cy="3474720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68680" y="2377440"/>
            <a:ext cx="2971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33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疏肝解郁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33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健脾养血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出自《太平惠民和剂局方》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83664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理论联系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60320"/>
            <a:ext cx="6629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情志失调、肝失疏泄与气机郁滞；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病程中可涉及肝郁脾虚、气血失调。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79476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经典组成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453128"/>
            <a:ext cx="6583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柴胡、当归、白芍、白术、茯苓、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炙甘草、生姜、薄荷。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596128"/>
            <a:ext cx="11155680" cy="521207"/>
          </a:xfrm>
          <a:prstGeom prst="roundRect">
            <a:avLst/>
          </a:prstGeom>
          <a:solidFill>
            <a:srgbClr val="E7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704088" y="5687568"/>
            <a:ext cx="10744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1">
                <a:solidFill>
                  <a:srgbClr val="247F8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以传统方义为依据，以现代动物实验评价干预效应。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55448"/>
            <a:ext cx="2514600" cy="5943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27832" y="146304"/>
            <a:ext cx="1618488" cy="438912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227832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10328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科学问题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2824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质量控制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7816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计划与展望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50976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9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研究现状：已有药效线索，仍需聚焦验证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698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依据：开题报告文献[1–4,9,20,28]；文献编号沿用原报告。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0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05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783080"/>
            <a:ext cx="11155680" cy="795528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31520" y="1920240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9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神经内分泌与神经递质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911095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HPA轴、谷氨酸相关毒性及PI3K/Akt等研究。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69880" y="196596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3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[2–3]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734056"/>
            <a:ext cx="11155680" cy="795528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31520" y="2871216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9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代谢与氧化应激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862072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代谢组学提示逍遥散干预伴随代谢谱变化。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80" y="2916936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3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[1,9,28]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685032"/>
            <a:ext cx="11155680" cy="795528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731520" y="3822192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9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炎症与脑肠联系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813048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菌群–肠–脑轴及TLR4/NLRP3等机制线索。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9880" y="3867912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3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[20]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636008"/>
            <a:ext cx="11155680" cy="795528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731520" y="4773168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9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本课题聚焦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764024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同一实验条件下比较剂量、行为、蛋白与生化指标。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69880" y="4818888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3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研究问题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852160"/>
            <a:ext cx="11155680" cy="521207"/>
          </a:xfrm>
          <a:prstGeom prst="roundRect">
            <a:avLst/>
          </a:prstGeom>
          <a:solidFill>
            <a:srgbClr val="E7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704088" y="5943600"/>
            <a:ext cx="10744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1">
                <a:solidFill>
                  <a:srgbClr val="247F8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已有文献支持研究合理性，不代表逍遥散作用于该通路的因果关系已经确立。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155448"/>
            <a:ext cx="251460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27832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10328" y="146304"/>
            <a:ext cx="1618488" cy="438912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910328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科学问题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2824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质量控制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7816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计划与展望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50976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9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SIRT1/PGC-1α：连接代谢与抗氧化应答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698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依据：开题报告文献[4,28]及相关研究综述。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0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06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40280"/>
            <a:ext cx="3291840" cy="210312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85800" y="25146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5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SIRT1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918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NAD⁺依赖性去乙酰化酶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参与代谢感知与应激适应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240280"/>
            <a:ext cx="3291840" cy="210312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617720" y="25146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5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PGC-1α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2918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转录共激活因子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参与线粒体生物发生与氧化代谢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2240280"/>
            <a:ext cx="3291840" cy="210312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549640" y="25146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5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功能联系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2918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能量代谢适应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抗氧化应答与稳态维持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858768" y="3017520"/>
            <a:ext cx="411480" cy="274320"/>
          </a:xfrm>
          <a:prstGeom prst="rightArrow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2" name="Right Arrow 21"/>
          <p:cNvSpPr/>
          <p:nvPr/>
        </p:nvSpPr>
        <p:spPr>
          <a:xfrm>
            <a:off x="7790688" y="3017520"/>
            <a:ext cx="411480" cy="274320"/>
          </a:xfrm>
          <a:prstGeom prst="rightArrow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731520" y="47731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既往研究中的去乙酰化调节关系；本研究不直接测定酶活性或乙酰化状态。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96128"/>
            <a:ext cx="11155680" cy="521207"/>
          </a:xfrm>
          <a:prstGeom prst="roundRect">
            <a:avLst/>
          </a:prstGeom>
          <a:solidFill>
            <a:srgbClr val="E7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704088" y="5687568"/>
            <a:ext cx="10744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1">
                <a:solidFill>
                  <a:srgbClr val="247F8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蛋白表达变化 ≠ 通路活化证据；本课题定位于相关性探索。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55448"/>
            <a:ext cx="251460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27832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10328" y="146304"/>
            <a:ext cx="1618488" cy="438912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910328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科学问题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2824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质量控制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7816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计划与展望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50976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9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科学假设与研究目标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698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云南中医药大学第一临床学院 · 硕士学位论文开题汇报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0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07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783080"/>
            <a:ext cx="11155680" cy="1005840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77240" y="1956816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逍遥散造模后干预可能改善抑郁样行为，其效应可能与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SIRT1/PGC-1α蛋白表达、能量状态及氧化应激变化相关。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08960"/>
            <a:ext cx="3566160" cy="269748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04088" y="329184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858768"/>
            <a:ext cx="31638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评价干预效果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617720"/>
            <a:ext cx="316382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比较SPT、OFT行为指标，观察不同剂量的作用。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108960"/>
            <a:ext cx="3566160" cy="269748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498848" y="329184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3858768"/>
            <a:ext cx="31638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描述指标变化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4617720"/>
            <a:ext cx="316382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检测SIRT1、PGC-1α与ATP、MDA、SOD。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108960"/>
            <a:ext cx="3566160" cy="269748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8293608" y="329184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3858768"/>
            <a:ext cx="31638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分析统计联系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4617720"/>
            <a:ext cx="316382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综合行为、蛋白与生化指标，探索剂量相关趋势。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55448"/>
            <a:ext cx="251460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27832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0328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科学问题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92824" y="146304"/>
            <a:ext cx="1618488" cy="438912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592824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质量控制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7816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计划与展望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50976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9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总体设计：先造模，再进行4周干预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698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云南中医药大学第一临床学院 · 硕士学位论文开题汇报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0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08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03120"/>
            <a:ext cx="2606040" cy="256032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67512" y="237744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动物准备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383280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健康成年SD大鼠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适应性饲养与基线SPT/OFT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27248" y="3154680"/>
            <a:ext cx="228600" cy="228600"/>
          </a:xfrm>
          <a:prstGeom prst="rightArrow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3355848" y="2103120"/>
            <a:ext cx="2606040" cy="256032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3520440" y="237744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造模阶段 · 4周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383280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正常对照常规饲养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其余动物接受CUMS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80176" y="3154680"/>
            <a:ext cx="228600" cy="228600"/>
          </a:xfrm>
          <a:prstGeom prst="rightArrow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6208776" y="2103120"/>
            <a:ext cx="2606040" cy="256032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73368" y="237744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模型评价与分配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383280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评价行为变化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模型动物均衡分配至4组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833104" y="3154680"/>
            <a:ext cx="228600" cy="228600"/>
          </a:xfrm>
          <a:prstGeom prst="rightArrow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9061704" y="2103120"/>
            <a:ext cx="2606040" cy="256032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9226296" y="237744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干预阶段 · 4周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6296" y="3383280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每日灌胃1次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干预末行为复测与取材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166360"/>
            <a:ext cx="11155680" cy="521207"/>
          </a:xfrm>
          <a:prstGeom prst="roundRect">
            <a:avLst/>
          </a:prstGeom>
          <a:solidFill>
            <a:srgbClr val="E7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704088" y="5257800"/>
            <a:ext cx="10744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1">
                <a:solidFill>
                  <a:srgbClr val="247F8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给药阶段不再施加新的CUMS刺激；模型组用于观察时间效应与自然恢复。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87044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动物性别、周龄、体重范围、样本量与模型判定标准：须于正式实验前固定。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155448"/>
            <a:ext cx="251460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27832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0328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科学问题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92824" y="146304"/>
            <a:ext cx="1618488" cy="438912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592824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质量控制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7816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计划与展望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50976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9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实验分组与拟定给药方案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698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云南中医药大学第一临床学院 · 硕士学位论文开题汇报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0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09 / 20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874519"/>
          <a:ext cx="111556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  <a:gridCol w="3840480"/>
                <a:gridCol w="2011680"/>
              </a:tblGrid>
              <a:tr h="55626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组别</a:t>
                      </a:r>
                    </a:p>
                  </a:txBody>
                  <a:tcPr>
                    <a:solidFill>
                      <a:srgbClr val="075E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前期处理</a:t>
                      </a:r>
                    </a:p>
                  </a:txBody>
                  <a:tcPr>
                    <a:solidFill>
                      <a:srgbClr val="075E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每日灌胃</a:t>
                      </a:r>
                    </a:p>
                  </a:txBody>
                  <a:tcPr>
                    <a:solidFill>
                      <a:srgbClr val="075E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干预时长</a:t>
                      </a:r>
                    </a:p>
                  </a:txBody>
                  <a:tcPr>
                    <a:solidFill>
                      <a:srgbClr val="075EA8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23850"/>
                          </a:solidFill>
                          <a:latin typeface="Noto Sans CJK SC"/>
                        </a:defRPr>
                      </a:pPr>
                      <a:r>
                        <a:t>正常对照组</a:t>
                      </a:r>
                    </a:p>
                  </a:txBody>
                  <a:tcPr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23850"/>
                          </a:solidFill>
                          <a:latin typeface="Noto Sans CJK SC"/>
                        </a:defRPr>
                      </a:pPr>
                      <a:r>
                        <a:t>常规饲养</a:t>
                      </a:r>
                    </a:p>
                  </a:txBody>
                  <a:tcPr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23850"/>
                          </a:solidFill>
                          <a:latin typeface="Noto Sans CJK SC"/>
                        </a:defRPr>
                      </a:pPr>
                      <a:r>
                        <a:t>生理盐水 10 mL/kg</a:t>
                      </a:r>
                    </a:p>
                  </a:txBody>
                  <a:tcPr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23850"/>
                          </a:solidFill>
                          <a:latin typeface="Noto Sans CJK SC"/>
                        </a:defRPr>
                      </a:pPr>
                      <a:r>
                        <a:t>4周</a:t>
                      </a:r>
                    </a:p>
                  </a:txBody>
                  <a:tcPr>
                    <a:solidFill>
                      <a:srgbClr val="EFF6FB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23850"/>
                          </a:solidFill>
                          <a:latin typeface="Noto Sans CJK SC"/>
                        </a:defRPr>
                      </a:pPr>
                      <a:r>
                        <a:t>CUMS模型组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23850"/>
                          </a:solidFill>
                          <a:latin typeface="Noto Sans CJK SC"/>
                        </a:defRPr>
                      </a:pPr>
                      <a:r>
                        <a:t>CUMS造模4周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23850"/>
                          </a:solidFill>
                          <a:latin typeface="Noto Sans CJK SC"/>
                        </a:defRPr>
                      </a:pPr>
                      <a:r>
                        <a:t>生理盐水 10 mL/kg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23850"/>
                          </a:solidFill>
                          <a:latin typeface="Noto Sans CJK SC"/>
                        </a:defRPr>
                      </a:pPr>
                      <a:r>
                        <a:t>4周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23850"/>
                          </a:solidFill>
                          <a:latin typeface="Noto Sans CJK SC"/>
                        </a:defRPr>
                      </a:pPr>
                      <a:r>
                        <a:t>XYS-L 低剂量组</a:t>
                      </a:r>
                    </a:p>
                  </a:txBody>
                  <a:tcPr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23850"/>
                          </a:solidFill>
                          <a:latin typeface="Noto Sans CJK SC"/>
                        </a:defRPr>
                      </a:pPr>
                      <a:r>
                        <a:t>CUMS造模4周</a:t>
                      </a:r>
                    </a:p>
                  </a:txBody>
                  <a:tcPr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23850"/>
                          </a:solidFill>
                          <a:latin typeface="Noto Sans CJK SC"/>
                        </a:defRPr>
                      </a:pPr>
                      <a:r>
                        <a:t>逍遥散 5 g/kg</a:t>
                      </a:r>
                    </a:p>
                  </a:txBody>
                  <a:tcPr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23850"/>
                          </a:solidFill>
                          <a:latin typeface="Noto Sans CJK SC"/>
                        </a:defRPr>
                      </a:pPr>
                      <a:r>
                        <a:t>4周</a:t>
                      </a:r>
                    </a:p>
                  </a:txBody>
                  <a:tcPr>
                    <a:solidFill>
                      <a:srgbClr val="EFF6FB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23850"/>
                          </a:solidFill>
                          <a:latin typeface="Noto Sans CJK SC"/>
                        </a:defRPr>
                      </a:pPr>
                      <a:r>
                        <a:t>XYS-M 中剂量组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23850"/>
                          </a:solidFill>
                          <a:latin typeface="Noto Sans CJK SC"/>
                        </a:defRPr>
                      </a:pPr>
                      <a:r>
                        <a:t>CUMS造模4周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23850"/>
                          </a:solidFill>
                          <a:latin typeface="Noto Sans CJK SC"/>
                        </a:defRPr>
                      </a:pPr>
                      <a:r>
                        <a:t>逍遥散 10 g/kg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23850"/>
                          </a:solidFill>
                          <a:latin typeface="Noto Sans CJK SC"/>
                        </a:defRPr>
                      </a:pPr>
                      <a:r>
                        <a:t>4周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23850"/>
                          </a:solidFill>
                          <a:latin typeface="Noto Sans CJK SC"/>
                        </a:defRPr>
                      </a:pPr>
                      <a:r>
                        <a:t>XYS-H 高剂量组</a:t>
                      </a:r>
                    </a:p>
                  </a:txBody>
                  <a:tcPr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23850"/>
                          </a:solidFill>
                          <a:latin typeface="Noto Sans CJK SC"/>
                        </a:defRPr>
                      </a:pPr>
                      <a:r>
                        <a:t>CUMS造模4周</a:t>
                      </a:r>
                    </a:p>
                  </a:txBody>
                  <a:tcPr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23850"/>
                          </a:solidFill>
                          <a:latin typeface="Noto Sans CJK SC"/>
                        </a:defRPr>
                      </a:pPr>
                      <a:r>
                        <a:t>逍遥散 20 g/kg</a:t>
                      </a:r>
                    </a:p>
                  </a:txBody>
                  <a:tcPr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23850"/>
                          </a:solidFill>
                          <a:latin typeface="Noto Sans CJK SC"/>
                        </a:defRPr>
                      </a:pPr>
                      <a:r>
                        <a:t>4周</a:t>
                      </a:r>
                    </a:p>
                  </a:txBody>
                  <a:tcPr>
                    <a:solidFill>
                      <a:srgbClr val="EFF6FB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02920" y="5596128"/>
            <a:ext cx="11155680" cy="521207"/>
          </a:xfrm>
          <a:prstGeom prst="roundRect">
            <a:avLst/>
          </a:prstGeom>
          <a:solidFill>
            <a:srgbClr val="E7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04088" y="5687568"/>
            <a:ext cx="10744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1">
                <a:solidFill>
                  <a:srgbClr val="247F8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剂量均以生药量计；统一灌胃体积10 mL/kg，按实际体重调整。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3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每组数量尚未确定；5/10/20 g/kg须经处方核算、等效剂量换算、预实验及伦理确认。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55448"/>
            <a:ext cx="251460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27832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0328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科学问题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92824" y="146304"/>
            <a:ext cx="1618488" cy="438912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592824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质量控制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7816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计划与展望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50976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9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药液制备与剂量核对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698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云南中医药大学第一临床学院 · 硕士学位论文开题汇报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0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10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874519"/>
            <a:ext cx="3566160" cy="324612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04088" y="205740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624327"/>
            <a:ext cx="31638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统一制备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383279"/>
            <a:ext cx="3163824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药房供药；浸泡2 h。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头煎30 min、二煎20 min，合并过滤浓缩。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874519"/>
            <a:ext cx="3566160" cy="324612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498848" y="205740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624327"/>
            <a:ext cx="31638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浓度与剂量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3383279"/>
            <a:ext cx="3163824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0.5 / 1.0 / 2.0 g/mL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× 10 mL/kg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= 5 / 10 / 20 g/kg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874519"/>
            <a:ext cx="3566160" cy="324612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293608" y="205740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624327"/>
            <a:ext cx="31638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质量与耐受性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3383279"/>
            <a:ext cx="3163824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核查均一性、可灌胃性及短期储存稳定性，记录药液批次与一般状态。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96128"/>
            <a:ext cx="11155680" cy="521207"/>
          </a:xfrm>
          <a:prstGeom prst="roundRect">
            <a:avLst/>
          </a:prstGeom>
          <a:solidFill>
            <a:srgbClr val="E7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704088" y="5687568"/>
            <a:ext cx="10744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1">
                <a:solidFill>
                  <a:srgbClr val="247F8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高浓度2.0 g/mL药液须重点核实黏稠度、析出及动物耐受性。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55448"/>
            <a:ext cx="251460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27832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0328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科学问题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92824" y="146304"/>
            <a:ext cx="1618488" cy="438912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592824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质量控制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7816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计划与展望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50976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9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行为学评价：奖赏行为与活动探索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698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云南中医药大学第一临床学院 · 硕士学位论文开题汇报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0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11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874519"/>
            <a:ext cx="5440680" cy="228600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31520" y="214884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SPT · 糖水偏好实验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80360"/>
            <a:ext cx="49834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9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评价奖赏相关行为与快感缺失表型。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9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统一糖水适应、蔗糖浓度、测试时间及饮水条件。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74519"/>
            <a:ext cx="5440680" cy="228600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46520" y="214884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OFT · 旷场实验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80360"/>
            <a:ext cx="49834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9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记录总运动距离、中央区域活动等指标。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9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统一光照、环境、测试时段与装置清洁。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462272"/>
            <a:ext cx="11155680" cy="777240"/>
          </a:xfrm>
          <a:prstGeom prst="roundRect">
            <a:avLst/>
          </a:prstGeom>
          <a:solidFill>
            <a:srgbClr val="E7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000" b="1">
                <a:solidFill>
                  <a:srgbClr val="247F8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糖水偏好率（%）= 糖水摄入量 /（糖水摄入量 + 普通饮水量）×100%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60527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测量时点：基线 → 造模结束 → 干预结束。结合两类实验综合解释，控制基础活动影响。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55448"/>
            <a:ext cx="251460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27832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0328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科学问题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92824" y="146304"/>
            <a:ext cx="1618488" cy="438912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592824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质量控制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7816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计划与展望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50976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9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脑组织取材与蛋白表达检测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698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云南中医药大学第一临床学院 · 硕士学位论文开题汇报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0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12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11680"/>
            <a:ext cx="2606040" cy="292608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85800" y="22402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30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规范取材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118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行为学结束后取材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固定解剖范围与离体时间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127248" y="3246120"/>
            <a:ext cx="228600" cy="228600"/>
          </a:xfrm>
          <a:prstGeom prst="rightArrow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3355848" y="2011680"/>
            <a:ext cx="2606040" cy="292608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538728" y="22402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30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8" y="28803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分装保存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36118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低温处理、液氮速冻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−80 ℃保存，避免反复冻融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80176" y="3246120"/>
            <a:ext cx="228600" cy="228600"/>
          </a:xfrm>
          <a:prstGeom prst="rightArrow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6208776" y="2011680"/>
            <a:ext cx="2606040" cy="292608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91656" y="22402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30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803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Western blot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36118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蛋白定量、等量上样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电泳、转膜与抗体检测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33104" y="3246120"/>
            <a:ext cx="228600" cy="228600"/>
          </a:xfrm>
          <a:prstGeom prst="rightArrow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7" name="Rounded Rectangle 26"/>
          <p:cNvSpPr/>
          <p:nvPr/>
        </p:nvSpPr>
        <p:spPr>
          <a:xfrm>
            <a:off x="9061704" y="2011680"/>
            <a:ext cx="2606040" cy="292608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9244584" y="22402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30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584" y="28803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定量分析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36118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SIRT1、PGC-1α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适宜内参归一化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596128"/>
            <a:ext cx="11155680" cy="521207"/>
          </a:xfrm>
          <a:prstGeom prst="roundRect">
            <a:avLst/>
          </a:prstGeom>
          <a:solidFill>
            <a:srgbClr val="E7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704088" y="5687568"/>
            <a:ext cx="10744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1">
                <a:solidFill>
                  <a:srgbClr val="247F8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具体脑区与解剖边界尚待固定；本PPT不擅自改为海马或前额叶。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55448"/>
            <a:ext cx="251460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27832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0328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科学问题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92824" y="146304"/>
            <a:ext cx="1618488" cy="438912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592824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质量控制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7816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计划与展望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50976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9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生化指标：能量状态与氧化应激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698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云南中医药大学第一临床学院 · 硕士学位论文开题汇报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0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13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874519"/>
            <a:ext cx="3566160" cy="324612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04088" y="205740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624327"/>
            <a:ext cx="31638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ATP含量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383279"/>
            <a:ext cx="3163824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反映组织能量状态的一个方面，不能单独代表线粒体功能。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874519"/>
            <a:ext cx="3566160" cy="324612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498848" y="205740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624327"/>
            <a:ext cx="31638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MDA水平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3383279"/>
            <a:ext cx="3163824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脂质过氧化相关指标，用于观察氧化损伤变化。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874519"/>
            <a:ext cx="3566160" cy="324612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293608" y="205740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624327"/>
            <a:ext cx="31638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SOD活性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3383279"/>
            <a:ext cx="3163824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反映部分抗氧化防御能力，与MDA联合分析。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96128"/>
            <a:ext cx="11155680" cy="521207"/>
          </a:xfrm>
          <a:prstGeom prst="roundRect">
            <a:avLst/>
          </a:prstGeom>
          <a:solidFill>
            <a:srgbClr val="E7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704088" y="5687568"/>
            <a:ext cx="10744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1">
                <a:solidFill>
                  <a:srgbClr val="247F8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按试剂盒与平台SOP检测，依据组织质量或蛋白含量进行适当标准化。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55448"/>
            <a:ext cx="251460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27832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0328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科学问题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92824" y="146304"/>
            <a:ext cx="1618488" cy="438912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592824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质量控制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7816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计划与展望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50976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9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技术路线：行为、蛋白与生化联合评价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698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云南中医药大学第一临床学院 · 硕士学位论文开题汇报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0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14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783080"/>
            <a:ext cx="3291840" cy="1261872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准备与基线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32304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500" b="0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伦理、处方、样本量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500" b="0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SD大鼠适应性饲养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87368" y="2286000"/>
            <a:ext cx="411480" cy="274320"/>
          </a:xfrm>
          <a:prstGeom prst="rightArrow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4572000" y="1783080"/>
            <a:ext cx="3291840" cy="1261872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754880" y="19659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CUMS 4周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432304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500" b="0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模型评价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500" b="0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正常对照与模型队列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927848" y="2286000"/>
            <a:ext cx="411480" cy="274320"/>
          </a:xfrm>
          <a:prstGeom prst="rightArrow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8412480" y="1783080"/>
            <a:ext cx="3291840" cy="1261872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595360" y="19659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分组干预4周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432304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500" b="0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模型组 + 低/中/高剂量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500" b="0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正常对照同期处理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657600"/>
            <a:ext cx="3291840" cy="109728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914400" y="38587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行为学复测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6168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SPT / OFT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3657600"/>
            <a:ext cx="3291840" cy="109728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4754880" y="38587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相关蛋白检测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36168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SIRT1 / PGC-1α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3657600"/>
            <a:ext cx="3291840" cy="109728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8595360" y="38587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组织生化检测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36168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ATP / MDA / SOD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315468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↓  干预末行为学评价，随后统一取材、分装检测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257800"/>
            <a:ext cx="11155680" cy="521207"/>
          </a:xfrm>
          <a:prstGeom prst="roundRect">
            <a:avLst/>
          </a:prstGeom>
          <a:solidFill>
            <a:srgbClr val="E7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704088" y="5349240"/>
            <a:ext cx="10744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1">
                <a:solidFill>
                  <a:srgbClr val="247F8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组间差异比较 + 剂量相关趋势观察 + 指标间相关性分析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55448"/>
            <a:ext cx="251460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27832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0328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科学问题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92824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46304"/>
            <a:ext cx="1618488" cy="438912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275320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质量控制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7816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计划与展望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50976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9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统计分析：以独立动物为实验单位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698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云南中医药大学第一临床学院 · 硕士学位论文开题汇报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0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15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874519"/>
            <a:ext cx="3566160" cy="324612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04088" y="205740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624327"/>
            <a:ext cx="31638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组间比较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383279"/>
            <a:ext cx="3163824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按数据分布选择方差分析及适当事后比较，或相应非参数方法。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874519"/>
            <a:ext cx="3566160" cy="324612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498848" y="205740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624327"/>
            <a:ext cx="31638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重复测量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3383279"/>
            <a:ext cx="3163824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行为学基线与后续时点采用重复测量方差分析或混合效应模型。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874519"/>
            <a:ext cx="3566160" cy="324612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293608" y="205740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624327"/>
            <a:ext cx="31638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关联分析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3383279"/>
            <a:ext cx="3163824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必要时分析行为、蛋白及生化指标间的统计联系；结合效应量和变异解释。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96128"/>
            <a:ext cx="11155680" cy="521207"/>
          </a:xfrm>
          <a:prstGeom prst="roundRect">
            <a:avLst/>
          </a:prstGeom>
          <a:solidFill>
            <a:srgbClr val="E7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704088" y="5687568"/>
            <a:ext cx="10744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1">
                <a:solidFill>
                  <a:srgbClr val="247F8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双侧检验，P＜0.05；每只大鼠为生物学单位，技术复孔不得作为独立样本。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55448"/>
            <a:ext cx="251460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27832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0328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科学问题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92824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46304"/>
            <a:ext cx="1618488" cy="438912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275320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质量控制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7816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计划与展望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50976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9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质量控制与实施条件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698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云南中医药大学第一临床学院 · 硕士学位论文开题汇报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0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16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783080"/>
            <a:ext cx="5440680" cy="173736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04088" y="19659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模型与行为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56032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固定刺激、频次及模型标准；统一测试时段与操作，尽可能盲法评价。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83080"/>
            <a:ext cx="5440680" cy="173736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19088" y="19659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给药与取材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6032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统一体积、周期和抓取操作；固定脑区、保存流程及药液批次记录。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49039"/>
            <a:ext cx="5440680" cy="173736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04088" y="39319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检测与数据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526279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编码样本、核对原始记录；以动物为单位分析，控制检测批次差异。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440680" cy="173736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419088" y="39319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平台与保障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526279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报告列有动物、行为学及分子检测平台；经费、设备可用性和伦理批件需落实。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55448"/>
            <a:ext cx="251460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27832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0328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科学问题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92824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46304"/>
            <a:ext cx="1618488" cy="438912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275320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质量控制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7816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计划与展望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50976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9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特色、预期成果与研究边界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698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云南中医药大学第一临床学院 · 硕士学位论文开题汇报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0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17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874519"/>
            <a:ext cx="3566160" cy="324612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04088" y="205740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624327"/>
            <a:ext cx="31638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设计特色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383279"/>
            <a:ext cx="3163824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造模后分剂量干预；同一条件下联合比较行为、蛋白与生化指标。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874519"/>
            <a:ext cx="3566160" cy="324612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498848" y="205740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624327"/>
            <a:ext cx="31638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预期产出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3383279"/>
            <a:ext cx="3163824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形成可追溯实验数据与综合分析，完成硕士学位论文，提供后续验证线索。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874519"/>
            <a:ext cx="3566160" cy="324612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293608" y="205740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624327"/>
            <a:ext cx="31638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2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证据边界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3383279"/>
            <a:ext cx="3163824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未设通路功能干预；不预设最佳剂量，不以表达变化证明因果机制。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96128"/>
            <a:ext cx="11155680" cy="521207"/>
          </a:xfrm>
          <a:prstGeom prst="roundRect">
            <a:avLst/>
          </a:prstGeom>
          <a:solidFill>
            <a:srgbClr val="E7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704088" y="5687568"/>
            <a:ext cx="10744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1">
                <a:solidFill>
                  <a:srgbClr val="247F8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创新定位：围绕既有理论线索开展聚焦研究，而非宣称首次发现或临床疗效。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155448"/>
            <a:ext cx="251460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27832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0328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科学问题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92824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质量控制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57816" y="146304"/>
            <a:ext cx="1618488" cy="438912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957816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计划与展望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50976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9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研究计划：2026年10月至2028年6月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698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云南中医药大学第一临床学院 · 硕士学位论文开题汇报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0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18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37360"/>
            <a:ext cx="2651760" cy="640080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85800" y="187451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2026.10—12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78308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前期准备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1819656"/>
            <a:ext cx="5760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文献、伦理、处方与剂量核对，落实实验条件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78608"/>
            <a:ext cx="2651760" cy="640080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85800" y="271576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2027.01—04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624327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动物实验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660903"/>
            <a:ext cx="5760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适应性饲养、造模、分组给药、行为复测及取材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19856"/>
            <a:ext cx="2651760" cy="640080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85800" y="355701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2027.05—08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465576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检测与分析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502152"/>
            <a:ext cx="5760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Western blot、生化检测、质控和统计分析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61104"/>
            <a:ext cx="2651760" cy="640080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85800" y="439826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2027.09—12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4306824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总结与初稿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343400"/>
            <a:ext cx="5760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整理结果、讨论与论文初稿，导师指导修改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102352"/>
            <a:ext cx="2651760" cy="640080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85800" y="523951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2028.01—06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514807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1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论文与答辩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5184648"/>
            <a:ext cx="5760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完善论文，完成审核、预答辩、评阅及正式答辩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55448"/>
            <a:ext cx="251460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27832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0328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科学问题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92824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研究方案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质量控制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57816" y="146304"/>
            <a:ext cx="1618488" cy="438912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957816" y="21031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计划与展望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50976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9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主要参考文献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0698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仅摘录开题报告已有文献；编号沿用原报告，完整目录见开题报告。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282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000" b="0">
                <a:solidFill>
                  <a:srgbClr val="5C6D7C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19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737360"/>
            <a:ext cx="11155680" cy="64008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67512" y="181051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3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[1] Dai Y, et 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801368"/>
            <a:ext cx="86410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Metabolomics study on the anti-depression effect of xiaoyaosan on rat model of chronic unpredictable mild stress. J Ethnopharmacol. 2010;128(2):482–489.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59736"/>
            <a:ext cx="11155680" cy="64008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67512" y="253288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3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[2] Song M, et 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523744"/>
            <a:ext cx="86410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Effects of Xiaoyaosan on depressive-like behaviors in rats with chronic unpredictable mild stress through HPA axis induced astrocytic activities. Front Psychiatry. 2020;11:545823.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182112"/>
            <a:ext cx="11155680" cy="64008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67512" y="3255264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3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[4] Tabassum S, et 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246120"/>
            <a:ext cx="86410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Resveratrol attenuates chronic unpredictable mild stress-induced alterations in the SIRT1/PGC1α/SIRT3 pathway and associated mitochondrial dysfunction in mice. Mol Neurobiol. 2023;60(9):5102–5116.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04487"/>
            <a:ext cx="11155680" cy="64008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67512" y="3977639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3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[9] Liu X, et 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968496"/>
            <a:ext cx="86410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Brain metabonomics study of the antidepressant-like effect of Xiaoyaosan on the CUMS-depression rats by 1H NMR analysis. J Ethnopharmacol. 2019;235:141–154.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626864"/>
            <a:ext cx="11155680" cy="64008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67512" y="4700016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3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[28] Xiao M, et 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690872"/>
            <a:ext cx="86410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Antidepressant mechanism of Xiaoyaosan: A perspective from energy metabolism of the brain and intestine. J Integr Med. 2025.（原报告未列卷页）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349240"/>
            <a:ext cx="11155680" cy="640080"/>
          </a:xfrm>
          <a:prstGeom prst="round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667512" y="542239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3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[40] Strekalova T, et 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5413248"/>
            <a:ext cx="86410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2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Chronic mild stress paradigm as a rat model of depression: facts, artifacts, and future perspectives. Psychopharmacology. 2022;239(3):663–693.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320040"/>
            <a:ext cx="4069080" cy="213969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468880"/>
            <a:ext cx="11365992" cy="2011680"/>
          </a:xfrm>
          <a:prstGeom prst="roundRect">
            <a:avLst/>
          </a:prstGeom>
          <a:solidFill>
            <a:srgbClr val="07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868680" y="301752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3600" b="1">
                <a:solidFill>
                  <a:srgbClr val="FFFFFF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恳请各位老师批评指正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89204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300" b="1">
                <a:solidFill>
                  <a:srgbClr val="075EA8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以规范设计评价干预效应，以证据边界约束机制解释。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806440"/>
            <a:ext cx="9418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 b="0">
                <a:solidFill>
                  <a:srgbClr val="123850"/>
                </a:solidFill>
                <a:latin typeface="Noto Sans CJK SC"/>
              </a:defRPr>
            </a:pPr>
            <a:r>
              <a:rPr>
                <a:latin typeface="Noto Sans CJK SC"/>
                <a:ea typeface="Noto Sans CJK SC"/>
              </a:rPr>
              <a:t>汇报人：龙小燕    指导教师：何渝煦 教授 / 主任医师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82.6956692913385,&quot;left&quot;:138.86952755905511,&quot;top&quot;:136.3107874015748,&quot;width&quot;:724.1304724409449}"/>
</p:tagLst>
</file>

<file path=ppt/tags/tag2.xml><?xml version="1.0" encoding="utf-8"?>
<p:tagLst xmlns:p="http://schemas.openxmlformats.org/presentationml/2006/main">
  <p:tag name="KSO_WM_DIAGRAM_VIRTUALLY_FRAME" val="{&quot;height&quot;:382.6956692913385,&quot;left&quot;:138.86952755905511,&quot;top&quot;:136.3107874015748,&quot;width&quot;:724.1304724409449}"/>
</p:tagLst>
</file>

<file path=ppt/tags/tag3.xml><?xml version="1.0" encoding="utf-8"?>
<p:tagLst xmlns:p="http://schemas.openxmlformats.org/presentationml/2006/main">
  <p:tag name="KSO_WM_DIAGRAM_VIRTUALLY_FRAME" val="{&quot;height&quot;:382.6956692913385,&quot;left&quot;:138.86952755905511,&quot;top&quot;:136.3107874015748,&quot;width&quot;:724.1304724409449}"/>
</p:tagLst>
</file>

<file path=ppt/tags/tag4.xml><?xml version="1.0" encoding="utf-8"?>
<p:tagLst xmlns:p="http://schemas.openxmlformats.org/presentationml/2006/main">
  <p:tag name="KSO_WM_DIAGRAM_VIRTUALLY_FRAME" val="{&quot;height&quot;:382.6956692913385,&quot;left&quot;:138.86952755905511,&quot;top&quot;:136.3107874015748,&quot;width&quot;:724.1304724409449}"/>
</p:tagLst>
</file>

<file path=ppt/tags/tag5.xml><?xml version="1.0" encoding="utf-8"?>
<p:tagLst xmlns:p="http://schemas.openxmlformats.org/presentationml/2006/main">
  <p:tag name="KSO_WM_DIAGRAM_VIRTUALLY_FRAME" val="{&quot;height&quot;:382.6956692913385,&quot;left&quot;:138.86952755905511,&quot;top&quot;:136.3107874015748,&quot;width&quot;:724.1304724409449}"/>
</p:tagLst>
</file>

<file path=ppt/tags/tag6.xml><?xml version="1.0" encoding="utf-8"?>
<p:tagLst xmlns:p="http://schemas.openxmlformats.org/presentationml/2006/main">
  <p:tag name="KSO_WM_DIAGRAM_VIRTUALLY_FRAME" val="{&quot;height&quot;:382.6956692913385,&quot;left&quot;:138.86952755905511,&quot;top&quot;:136.3107874015748,&quot;width&quot;:724.1304724409449}"/>
</p:tagLst>
</file>

<file path=ppt/tags/tag7.xml><?xml version="1.0" encoding="utf-8"?>
<p:tagLst xmlns:p="http://schemas.openxmlformats.org/presentationml/2006/main">
  <p:tag name="KSO_WM_DIAGRAM_VIRTUALLY_FRAME" val="{&quot;height&quot;:382.6956692913385,&quot;left&quot;:138.86952755905511,&quot;top&quot;:136.3107874015748,&quot;width&quot;:724.1304724409449}"/>
</p:tagLst>
</file>

<file path=ppt/tags/tag8.xml><?xml version="1.0" encoding="utf-8"?>
<p:tagLst xmlns:p="http://schemas.openxmlformats.org/presentationml/2006/main">
  <p:tag name="KSO_WM_DIAGRAM_VIRTUALLY_FRAME" val="{&quot;height&quot;:382.6956692913385,&quot;left&quot;:138.86952755905511,&quot;top&quot;:136.3107874015748,&quot;width&quot;:724.1304724409449}"/>
</p:tagLst>
</file>

<file path=ppt/tags/tag9.xml><?xml version="1.0" encoding="utf-8"?>
<p:tagLst xmlns:p="http://schemas.openxmlformats.org/presentationml/2006/main">
  <p:tag name="KSO_WM_DIAGRAM_VIRTUALLY_FRAME" val="{&quot;height&quot;:382.6956692913385,&quot;left&quot;:138.86952755905511,&quot;top&quot;:136.3107874015748,&quot;width&quot;:724.1304724409449}"/>
</p:tagLst>
</file>

<file path=ppt/tags/tag10.xml><?xml version="1.0" encoding="utf-8"?>
<p:tagLst xmlns:p="http://schemas.openxmlformats.org/presentationml/2006/main">
  <p:tag name="KSO_WM_DIAGRAM_VIRTUALLY_FRAME" val="{&quot;height&quot;:382.6956692913385,&quot;left&quot;:138.86952755905511,&quot;top&quot;:136.3107874015748,&quot;width&quot;:724.1304724409449}"/>
</p:tagLst>
</file>

<file path=ppt/tags/tag11.xml><?xml version="1.0" encoding="utf-8"?>
<p:tagLst xmlns:p="http://schemas.openxmlformats.org/presentationml/2006/main">
  <p:tag name="KSO_WM_DIAGRAM_VIRTUALLY_FRAME" val="{&quot;height&quot;:382.6956692913385,&quot;left&quot;:138.86952755905511,&quot;top&quot;:136.3107874015748,&quot;width&quot;:724.1304724409449}"/>
</p:tagLst>
</file>

<file path=ppt/tags/tag12.xml><?xml version="1.0" encoding="utf-8"?>
<p:tagLst xmlns:p="http://schemas.openxmlformats.org/presentationml/2006/main">
  <p:tag name="KSO_WM_DIAGRAM_VIRTUALLY_FRAME" val="{&quot;height&quot;:382.6956692913385,&quot;left&quot;:138.86952755905511,&quot;top&quot;:136.3107874015748,&quot;width&quot;:724.1304724409449}"/>
</p:tagLst>
</file>

<file path=ppt/tags/tag13.xml><?xml version="1.0" encoding="utf-8"?>
<p:tagLst xmlns:p="http://schemas.openxmlformats.org/presentationml/2006/main">
  <p:tag name="KSO_WM_DIAGRAM_VIRTUALLY_FRAME" val="{&quot;height&quot;:382.6956692913385,&quot;left&quot;:138.86952755905511,&quot;top&quot;:136.3107874015748,&quot;width&quot;:724.1304724409449}"/>
</p:tagLst>
</file>

<file path=ppt/tags/tag19.xml><?xml version="1.0" encoding="utf-8"?>
<p:tagLst xmlns:p="http://schemas.openxmlformats.org/presentationml/2006/main">
  <p:tag name="ISPRING_ULTRA_SCORM_COURSE_ID" val="8F71E22A-A127-440C-9009-65AE8CB2A96D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ONLINEFOLDERID" val="0"/>
  <p:tag name="ISPRINGONLINEFOLDERPATH" val="内容列表"/>
  <p:tag name="ISPRINGCLOUDFOLDERID" val="0"/>
  <p:tag name="ISPRINGCLOUDFOLDERPATH" val="资源库"/>
  <p:tag name="ISPRING_PLAYERS_CUSTOMIZATION" val="UEsDBBQAAgAIAMK7pkoOaiROYgQAAAURAAAdAAAAdW5pdmVyc2FsL2NvbW1vbl9tZXNzYWdlcy5sbmetWG1v2zYQ/l6g/4EQUGADtrQd0KIYEge0xNhEZMmV6DjZMAiMxNhEKDHVi9vs037Nfth+yY6UncR9gaQkgG2YlO+54909d0cfHn/JFdqIspK6OHLeHrxxkChSnclideQs2MmvHxxU1bzIuNKFOHIK7aDj0csXh4oXq4avBHx/+QKhw1xUFSyrkVndr5HMjpz5OHHD2RwHF4kfTsJkTCfOyNX5DS9uka9X+qff3n/48vbd+58PX2/l+sDEM+z7+0DIIr170wMoYFHoJ4BG/CQg58wZmc9hcuGC+TQgzmj7ZZj0PCJnzsh8dsotoogELIl96pGExkkQMusLnzDiOaML3aA13whUa7SR4jOq1wLiWMtSoErJzD5INWwUjehS5oUzTIMkIjGLqMtoGDijWJfl7S8Wljf1WpegrkKZrPilEpnVCRljn9+UogLVvIaMQvCq1xJ+qXMui4NO1RFe0mCSsDD044QE3m7HGZEiQ17JjZqBKBGOSQQAJa9E+QjZxGaZFUdYqWEIUzqZ+vBmxoSpXK0VvOuhdswJxGAuii4pyBESQXbF8TKMPOM0UIU4uuFV9VmX2V5+PAxUFzAN3BBS0GUPwJnB2AFDjCXUjbIUad0FNiNxjCckGYfnkMjAu3CIRHgKdDsdInFBYqAIibtkAnxGJ9gkvKHYLv93/Eq5SWd1i3iagpxx30bqpoId41JggWVadTBMTUw+LiBsFPs/oHGLCt61q5XcCLCjzETZqQgqi0s8k0UfF/SP5ARTn3gJpJUXLhNmS57RmPNbVOga8WzDi1SgS5HyBnL9Fp5lMrPPTJyt/k+N/BvxeltVXm0LUuCR81dD7dmrYd8xq6nAproW+U3dpdo4bGv+Y6wwOf1DE/oc/XH6Y5cEOKLh80Smknmj2qr75PjcWTY0Rp1GPNFT/aP13JbEbW0dUyhYY6n7SxDopqZ/QANU/aVocAKK5m2JhhpOi6sBOoNwCxBo9FiMM3DVngln4MIB8ksyjimD2WgpLitZd44dlo1tgL4f2hTmPCVqcU/GS3GlYcJRgm/a6QO6kI10Z0AfDDd7rYJR5oPJAQCu2uQBSCVzsD/rgbmYkZ0H2gK/d5KlblRmyavktS3y4NsmF9+OTVelzu2u4tUuedsmc/wUK9rDRa3S+YD2f8e/3vF5QL/HRykmOHKniYsDl5hB33BV9RQCChhX+CxOfDw24sCFnNfpGprplW6KrCdQO6t75AQD2PbMseBluv7vn397YnxlSbuLtru/DwIBYpsqSO7A/gx0Laq/ukAYHu/L2UUfqe3dZifX86rDKGThs9wheNtacp3D1kG3XkjybdAwY9idzoAHsU173ZQwug1BmOHoFGqZncKd0YyX11AImdZqEIp1tUnAepj2++tlUytZiCGyT2sl5sCMzhPsefauDeRTMr1ue2YGN4p0e+lWcOnuC+ZOcQB19is8kcl6IKBtTbsqBERv1/c033zbqe5Wlf3D4vD1g/8v/gdQSwMEFAACAAgAwrumSgh+CyMpAwAAhgwAACcAAAB1bml2ZXJzYWwvZmxhc2hfcHVibGlzaGluZ19zZXR0aW5ncy54bWzVV91u2jAUvucpLE+9LGk7unYooaoKaNVaQIVt7VVlYkOsOnYW21B6tafZg+1JdhwDBbXr0h+kTQgRn5/v/J+Y8Og2FWjCcs2VjPBudQcjJmNFuRxH+MugvX2IkTZEUiKUZBGWCqOjRiXM7FBwnfSZMSCqEcBIXc9MhBNjsnoQTKfTKtdZ7rhKWAP4uhqrNMhyppk0LA8yQWbwY2YZ03iOUAIAvqmSc7VGpYJQ6JHOFbWCIU7Bc8ldUES0BdEJDrzYkMQ341xZSU+UUDnKx8MIvzs8dp+FjIdq8pRJlxPdAKIjmzqhlDsviOjzO4YSxscJuHtQw2jKqUkivFdzKCAdPEQpsH3oxKGcKMiBNHP4lBlCiSH+6O0Zdmv0guBJdCZJyuMBcJCLP8LNwfWnq17r4uy08/l60O2eDU573olCJ1jHCYN1QyE4pGwes6WdkBhD4gT8Bp0REZqFwSppITZScs05d0ZDJSD3hRa0UTpktENStlKN/g2XbZDcxWgEgYhZhI9zTgRG3BDB46WytkNtuCmq3l6VRIAF7cnQeR/fm/fZiROSa7bq1oKjXc7jxjdlBUUzZZHgNwwZhSB+m8JTwtBqcdAoV2lBhfYxSAsOFiecTRk9KnI6B/yToSswkVrQhF7NBDPewnfL79CQjVQOuIxMoLOBzrXHrz4LOCNa34OShY9b/bPTZuv6tNNsXW65AAmdEBk/ExwKztLMbASfzJBUZqEH6YiJ1awoCuW04JWJrfryMmieWuHL/NbFWIHeYEk2Y+U5hfmrB6XNJmRSDKIbrgIaRpBDSTwmMGJYF1xaVhYwJhIpKWaIxLDWtBvrCVdWA8UPsIfWL/fQ6yMui9MYVhtYzCnLS0Hu7O69r+1/ODj8WK8Gv3783H5Sab7we4I4c37jnzy58pdr/+E2DAO3pR9f2ia3/+bO7l20vpbJa6d1OShV0la/FFy3jFT3cxmpC/+S6a28YEq5AEtp7IcM1pLgKTeMvmWLvaBNXvVu9z22mTbZYMyvGY3/JmR/Wl4T1+6FYfDoxdVxUi55ColwK3F5223s13bgpvkoq1IBtPX/Do3Kb1BLAwQUAAIACADCu6ZKa+E74LwCAABaCgAAIQAAAHVuaXZlcnNhbC9mbGFzaF9za2luX3NldHRpbmdzLnhtbJVWbU/bMBD+vl9Rdd8Jey2TTCUonYTEBhqI705yTaw6dmQ7Zf338yux26TNckLCd8/jO98bILklbPlhNkMFp1w8g1KEVdJogm5Gyut53inF2UXBmQKmLhgXDabz5cef9kOZRZ5j8R2IqZwNLqB3s7DfFIr38W1hZIxQ8KbFbP/AK36R42JbCd6x8mxo9b4FQQnbauTlj8VqPeqAEqnuFTRJTOsrI9MorQApwYT0fW3kLIviHGjwdGm/iZze1enXH9B2RBJlaTefjIzRWlxBmuSrGyPjeKZvT6uyMHKaoOCv0tAvn42MQineg0gvv/tqZJTB2679nx5pBa9MQlPO6SK+cyjHpR4/E9WlkbME8yDj6GwVfHrsW+8ikP81nntkxlVw+mTyerAQTNFzCkslOkBZODmbrPnbY6f0fMByg6nUgFjVg5500E+4k+GaVNfj/sAbYWUE8ooe8cpp18DKxRsBU32PX61u7aqI43vXRQEK2HllFGGv7JG/dVqPkJGyRz5TUsIjo/sj+KHFcUKJb7Ev5unsayswrI8hX+EUrMbTgxlcGbn2ioBpeAlLsw70ssaKcPZCGjDFQ5k1uciyo9AQwztSWcYvg8v39k0SZQcG33DD7YUUURSGus6Gqnd1HLk5pj3pa5o2pfvT0D/RnWdKb/LrOVYKF3WjXyvnM8/To6KdzLNhhk8OiHu24RHH+h4jNVhsQbxwTqe6YVyBnHo9dwM2BkdZlAOUDScZ+UuGss+6Jgex1kUjEJon1TlcTaqa6h/1SuANymD0ZRmxOqqq9X0Mk/fmjBS+BQCLog4N4A7O0nRUEQo7CAsgUtgXjz0NSd2jY+12ox5go+I94TUHHRkBopb0+6JvlRiXGgYIrzquYYazTGh7hXNpn5bMf1jF/RglyznsNNN8sXun8M2U3KztxznUSvM/5T9QSwMEFAACAAgAwrumSiqWD2f+AgAAlwsAACYAAAB1bml2ZXJzYWwvaHRtbF9wdWJsaXNoaW5nX3NldHRpbmdzLnhtbM2Wb08aMRjA3/Mpmi6+lFPnpiN3GCMYiU6IsE1fmXItXGOvvbU98Hy1T7MPtk+yp1dAiI6dRpaFEOjTPr/nX/u04dF9KtCEacOVjPBufQcjJmNFuRxH+MvgdPsQI2OJpEQoySIsFUZHzVqY5UPBTdJn1sJSgwAjTSOzEU6szRpBMJ1O69xk2s0qkVvgm3qs0iDTzDBpmQ4yQQr4sUXGDJ4RKgDgmyo5U2vWagiFnvRZ0VwwxCl4LrkLiogzmwoc+FVDEt+NtcolPVFCaaTHwwi/Ozx2n/kaT2rxlEmXEtMEoRPbBqGUOyeI6PMHhhLGxwl4e7CP0ZRTm0R4b99RYHXwlFKyfeTEUU4UpEDaGT5lllBiiR96e5bdWzMXeBEtJEl5PIAZ5MKPcGtwe3bTa19ddC7Pbwfd7sWg0/NOlDrBKicMVg2F4JDKdcwWdkJiLYkT8Bt0RkQYFgbLovmykZIrzrkxGioBqS+1MBqBp6KI8LHmRGDELRE8XsxaosfMnnIBMTjd3fpIWvwI9PHGCdGGLRuazxiXxbj5TeWCokLlSPA7hqxCEFGewr+EoeV0o5FWaSkVxFhkBKcMTTibMnpUZmkG/JOhGzCR5qAJmy8TzHoL33P+gIZspDRwGZnAVgU5N55ffxE4I8Y8Qsncx63+RafVvu1cttrXWy5AQidExi+EQwlZmtmN8EmBpLJzPUhHTHLDyqJQTsu5KrHVX18Gw9Nc+DK/dTGW0BssyWasvKQwf/WgstmETMqD6A5XiYYjyKEkngkTMRx3LnNWFRgTiZQUBSIxNCrjjvWEq9yAxB9gjzav99DrIy7L0RhuDrCoKdOVkDu7e+/3P3w8OPzUqAe/fvzcXqs0a+E9QZw538NP1jbxRSN/2g3DwPXO59uw1fm/6sK9q/bXKpm6bF8PKhWp3a+E61ZZ1T2vsurKXxu9pSujkgvQZsb+2ECjETzlltG33DSvKPz6+9dvizcq/AajWLt9/98g/Gjx3Fp5X4XBsw/AGshXH9PN2m9QSwMEFAACAAgAwrumSjv7U0+dAQAAJAYAAB8AAAB1bml2ZXJzYWwvaHRtbF9za2luX3NldHRpbmdzLmpzjZRNb4MwDIbv/RUou05V99ltt2rtpEk9TFpv0w6BuhQ1xFEIrKzqfx9OvwiEtfGFvDx6HRviTS+oFotY8BJs7LPdf7h7qwFpRudw7eqiQ09JZ0pDBtJwk6CcJSmIRAJrkMXB4ShvT4TPn0nrHZafIplDVvNjSG8WXGR1XHkstEfLPFrh0X482tqX+NepbF/VrqJat8PcGJT9CKWpWtWXqFNuGXb1Zle9wAaMBegz6IJH4JgO7eoiT44PQ4o6F2GquCynGGM/5NEq1pjLeVf+ZalAVx98tQMGz8PXiWMnksy8G0ibiSdPFN0k/VQZ7PM+Tii8sOAhiJrvwK5/UMe4XVCDLpIsMQd6dENRpxWPodWlpxGFi8nKq9XNIUWbM7A2O+LulsIhBC9Bt6zG9xQOiCpXF3xApTGmjrTQds+PqEA+T2S8Tz2g8HJ0WLLt6t6pUHv8MXOuEDau0NJ3+9KuyXHBtTfem5s10k59aYVPlD4RPYmVDyyOonMc0xwktP8KGDeGR8u0mg/VbKz6wPUK9AxRVOf/PjNam6l62z9QSwMEFAACAAgAwrumSj08L9HBAAAA5QEAABoAAAB1bml2ZXJzYWwvaTE4bl9wcmVzZXRzLnhtbJ2RsQrCMBCG9z5FuN3EbqUkdRPcHHSWmqYaaS8ll1of35SKdJGAQyD/8X0/JCd3r75jT+PJOlSQ8y0wg9o1Fm8Kzqf9pgBGocam7hwaBeiA7apM2rzAozdkArFYgaTgHsJQCjFNE7c0+NhArhtDLCauXS/i6R2K2RTDosLilvYv+zODKssYk9fRduGAVbzHtCCMvFYwOxeN3GLrQPwCGpMATKrBUAJofQJ4DAnAjytAiu+b56RHCvGjYpBitZ4qewNQSwMEFAACAAgAwrumSg4UM7x8AAAAfQAAABwAAAB1bml2ZXJzYWwvbG9jYWxfc2V0dGluZ3MueG1ss7GvyM1RKEstKs7Mz7NVMtQzUFJIzUvOT8nMS7dVCg1x07VQUiguScxLSczJz0u1VcrLV1Kwt+OyyclPTswJTi0pASosVijISaxMLQpJzQUySlL9EnOBKp/tmfJ8ya5n09qfr9ivoJGcX1CpqaCr4As0Oi0zNUVJ344LAFBLAwQUAAIACABElFdHI7RO+/sCAACwCAAAFAAAAHVuaXZlcnNhbC9wbGF5ZXIueG1srVXfT9swEH4u0v6HyO/YLR0DqgTEkNAexoTUse2tMombeE3izHYI5a/f2c7vpWxIe2iVnO/77nz33cW/es5S74lJxUUeoAWeI4/loYh4Hgfo4evt8Tm6unx35Bcp3TPp8ShAZc4NgKbIi5gKJS80gO+pTgLUM2BgRl4huZBc74H7FLjbSCdL9O5oBi65ClCidbEipKoqzBUg8liJtDQkCociI4VkiuWaSeLSQF6DXem/o+GXiZzofcFUD1notweuSVqOZ8UHJNUSCxmTk/l8QX7cfV6HCcvoMc+VpnnIkAeVnNlSPtJwdyeiMmXK2Ga+S3LNtDZJWNvM1yu+OM89JcMAOYdNxpSiMVM4zWNEHJZMgP1tSlVS86gBreFVO17zWr+Ned80brZzpHMuyseUqwSO+pDOOgn0yTCqn9nrWgU9NAq6NUzIk+xXySWL7Ou3VozzBXIBW8XZPLGqQjiAp1saaiH3NwADFdUdxG3TsGsatqCWA7fR1x0Fam67ZVSXkjWlmvlPPGLiC5WSGllcalkyn4yMNZYMwT5xV66b1DXET3SWnv5Db4zfqDU/1WudsYD/0ZhPQNTWhOcRe77l4KNZBjXVDIptbFgXKTYxu5xU+Zj1dD0wuRzrpsBFPE1lzGAMI6op6ezkEJRJqsAlLOUI2zs4CE54nKTw05MM49ODNBmVu0mG3sFBcCrC3QS0NbdlJOM6jsTUKsgnE+vED0ulRcZfrDwHe0avrA5fG7nm6Lrg7cHZ/I9RHMRoBnOLJlaXeertq+bw3sypVp3PpnCWgVphHpguC+fVzEJZjHwitqVlqm/6OTX7sAcd5Tw1HdNc30HvolrzF+ZVPDJfusXS1CRhRjMB+nC+7DFAP2G7DMJb06GIW5E3dcCY2Df3byvabPm6da7rhzrsQw2fOKscxs3UR1BHLEWZR6Me4qL7iKgUdtq1ZNRL2RZutDgBkYoiQO/hob7zxelFd+WzxUWDtXndu8Aulzes9DrhTkGk1nV7Eb/eDfD4G1BLAwQUAAIACADCu6ZKrQ33vhkJAAALJQAAKQAAAHVuaXZlcnNhbC9za2luX2N1c3RvbWl6YXRpb25fc2V0dGluZ3MueG1stVrrbuO4Ff7fpyAcLLAFivgiXwuPCl3oRBhH9lqaZKZFYSg2EwuRRVeiPZOFf/RfX6DoExSL/mkfYFGg71Kgu32MHlKSLSmyI81MzUkwOuR3zuG5knKG4ZPra9uQ0bX7vcNc6luEMdd/DOVfIDRcUI8G04CEhAlCloR8Z03e1P7z9x/++48fG80aCpnjL51g+ab24HghqUWQBIRcmLjfMkb9ywX1GfHZpU+DtePV0M7xtsBqJD61+utAuiNBBdiDsyB5YT2dj1dRGUkDjY9CzIKuN47/PKaP9PLeWTw9BnTrLw9Iqc1HIXL1vCGB5/pPZTbkuSEzGFkXKCf1+CiB2oD7QnLUrYv5OA/0nHvilTZ7DpYXWB65c0OXpZBqm49C5MZ5JEWWPyMMHAYyiryF+TiDYeQTO6zGKh/Fqz3nmQRV1aKb7aZiEG0C+sitXARrDfg4D/Oos4S8P2D6Gh/nMXxzXFyZPWUMprf4SNYN66miIupOPV94IkZ3rr+kHw3/gcbApOBofDaUGyhSAPV7Sl/vwxPESgv12riF+0jHHQ3mBpI+kDSY01tNbVjPsYj4BmQBRaaY67CemX0JMPyQBMzwl+STLGVXp6eyO7gKwPywLpS7bT72idS93uYDtZudXgfvW4okSV2kdfSm3tj3eoOe0kS40e40pL3ab0ktCTU7neagu2/2Wh0JnkaDLnBp40EXtXvtdkvft3AL0EhRVL2l7XvSoNlUQBruD7T9aKT2Gg3UbDaltr7vdKWR2kCwWgIeitTnBpR0SZW6e0VVmn0JjbSROmrvsY67Wgf1W7jbaOzbqio1GkfjHneXNteRWno7iTlfYVjogsLZY7Rlg2u42AYBLLbJGqKcEXTvhMQU/e6nf/7557/++NNf/vTz3/6Fvl3QzfMvo0gGDG+kCeTQMTPUQ2rw5ikX8BrWxUwmg9JNuWRLlS+i+Il3VwYpinsFXLqpyhc98SkLi2VBTMM4BzrRVsuoeeyr8kVj0NPwWUEFjVW+wH0+ysOSRidfRD21FDLVWkFR8amAO4p83SInmqt8oTT5OAfNd1f5oq/wcR6Ta6+gY4+P10GiXcgXEi8BrbPLXzRY+SIqmWdR+Q5bxnpFLbaMo1/0WNCwwUcp0KHJlvFSbDaxfz23MH7M15LhGqSAc9PFJSYJllN1rk1upor5YT6eXE3mqnFVk7UoKxFPy29b3f6nZqcLlSvGleRk3SjjcZYXEsw6jXK8THs2Gc+BIR7PTfzersn8d2Xo5J09Nkxck+P/VGYwneHbmsx/l4G+m82wac+tsaHjuWHNzYkt7DLGNtZr8ge6RStnRxCjaOeSj4itCILy7AYEhZ67FBO8ZLv+lpSQp09uFMOcz7BlzwzNNiZmTbZoEDz/SnB2tmwFwbNyQrR0Q+feI0shFkJEzPPyAtLF3RDBP7ZyYSVdO65/WUb6TLkzzKu5PZmMrTk29YRSk7G/RHrgcEnVGc0UC8+ARwBtOfg8+FxEn+CAFM+rzOTauLoew4/NFbl2H1ce/LDP0GaKwSVT4pcAQuDgGUSdZd1NZjq3IQhEDto4YfiRBstM0KRdV4K3YWoTCE3NTvG3OZuENzje9RcQOmTBSvC7wZalXOG5OnkPMQ65OakImryFlHxbEfQBW5BD2CoBM5Vb40rhGcHTMEmQJAcXDo937xk5iwXguDV3Lt2GQOEWhjQR2RheVpZk4e/egSMNZXwi2yPGYGzx9OjuCKgSLKHNlZAFZUjDOo+u794Zv52PFGOM9TmEmz65m9uiSnKha+cZ+ZQhZ7lz/AWcb8nC2UImPMPc0l2KOe55ocIftu73yGFx/fkmLl2mjt9/8xkqZQpegWZwXgZhcEzZsNekc7PFO/hMRXisn9SijAE+WwVLw6YyMyZfx0Whu956UZX+Go46KFfVWa/q8eX2Ku+2/4MyVlSCVQMqmurSSiAMnZi3HGieXiWgYY5A3DSq51Dw+S21EgNzEvMwKfoCNrdguYwit2DRaizusGoZNhy27sg9v32UAItcjbxW7G9+R/QIXNIPqXpPHiiclzzi7KKDDPQu4f4yXk4dlTKtxTbsMShuAs/HKKiAq+eu+R2qHNt3NzgxRdQNMvu5o1tvKbLbc59ERwA7b9fk5TnsIaBrQfWcMInrqCn95gsVibY4i+ROqx0gDgla2lep/Pwij1lYmWnXc00xNcxvFDyfvfI4yA5uk7FtzceKyjlAmqwdtlhBF37g97zyvKIbgY5HCvCLN28RJ1is/v3HH8qzyekTUVFM/XVVPpD8vGriA7/fmZSR8Pcl+NiKmoWKh5LA+EKVQMvfr2wDAvSrXFmcqC2t6Zq/4iolGlIgdqNi24p2fQNZYomkoNsAzoIVmdwos7dQ+MRZvybfOMETFE6bUq8qI2F5Hpussg7HK+6Wea5PKsK/uBPxzdvGdK7ourj7Q4567uIpar9LuMDEr/mQRx+r8NOuFROqc44lWbqsOk/R3JKqBSUhej4WhF1hrzsQji9UPAdqOMu8n/FZQL0pf7P18lUuLOAv4iCMZRbwK33ylF4RrujH2Hey+HJ1WE+T8kunoMOUHxZjlllafvWM584yzTem5BfeUg/6ghZtJ8U6S8+jNE0Vb37TAg60F5rDNSueSql+JObXm+QTe7E+Rcyvt3hPmcC97qVO+ak0NHkdpzpBml7Gd7CG+KJKxWuSp+warsGYv5YNUxuJCdmVa7oksuiNtrsmcTpzWlrh+gmNh/7h+HLDMffPYtsh/9ohM3EM3/r5+B0yl3nkdHCLfUAKpk0tnosyIF5TlALR1wd5Y0RUxJ435E0NLiLOYsUrfVhDMY83NW7O43eSRbhNUs94OUshoz9jOAtdi3ouynklkT6v4tVE0SjZz4OG9Rd2GtbPeWgYsz3tQH+7vicBhhhwocrFHsoS08tXyauwW3EizeFOzKYZsBXw9uGOlGRCipAJLHGsSrIlekjPw9mSuR7ZkaRUpQgp45zf/zCE7Dgf3AobkweWDu+YUjkL4lp3jMVsDUzRT6LEjSwtJDdTMemYcx+K3RdUq6T5HHUsaEdJmebhnq7QlOW8Xi8QBWtPWX9YT7dZqFEvvmXN0wAK/E7+vdP/AFBLAwQUAAIACADCu6ZKiMVOUf4OAADYGQAAFwAAAHVuaXZlcnNhbC91bml2ZXJzYWwucG5n7VlpV1NX245atbVV2lpAgZAqWhxBUURAiANDtQJGQlGGpDhUiYQIGIZgiLaPRURIFSsFxCh5gQwYBkMCgRALD6YWgcbkJEAMqSgICSEgGQjJgefg8/6A99v7xQ/7OmufddZ9XWvve1/3fdbOOxYeunKF0woYDLby8LdBx2GwxQA0vv94GfSmuDgbDj0WpR0PPQjj9LiMQZOPzh0IOwCD1VM/tSUsheafXPz2ZBoM5rBxYSw6fHzDJAy2Fn846AA6E6NTEfJPD4PiFEQk4ordk5alBOPdgwQ06vOYh9ccVlQMfm5/58XSfocDyhfH7W25D67fWH/juMONGsqvnG0OgoOb8Qpkt97cPdGISWu9ffidb395CRmeuXOXu7uvb8mbN+Vbz3n5bPtGKpoz1nY2p711QFBsU0Mddsi4e75pkHxONuLy5B8Nt5CgQdp57VNHD8V05dgRNAU0KrqWhjhC2l3QV+NXxkt/Y3AkY5J2GOzJCe9LYV0Mziut5CA0I9Eoc5ZKBuf1oZBPoa9zW14NdeZ3rIbBrnS/PEYz7fRbBIP13WQsg1359QN8gA/wAT7AB/gAH+ADfID/T/h7JTbHMjzUfg1qXJ8UJs+MlBEc5i29FKh3hefhYLCP/w+gcwEIbZaRIcOYNH854vLFFLMqA+ErmgVqHSICLW+GaimgdnJ2CSxJm+/ZdsIGRcekP2UgCwVY25BjlxbDGg5R7j2uBG3TvVhf/WgD9WfBRCOcjj+q+wqwZ9O3ktD4tOpFsDWWN0URDubBbH2ddyEbJ5DwTFsYVM3XGg4uG9cSomxhP6ILJo7Rt2bcAdgNEt7/TLRO97yyManIucypxzRw3H+aMl2m3pYsNMorBTUxyYLPpjWEaUfs5am/bKJ5UL88xxHMIo1Zsom0NWCP1qZrmHtXLIorEeFUkWX3KDQz31fdyXKvdYrKHP4tmjdggV/THtPfBooAFzc//BlmiLiHhkTGIeqwANJ4wiUghNrSMQjU3lJJLIUtzR0kLSOQ4zN+L/cqen/Uncv6bLXz/UBjNRJMZNKii1OkYT7b34qmnjp3PWGNjhUnYIix6svT3dHJ07NtOXbEGNBjokXfNmwLdc06kzgxHRH1MvwtcFZGZntUtzdvf5ysKrs3j1OpTRYPeZW/iH4RvkUT+pZ2KICpKLKeFz7JkeX3FznJhus61o2scdnLwokCB0bir2vg6Hvo3XgnwN5XCmP9w3ySiIwelaWCXs/ZOedAPEbNr6tRJ5Zht8RoLxSM8PYPDtvYso9Tl05eygm+iPwpbiq2ixObQcaaabM5gKX2KajDteZH0TvpRJ/QV353yEiLfJPtPX1LEF08dDjlBLp3iqNG7VEktFeQlm+P2VOgkVx/g+6kMgZr9/ykzEl249mXS9WofGkgK8OXgqyNPrDP71+vnzoT9k2m5Y9FaTl6KwNDnMvB9IshsnFnHPcMd2JkU1zugOJmjw9fIrhqgYs7MHziCTTtzS3N8SXr0lxi3FlLyoKIneH5DVFbSFt+2dITUr2LukKV+Dsvi75pohjerTTZhGPvug2BUebyBpwKbDgLWKxZVoEoT/NdCCpef8Q2qxC5lnq0MCGCLOAVxl1ntzqUY2Z45OqUPuvehw8o4eQXO9V/JYsWs3bAl2ou9Uta8b1q2cP97JA8Mxywtv43GvjiO8/tIVLE3GSuftt/A8L5Ef7K3xhtZ4o6rPLmH1FCHLfql3+sFrsAw99Xp3WamGDjpsulKyb8TOmqhMXPq5P16S6pTP0FTPCEoS5vNovkcpk0V7XKOupZHW3ODczc2nbBEqVNRvqwe7BqxTuIGc4jMMTpncMLiX72mNxMH5Y3l6JU+mJSWjDxS9lZbvIPgXqheXCyPuPLPA1hI+XjnO4Kkl+jxRgkj0CQDZL3MqA1/M5/gshqr+7BPpSGrLZ+ETwSTW+xb7EvqZxrqlv6o3CGqY7aHomNrZPrmcIdA8M2N+Isq+6Rdf81Qnz4tTQydlrxqEUOFJZBe8hOocTyCQxHsaNHXJON0bY7jC64e9K+ofslKv4hZeR5yatE74KR3i+AtHFFiHbZSMoLpO409GO+1bL7cxR877YjW5K2XAmpBmyByaWShufVQ48XNxkoTxSrnjEsxsYCr+gmk6gY34ts8Gj6rnxQLqH61cYs5GqjaXrUFv16jodTH4s4SiOb+odDDaemevz129zSnP6uFZoG3hlu6KPoTWkhRMQsaEsXVk2X+VYIqgTwqi78aWitXA8HyV+TWRSF0EQAExt7N5P/regFvYQDYr5e+U463Qj2VZm+APD+Vh1OIYwXjeElbCkta6Rk2AzqotWKVj+8Snen1fkEzeQlgK9yY109WTPgIzvdVOU3flr1Z++lDS05nPIfKfc3sJTfZjLL8f6fVVblNJvSrH6/BREf8blMTFJNS5h87SPnPyvLH+NwCX2mPCnTlGVf3nhUee5m1UAu4J/kDZr4ooC6iT1XJKGj37zXcyF2oFWeiR9kKSuq/IT3l+BYOlyxhFe/1MLarBPHC1DoJY/X6Jxnr9Toq6t9jEFepbjdfNMn+OYNLDtlFt/IpSkVzHi6QD03l/eDgvzyvGr/j4YZldyQomq/6HRbZyAlqEyfNCZ1X0CarSJM56Uw0B+DRw4sH60yrQW8G//E2gOgpWrAi6jkKlMv9Q1+U9xYMCtMsqodgr135EvaHqbPeAOMSQMXo0TxEoGPJwLpJACirCBxtxOVMl2D7vrxXTE+v5a8lgbiSnnfIQlfUbbfjk1ydQAqTQiwrVEXGvs74TQNFa+ovzbngYq3/lk6YLorCSQWdQ3IebRl61mKvdmm8Xe/ywaRc1PUVw0Xhc4654HwiTpxSjnGX8W7PB8k8eeghEey2RmOdOKSkvihFFaV3x16ez33kHfVupPYsoG3gAxzhs+4H96YFBvhzD2fe4XbsT69v3Z8F0vJQ4/X3tCMycIJs8rTwKcF6Sfp0nRi31zOEbRdq1Eem0+bt73NR4CjofktEwLtFSVBRE7RyDanrFx9GE0tdLvnERkegzbj3lTe3xDqtsNtQYK0OsIOQVCuCWucT6TqckR9pwTtLdRXPM8a8kGy2pB7qxHDOjvwEJGruxDdfw6tMBvX03lEv/Xqu2P8+qMdzcIdzETg28uituYk6/L8CtLQlBiBfWrosEO22oYjAkx9p7v+4TQFZky8nPT6h7R7wId7606UW28kXnzS/x/JmPWmhldEQPJrI63XNaQGPP2o9BD2e3h+ILQRWdPdPrlUPl7G5cTPzrBvjTnIgTX4kgEEwMWheYn1A6vAE2b+Vu24P+uCEsfSxkYq1aaumheCuh4lL2O3k+jZWfyFskX961n+xPHndpSZjrN7zesC3nVh51LXKkJqXt1eSIpJvN/4s4dwn+jIzpnzJRtYWgEX9atDHV5TfOF/Zb3AXJHJ2gWqHPpwqHZZqtG3ky5+WYWLUXhIZy6oIuv7MMcIToCO/q1SJvpa/bSNLphvroIch1d9LVNbW4pD+Mab6qAU8UCw3Vme7L0cydtQyPj276uNzP1ZhuybUarnnu48Zq4sxuZkWW7c17OU5wx9fTIW+ZBynVwR5W8rVedOsE4vLmLc17jxaOp0k9TS3VYhMCiYqmTvgrtw6KwCFJlzwMieKKkgfW0nNnucv+iaA0Bn2unS+0LDdK0tTU4old29o3TSbmBMlz4K+R3pJmmXID6DCJlzMvgMEYzGfp9LthmgviF8L9I6/jjfEZOZMGaGfP2qVBNuAvUUStZnJqte1Ltz0iCN8Jxoer1qGS7Xh5SUhAPaHrpuxbNu/T7bjBS6Tut0vaVQliGFPufQxaSdKOkoN2ravBaotNPuKbjr/Mj591BhWgDpJb7iFEGVsEYX/3jMVqoYUeTUg/u84ZcY4IluAuVNUz45yHjeX9lqan8A7jtezddb8VCRPlsaxdd6pIPRw4ptLOVKL2HCrDNbViCjEaJzg4nwv3bCKzkPJn4e1/HVmKcZoud4voo3o9LnZPzgW8gRzBf+dBsMJjLFKYgedhXxQPxIoaZBk8dQexpNcIAYG1YtSYXOxXT/xg1UNsSfQuzD1/d452vYujoGhzL2UpxacIRaMQ5EYwPq4gqSFQjvwrvDo0yrftOmfgK6WGAbq3+OZ1nKbjaMu7H4jb0M16XEMPpZKHNG0uZslnIqKjB51afPtBtZ2sxZiYlwBI2FWpUFw+jYlA0aFXbb3FlUR5RwAMojplEWS+n+ZqfqnoExQSgePN+/UNO7pxK/Fl9ltBn4AcaDOC5Y9iVQDCA2m2izqNysVutEizqvwY8noGoQ8zPiLnfhWKpLWAWpkW0P5BW5Aso10PKrXWjxZFmeRjefPXSd0VZTONw2P2e1+ygNvvhFLpGcGkQhWf6wy6nL1DCrV/3LObSYgdleoIFaZMJMX5k0AZFy6SvOIbBzZvRy2hF1xUd7oqljRTlr/jS6Asb2RK5KuaBo653Z662Ju5FT/17ddejAXwbuctfMH1K6tvM/e11AP4yuvRtCPIxUE8vD1KX+KxQP27MvzTXL8nMlpKsgI+Lnvc8SyAGhxIBz4++mstxiQ4mzlgLFwYDPQ5ReUTSYF/wRpnKVPfNQiMbOUbuL4+saCBqkw+fi3sUbxT/RxZ17cPPHaHpfkss3mp1x4j2Fcl8ipFj3wGzcwO1CboClultmNB2BBz0s1/+g15i0uXjrHl6hJvUlpt7FtKLGF/Jxrzta0cbCgwImdZB9SxhZHb7Sczknw9jz9730tcFr4sNPFWuP+WslZ3VbQDenr9O+fJ1a1PEsXOP+8DnIUYejhLW3HpAZjjDlvrX3/TOSfU+BRTTbGQvTlXxUMWoIML98bIse6YWekzbYk2dRbnL3jTu2MnzI9RjP8Yi/0hXpMtNN3q76SLRPGrX9OV6BKvc7+qCieUgQiKtlosZX6JwkruV2sL0WXF2yDC7uPq+U+25WCrv8qWXXK5xgsM8BaKxegC8XQJAwNS+lzFvVr/IWLhagQoH0DDZGY8necTAY7ETtMkYxCoTOeu95bxgsiekkiCFBVRWwc/TEuHh8tnBToYt7f1ORHAlfcUoGETxl/cYuEZU75M8vCVwMHO0N/uUcFAl2ODg8iHPwh5/+A1BLAwQUAAIACADCu6ZK5sSYNVwAAABqAAAAGwAAAHVuaXZlcnNhbC91bml2ZXJzYWwucG5nLnhtbC2MSwqAIBQA90F3kHcA84NpoHmZJIV+WKjdPpFmN7MYbcu+oeTiHc7DAMUE7Nx3+oouBZdRqY1iSRqA3qaj+DWH5fEGJKGYcSmVqM27sPrHgGACT0xxrhQMdfkBUEsBAgAAFAACAAgAwrumSg5qJE5iBAAABREAAB0AAAAAAAAAAQAAAAAAAAAAAHVuaXZlcnNhbC9jb21tb25fbWVzc2FnZXMubG5nUEsBAgAAFAACAAgAwrumSgh+CyMpAwAAhgwAACcAAAAAAAAAAQAAAAAAnQQAAHVuaXZlcnNhbC9mbGFzaF9wdWJsaXNoaW5nX3NldHRpbmdzLnhtbFBLAQIAABQAAgAIAMK7pkpr4TvgvAIAAFoKAAAhAAAAAAAAAAEAAAAAAAsIAAB1bml2ZXJzYWwvZmxhc2hfc2tpbl9zZXR0aW5ncy54bWxQSwECAAAUAAIACADCu6ZKKpYPZ/4CAACXCwAAJgAAAAAAAAABAAAAAAAGCwAAdW5pdmVyc2FsL2h0bWxfcHVibGlzaGluZ19zZXR0aW5ncy54bWxQSwECAAAUAAIACADCu6ZKO/tTT50BAAAkBgAAHwAAAAAAAAABAAAAAABIDgAAdW5pdmVyc2FsL2h0bWxfc2tpbl9zZXR0aW5ncy5qc1BLAQIAABQAAgAIAMK7pko9PC/RwQAAAOUBAAAaAAAAAAAAAAEAAAAAACIQAAB1bml2ZXJzYWwvaTE4bl9wcmVzZXRzLnhtbFBLAQIAABQAAgAIAMK7pkoOFDO8fAAAAH0AAAAcAAAAAAAAAAEAAAAAABsRAAB1bml2ZXJzYWwvbG9jYWxfc2V0dGluZ3MueG1sUEsBAgAAFAACAAgARJRXRyO0Tvv7AgAAsAgAABQAAAAAAAAAAQAAAAAA0REAAHVuaXZlcnNhbC9wbGF5ZXIueG1sUEsBAgAAFAACAAgAwrumSq0N974ZCQAACyUAACkAAAAAAAAAAQAAAAAA/hQAAHVuaXZlcnNhbC9za2luX2N1c3RvbWl6YXRpb25fc2V0dGluZ3MueG1sUEsBAgAAFAACAAgAwrumSojFTlH+DgAA2BkAABcAAAAAAAAAAAAAAAAAXh4AAHVuaXZlcnNhbC91bml2ZXJzYWwucG5nUEsBAgAAFAACAAgAwrumSubEmDVcAAAAagAAABsAAAAAAAAAAQAAAAAAkS0AAHVuaXZlcnNhbC91bml2ZXJzYWwucG5nLnhtbFBLBQYAAAAACwALAEkDAAAmLgAAAAA="/>
  <p:tag name="ISPRING_PRESENTATION_TITLE" val="蓝色简约毕业论文答辩PPT模板"/>
  <p:tag name="resource_record_key" val="{&quot;71&quot;:[76235679926]}"/>
  <p:tag name="commondata" val="eyJoZGlkIjoiOTJjYmE3YzhkYzUxY2ZlYzdjNGZkMWRhNjM0ZWY4ZTMifQ=="/>
</p:tagLst>
</file>

<file path=ppt/theme/theme1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213A21"/>
      </a:dk2>
      <a:lt2>
        <a:srgbClr val="F3F8F3"/>
      </a:lt2>
      <a:accent1>
        <a:srgbClr val="355E35"/>
      </a:accent1>
      <a:accent2>
        <a:srgbClr val="467746"/>
      </a:accent2>
      <a:accent3>
        <a:srgbClr val="3A6B5A"/>
      </a:accent3>
      <a:accent4>
        <a:srgbClr val="578A3F"/>
      </a:accent4>
      <a:accent5>
        <a:srgbClr val="628C54"/>
      </a:accent5>
      <a:accent6>
        <a:srgbClr val="719965"/>
      </a:accent6>
      <a:hlink>
        <a:srgbClr val="1665D8"/>
      </a:hlink>
      <a:folHlink>
        <a:srgbClr val="54419E"/>
      </a:folHlink>
    </a:clrScheme>
    <a:fontScheme name="bvvqntr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213A21"/>
      </a:dk2>
      <a:lt2>
        <a:srgbClr val="F3F8F3"/>
      </a:lt2>
      <a:accent1>
        <a:srgbClr val="355E35"/>
      </a:accent1>
      <a:accent2>
        <a:srgbClr val="467746"/>
      </a:accent2>
      <a:accent3>
        <a:srgbClr val="3A6B5A"/>
      </a:accent3>
      <a:accent4>
        <a:srgbClr val="578A3F"/>
      </a:accent4>
      <a:accent5>
        <a:srgbClr val="628C54"/>
      </a:accent5>
      <a:accent6>
        <a:srgbClr val="719965"/>
      </a:accent6>
      <a:hlink>
        <a:srgbClr val="1665D8"/>
      </a:hlink>
      <a:folHlink>
        <a:srgbClr val="54419E"/>
      </a:folHlink>
    </a:clrScheme>
    <a:fontScheme name="bvvqntr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213A21"/>
      </a:dk2>
      <a:lt2>
        <a:srgbClr val="F3F8F3"/>
      </a:lt2>
      <a:accent1>
        <a:srgbClr val="355E35"/>
      </a:accent1>
      <a:accent2>
        <a:srgbClr val="467746"/>
      </a:accent2>
      <a:accent3>
        <a:srgbClr val="3A6B5A"/>
      </a:accent3>
      <a:accent4>
        <a:srgbClr val="578A3F"/>
      </a:accent4>
      <a:accent5>
        <a:srgbClr val="628C54"/>
      </a:accent5>
      <a:accent6>
        <a:srgbClr val="719965"/>
      </a:accent6>
      <a:hlink>
        <a:srgbClr val="1665D8"/>
      </a:hlink>
      <a:folHlink>
        <a:srgbClr val="54419E"/>
      </a:folHlink>
    </a:clrScheme>
    <a:fontScheme name="bvvqntr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​​">
  <a:themeElements>
    <a:clrScheme name="">
      <a:dk1>
        <a:srgbClr val="000000"/>
      </a:dk1>
      <a:lt1>
        <a:srgbClr val="FFFFFF"/>
      </a:lt1>
      <a:dk2>
        <a:srgbClr val="213A21"/>
      </a:dk2>
      <a:lt2>
        <a:srgbClr val="F3F8F3"/>
      </a:lt2>
      <a:accent1>
        <a:srgbClr val="355E35"/>
      </a:accent1>
      <a:accent2>
        <a:srgbClr val="467746"/>
      </a:accent2>
      <a:accent3>
        <a:srgbClr val="3A6B5A"/>
      </a:accent3>
      <a:accent4>
        <a:srgbClr val="578A3F"/>
      </a:accent4>
      <a:accent5>
        <a:srgbClr val="628C54"/>
      </a:accent5>
      <a:accent6>
        <a:srgbClr val="719965"/>
      </a:accent6>
      <a:hlink>
        <a:srgbClr val="1665D8"/>
      </a:hlink>
      <a:folHlink>
        <a:srgbClr val="54419E"/>
      </a:folHlink>
    </a:clrScheme>
    <a:fontScheme name="bvvqntr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主题​​">
  <a:themeElements>
    <a:clrScheme name="">
      <a:dk1>
        <a:srgbClr val="000000"/>
      </a:dk1>
      <a:lt1>
        <a:srgbClr val="FFFFFF"/>
      </a:lt1>
      <a:dk2>
        <a:srgbClr val="213A21"/>
      </a:dk2>
      <a:lt2>
        <a:srgbClr val="F3F8F3"/>
      </a:lt2>
      <a:accent1>
        <a:srgbClr val="355E35"/>
      </a:accent1>
      <a:accent2>
        <a:srgbClr val="467746"/>
      </a:accent2>
      <a:accent3>
        <a:srgbClr val="3A6B5A"/>
      </a:accent3>
      <a:accent4>
        <a:srgbClr val="578A3F"/>
      </a:accent4>
      <a:accent5>
        <a:srgbClr val="628C54"/>
      </a:accent5>
      <a:accent6>
        <a:srgbClr val="719965"/>
      </a:accent6>
      <a:hlink>
        <a:srgbClr val="1665D8"/>
      </a:hlink>
      <a:folHlink>
        <a:srgbClr val="54419E"/>
      </a:folHlink>
    </a:clrScheme>
    <a:fontScheme name="bvvqntr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主题​​">
  <a:themeElements>
    <a:clrScheme name="">
      <a:dk1>
        <a:srgbClr val="000000"/>
      </a:dk1>
      <a:lt1>
        <a:srgbClr val="FFFFFF"/>
      </a:lt1>
      <a:dk2>
        <a:srgbClr val="213A21"/>
      </a:dk2>
      <a:lt2>
        <a:srgbClr val="F3F8F3"/>
      </a:lt2>
      <a:accent1>
        <a:srgbClr val="355E35"/>
      </a:accent1>
      <a:accent2>
        <a:srgbClr val="467746"/>
      </a:accent2>
      <a:accent3>
        <a:srgbClr val="3A6B5A"/>
      </a:accent3>
      <a:accent4>
        <a:srgbClr val="578A3F"/>
      </a:accent4>
      <a:accent5>
        <a:srgbClr val="628C54"/>
      </a:accent5>
      <a:accent6>
        <a:srgbClr val="719965"/>
      </a:accent6>
      <a:hlink>
        <a:srgbClr val="1665D8"/>
      </a:hlink>
      <a:folHlink>
        <a:srgbClr val="54419E"/>
      </a:folHlink>
    </a:clrScheme>
    <a:fontScheme name="bvvqntr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Office 主题​​">
  <a:themeElements>
    <a:clrScheme name="">
      <a:dk1>
        <a:srgbClr val="000000"/>
      </a:dk1>
      <a:lt1>
        <a:srgbClr val="FFFFFF"/>
      </a:lt1>
      <a:dk2>
        <a:srgbClr val="213A21"/>
      </a:dk2>
      <a:lt2>
        <a:srgbClr val="F3F8F3"/>
      </a:lt2>
      <a:accent1>
        <a:srgbClr val="355E35"/>
      </a:accent1>
      <a:accent2>
        <a:srgbClr val="467746"/>
      </a:accent2>
      <a:accent3>
        <a:srgbClr val="3A6B5A"/>
      </a:accent3>
      <a:accent4>
        <a:srgbClr val="578A3F"/>
      </a:accent4>
      <a:accent5>
        <a:srgbClr val="628C54"/>
      </a:accent5>
      <a:accent6>
        <a:srgbClr val="719965"/>
      </a:accent6>
      <a:hlink>
        <a:srgbClr val="1665D8"/>
      </a:hlink>
      <a:folHlink>
        <a:srgbClr val="54419E"/>
      </a:folHlink>
    </a:clrScheme>
    <a:fontScheme name="bvvqntr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Office 主题​​">
  <a:themeElements>
    <a:clrScheme name="">
      <a:dk1>
        <a:srgbClr val="000000"/>
      </a:dk1>
      <a:lt1>
        <a:srgbClr val="FFFFFF"/>
      </a:lt1>
      <a:dk2>
        <a:srgbClr val="213A21"/>
      </a:dk2>
      <a:lt2>
        <a:srgbClr val="F3F8F3"/>
      </a:lt2>
      <a:accent1>
        <a:srgbClr val="355E35"/>
      </a:accent1>
      <a:accent2>
        <a:srgbClr val="467746"/>
      </a:accent2>
      <a:accent3>
        <a:srgbClr val="3A6B5A"/>
      </a:accent3>
      <a:accent4>
        <a:srgbClr val="578A3F"/>
      </a:accent4>
      <a:accent5>
        <a:srgbClr val="628C54"/>
      </a:accent5>
      <a:accent6>
        <a:srgbClr val="719965"/>
      </a:accent6>
      <a:hlink>
        <a:srgbClr val="1665D8"/>
      </a:hlink>
      <a:folHlink>
        <a:srgbClr val="54419E"/>
      </a:folHlink>
    </a:clrScheme>
    <a:fontScheme name="bvvqntr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Office 主题​​">
  <a:themeElements>
    <a:clrScheme name="">
      <a:dk1>
        <a:srgbClr val="000000"/>
      </a:dk1>
      <a:lt1>
        <a:srgbClr val="FFFFFF"/>
      </a:lt1>
      <a:dk2>
        <a:srgbClr val="163354"/>
      </a:dk2>
      <a:lt2>
        <a:srgbClr val="F3F7FA"/>
      </a:lt2>
      <a:accent1>
        <a:srgbClr val="005BAB"/>
      </a:accent1>
      <a:accent2>
        <a:srgbClr val="2376CD"/>
      </a:accent2>
      <a:accent3>
        <a:srgbClr val="007B94"/>
      </a:accent3>
      <a:accent4>
        <a:srgbClr val="4256AF"/>
      </a:accent4>
      <a:accent5>
        <a:srgbClr val="00427C"/>
      </a:accent5>
      <a:accent6>
        <a:srgbClr val="5EA0E6"/>
      </a:accent6>
      <a:hlink>
        <a:srgbClr val="0066CC"/>
      </a:hlink>
      <a:folHlink>
        <a:srgbClr val="672EA1"/>
      </a:folHlink>
    </a:clrScheme>
    <a:fontScheme name="bvvqntr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Office 主题​​">
  <a:themeElements>
    <a:clrScheme name="">
      <a:dk1>
        <a:srgbClr val="000000"/>
      </a:dk1>
      <a:lt1>
        <a:srgbClr val="FFFFFF"/>
      </a:lt1>
      <a:dk2>
        <a:srgbClr val="163354"/>
      </a:dk2>
      <a:lt2>
        <a:srgbClr val="F3F7FA"/>
      </a:lt2>
      <a:accent1>
        <a:srgbClr val="005BAB"/>
      </a:accent1>
      <a:accent2>
        <a:srgbClr val="2376CD"/>
      </a:accent2>
      <a:accent3>
        <a:srgbClr val="007B94"/>
      </a:accent3>
      <a:accent4>
        <a:srgbClr val="4256AF"/>
      </a:accent4>
      <a:accent5>
        <a:srgbClr val="00427C"/>
      </a:accent5>
      <a:accent6>
        <a:srgbClr val="5EA0E6"/>
      </a:accent6>
      <a:hlink>
        <a:srgbClr val="0066CC"/>
      </a:hlink>
      <a:folHlink>
        <a:srgbClr val="672EA1"/>
      </a:folHlink>
    </a:clrScheme>
    <a:fontScheme name="bvvqntr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6162</Words>
  <Application>WPS 演示</Application>
  <PresentationFormat>宽屏</PresentationFormat>
  <Paragraphs>722</Paragraphs>
  <Slides>31</Slides>
  <Notes>31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31</vt:i4>
      </vt:variant>
    </vt:vector>
  </HeadingPairs>
  <TitlesOfParts>
    <vt:vector size="52" baseType="lpstr">
      <vt:lpstr>Arial</vt:lpstr>
      <vt:lpstr>宋体</vt:lpstr>
      <vt:lpstr>Wingdings</vt:lpstr>
      <vt:lpstr>微软雅黑</vt:lpstr>
      <vt:lpstr>Calibri</vt:lpstr>
      <vt:lpstr>Arial Unicode MS</vt:lpstr>
      <vt:lpstr>等线</vt:lpstr>
      <vt:lpstr>Gill Sans</vt:lpstr>
      <vt:lpstr>Arial Black</vt:lpstr>
      <vt:lpstr>Times New Roman</vt:lpstr>
      <vt:lpstr>Corgi</vt:lpstr>
      <vt:lpstr>Office 主题​​</vt:lpstr>
      <vt:lpstr>1_Office 主题​​</vt:lpstr>
      <vt:lpstr>2_Office 主题​​</vt:lpstr>
      <vt:lpstr>3_Office 主题​​</vt:lpstr>
      <vt:lpstr>4_Office 主题​​</vt:lpstr>
      <vt:lpstr>5_Office 主题​​</vt:lpstr>
      <vt:lpstr>6_Office 主题​​</vt:lpstr>
      <vt:lpstr>7_Office 主题​​</vt:lpstr>
      <vt:lpstr>8_Office 主题​​</vt:lpstr>
      <vt:lpstr>9_Office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逍遥散调控SIRT1/PGC-1α通路改善CUMS大鼠抑郁状态的机制研究</dc:title>
  <dc:creator>龙小燕</dc:creator>
  <cp:lastModifiedBy>hfcfcfcxhqxhhhxhxxmaxyyqx</cp:lastModifiedBy>
  <cp:revision>30</cp:revision>
  <dcterms:created xsi:type="dcterms:W3CDTF">2016-11-24T09:20:00Z</dcterms:created>
  <dcterms:modified xsi:type="dcterms:W3CDTF">2026-10-17T05:52:39Z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E9A004559707438FA5C10488F1F26674_13</vt:lpwstr>
  </property>
  <property fmtid="{D5CDD505-2E9C-101B-9397-08002B2CF9AE}" pid="3" name="KSOProductBuildVer">
    <vt:lpwstr>2052-12.1.0.28505</vt:lpwstr>
  </property>
</Properties>
</file>