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423392" cy="945489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用户提供的研究计划甘特图逐项重建。全部可见内容均为PowerPoint原生矢量对象，无整页背景截图。时间轴为2026年10月至2028年6月，共21个月。第一阶段2026年10—12月，第二阶段2027年1—4月，第三阶段2027年5—8月，第四阶段2027年9—12月，第五阶段2028年1—6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研究计划甘特图"/>
          <p:cNvSpPr txBox="1"/>
          <p:nvPr/>
        </p:nvSpPr>
        <p:spPr>
          <a:xfrm>
            <a:off x="3785615" y="91440"/>
            <a:ext cx="5852160" cy="7498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92" b="1">
                <a:solidFill>
                  <a:srgbClr val="07528F"/>
                </a:solidFill>
                <a:latin typeface="Noto Serif CJK SC"/>
                <a:ea typeface="Noto Serif CJK SC"/>
              </a:rPr>
              <a:t>研究计划甘特图</a:t>
            </a:r>
          </a:p>
        </p:txBody>
      </p:sp>
      <p:graphicFrame>
        <p:nvGraphicFramePr>
          <p:cNvPr id="3" name="原生可编辑甘特表格"/>
          <p:cNvGraphicFramePr>
            <a:graphicFrameLocks noGrp="1"/>
          </p:cNvGraphicFramePr>
          <p:nvPr/>
        </p:nvGraphicFramePr>
        <p:xfrm>
          <a:off x="91440" y="1060704"/>
          <a:ext cx="13240503" cy="52303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7824"/>
                <a:gridCol w="2176272"/>
                <a:gridCol w="485067"/>
                <a:gridCol w="485067"/>
                <a:gridCol w="485067"/>
                <a:gridCol w="485067"/>
                <a:gridCol w="485067"/>
                <a:gridCol w="485067"/>
                <a:gridCol w="485067"/>
                <a:gridCol w="485067"/>
                <a:gridCol w="485067"/>
                <a:gridCol w="485067"/>
                <a:gridCol w="485067"/>
                <a:gridCol w="485067"/>
                <a:gridCol w="485067"/>
                <a:gridCol w="485067"/>
                <a:gridCol w="485067"/>
                <a:gridCol w="485067"/>
                <a:gridCol w="485067"/>
                <a:gridCol w="485067"/>
                <a:gridCol w="485067"/>
                <a:gridCol w="485067"/>
                <a:gridCol w="485067"/>
              </a:tblGrid>
              <a:tr h="896112"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12" b="1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阶段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12" b="1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主要内容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2026年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10月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2026年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11月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2026年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12月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2027年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1月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2027年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2027年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3月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2027年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4月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2027年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5月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2027年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6月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2027年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7月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2027年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8月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2027年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9月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2027年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10月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2027年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11月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2027年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12月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2028年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1月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2028年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2028年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3月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2028年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4月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2028年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5月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2028年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9" b="0">
                          <a:solidFill>
                            <a:srgbClr val="FFFFFF"/>
                          </a:solidFill>
                          <a:latin typeface="Noto Serif CJK SC"/>
                          <a:ea typeface="Noto Serif CJK SC"/>
                        </a:rPr>
                        <a:t>6月</a:t>
                      </a:r>
                    </a:p>
                  </a:txBody>
                  <a:tcPr marL="36576" marR="36576" marT="0" marB="0" anchor="ctr">
                    <a:solidFill>
                      <a:srgbClr val="07528F"/>
                    </a:solidFill>
                    <a:lnL w="6350">
                      <a:solidFill>
                        <a:srgbClr val="6D9EC2"/>
                      </a:solidFill>
                    </a:lnL>
                    <a:lnR w="6350">
                      <a:solidFill>
                        <a:srgbClr val="6D9EC2"/>
                      </a:solidFill>
                    </a:lnR>
                    <a:lnT w="6350">
                      <a:solidFill>
                        <a:srgbClr val="6D9EC2"/>
                      </a:solidFill>
                    </a:lnT>
                    <a:lnB w="6350">
                      <a:solidFill>
                        <a:srgbClr val="6D9EC2"/>
                      </a:solidFill>
                    </a:lnB>
                  </a:tcPr>
                </a:tc>
              </a:tr>
              <a:tr h="866851"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7" b="1">
                          <a:solidFill>
                            <a:srgbClr val="20242B"/>
                          </a:solidFill>
                          <a:latin typeface="Noto Serif CJK SC"/>
                          <a:ea typeface="Noto Serif CJK SC"/>
                        </a:rPr>
                        <a:t>第一阶段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2" b="1">
                          <a:solidFill>
                            <a:srgbClr val="20242B"/>
                          </a:solidFill>
                          <a:latin typeface="Noto Serif CJK SC"/>
                          <a:ea typeface="Noto Serif CJK SC"/>
                        </a:rPr>
                        <a:t>前期准备与实验方案完善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</a:tr>
              <a:tr h="866851"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7" b="1">
                          <a:solidFill>
                            <a:srgbClr val="20242B"/>
                          </a:solidFill>
                          <a:latin typeface="Noto Serif CJK SC"/>
                          <a:ea typeface="Noto Serif CJK SC"/>
                        </a:rPr>
                        <a:t>第二阶段</a:t>
                      </a:r>
                    </a:p>
                  </a:txBody>
                  <a:tcPr marL="36576" marR="36576" marT="0" marB="0" anchor="ctr"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2" b="1">
                          <a:solidFill>
                            <a:srgbClr val="20242B"/>
                          </a:solidFill>
                          <a:latin typeface="Noto Serif CJK SC"/>
                          <a:ea typeface="Noto Serif CJK SC"/>
                        </a:rPr>
                        <a:t>动物模型建立与药物干预</a:t>
                      </a:r>
                    </a:p>
                  </a:txBody>
                  <a:tcPr marL="36576" marR="36576" marT="0" marB="0" anchor="ctr"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</a:tr>
              <a:tr h="866851"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7" b="1">
                          <a:solidFill>
                            <a:srgbClr val="20242B"/>
                          </a:solidFill>
                          <a:latin typeface="Noto Serif CJK SC"/>
                          <a:ea typeface="Noto Serif CJK SC"/>
                        </a:rPr>
                        <a:t>第三阶段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2" b="1">
                          <a:solidFill>
                            <a:srgbClr val="20242B"/>
                          </a:solidFill>
                          <a:latin typeface="Noto Serif CJK SC"/>
                          <a:ea typeface="Noto Serif CJK SC"/>
                        </a:rPr>
                        <a:t>实验指标检测与数据分析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</a:tr>
              <a:tr h="866851"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7" b="1">
                          <a:solidFill>
                            <a:srgbClr val="20242B"/>
                          </a:solidFill>
                          <a:latin typeface="Noto Serif CJK SC"/>
                          <a:ea typeface="Noto Serif CJK SC"/>
                        </a:rPr>
                        <a:t>第四阶段</a:t>
                      </a:r>
                    </a:p>
                  </a:txBody>
                  <a:tcPr marL="36576" marR="36576" marT="0" marB="0" anchor="ctr"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5" b="1">
                          <a:solidFill>
                            <a:srgbClr val="20242B"/>
                          </a:solidFill>
                          <a:latin typeface="Noto Serif CJK SC"/>
                          <a:ea typeface="Noto Serif CJK SC"/>
                        </a:rPr>
                        <a:t>研究结果总结与学位论文初稿撰写</a:t>
                      </a:r>
                    </a:p>
                  </a:txBody>
                  <a:tcPr marL="36576" marR="36576" marT="0" marB="0" anchor="ctr"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F3FE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</a:tr>
              <a:tr h="866851"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7" b="1">
                          <a:solidFill>
                            <a:srgbClr val="20242B"/>
                          </a:solidFill>
                          <a:latin typeface="Noto Serif CJK SC"/>
                          <a:ea typeface="Noto Serif CJK SC"/>
                        </a:rPr>
                        <a:t>第五阶段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2" b="1">
                          <a:solidFill>
                            <a:srgbClr val="20242B"/>
                          </a:solidFill>
                          <a:latin typeface="Noto Serif CJK SC"/>
                          <a:ea typeface="Noto Serif CJK SC"/>
                        </a:rPr>
                        <a:t>学位论文修改完善与答辩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0D9F1"/>
                      </a:solidFill>
                    </a:lnL>
                    <a:lnR w="6350">
                      <a:solidFill>
                        <a:srgbClr val="C0D9F1"/>
                      </a:solidFill>
                    </a:lnR>
                    <a:lnT w="6350">
                      <a:solidFill>
                        <a:srgbClr val="C0D9F1"/>
                      </a:solidFill>
                    </a:lnT>
                    <a:lnB w="6350">
                      <a:solidFill>
                        <a:srgbClr val="C0D9F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第一阶段：2026年10月至2026年12月"/>
          <p:cNvSpPr/>
          <p:nvPr/>
        </p:nvSpPr>
        <p:spPr>
          <a:xfrm>
            <a:off x="3145536" y="2253081"/>
            <a:ext cx="1455202" cy="274320"/>
          </a:xfrm>
          <a:prstGeom prst="roundRect">
            <a:avLst>
              <a:gd name="adj" fmla="val 50000"/>
            </a:avLst>
          </a:prstGeom>
          <a:solidFill>
            <a:srgbClr val="087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第二阶段：2027年1月至2027年4月"/>
          <p:cNvSpPr/>
          <p:nvPr/>
        </p:nvSpPr>
        <p:spPr>
          <a:xfrm>
            <a:off x="4600738" y="3119932"/>
            <a:ext cx="1940269" cy="274320"/>
          </a:xfrm>
          <a:prstGeom prst="roundRect">
            <a:avLst>
              <a:gd name="adj" fmla="val 50000"/>
            </a:avLst>
          </a:prstGeom>
          <a:solidFill>
            <a:srgbClr val="087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第三阶段：2027年5月至2027年8月"/>
          <p:cNvSpPr/>
          <p:nvPr/>
        </p:nvSpPr>
        <p:spPr>
          <a:xfrm>
            <a:off x="6541008" y="3986784"/>
            <a:ext cx="1940269" cy="274320"/>
          </a:xfrm>
          <a:prstGeom prst="roundRect">
            <a:avLst>
              <a:gd name="adj" fmla="val 50000"/>
            </a:avLst>
          </a:prstGeom>
          <a:solidFill>
            <a:srgbClr val="087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第四阶段：2027年9月至2027年12月"/>
          <p:cNvSpPr/>
          <p:nvPr/>
        </p:nvSpPr>
        <p:spPr>
          <a:xfrm>
            <a:off x="8481277" y="4853635"/>
            <a:ext cx="1940269" cy="274320"/>
          </a:xfrm>
          <a:prstGeom prst="roundRect">
            <a:avLst>
              <a:gd name="adj" fmla="val 50000"/>
            </a:avLst>
          </a:prstGeom>
          <a:solidFill>
            <a:srgbClr val="087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第五阶段：2028年1月至2028年6月"/>
          <p:cNvSpPr/>
          <p:nvPr/>
        </p:nvSpPr>
        <p:spPr>
          <a:xfrm>
            <a:off x="10421547" y="5720486"/>
            <a:ext cx="2910404" cy="274320"/>
          </a:xfrm>
          <a:prstGeom prst="roundRect">
            <a:avLst>
              <a:gd name="adj" fmla="val 50000"/>
            </a:avLst>
          </a:prstGeom>
          <a:solidFill>
            <a:srgbClr val="087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阶段任务概述框"/>
          <p:cNvSpPr/>
          <p:nvPr/>
        </p:nvSpPr>
        <p:spPr>
          <a:xfrm>
            <a:off x="128016" y="6492240"/>
            <a:ext cx="13167360" cy="2834640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10160">
            <a:solidFill>
              <a:srgbClr val="C0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概述标题背景"/>
          <p:cNvSpPr/>
          <p:nvPr/>
        </p:nvSpPr>
        <p:spPr>
          <a:xfrm>
            <a:off x="146304" y="6510528"/>
            <a:ext cx="13130784" cy="603504"/>
          </a:xfrm>
          <a:prstGeom prst="rect">
            <a:avLst/>
          </a:prstGeom>
          <a:solidFill>
            <a:srgbClr val="E7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阶段任务概述"/>
          <p:cNvSpPr txBox="1"/>
          <p:nvPr/>
        </p:nvSpPr>
        <p:spPr>
          <a:xfrm>
            <a:off x="402336" y="6547104"/>
            <a:ext cx="402336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07528F"/>
                </a:solidFill>
                <a:latin typeface="Noto Serif CJK SC"/>
                <a:ea typeface="Noto Serif CJK SC"/>
              </a:rPr>
              <a:t>阶段任务概述</a:t>
            </a:r>
          </a:p>
        </p:txBody>
      </p:sp>
      <p:sp>
        <p:nvSpPr>
          <p:cNvPr id="12" name="阶段编号1"/>
          <p:cNvSpPr/>
          <p:nvPr/>
        </p:nvSpPr>
        <p:spPr>
          <a:xfrm>
            <a:off x="402336" y="7223760"/>
            <a:ext cx="329184" cy="329184"/>
          </a:xfrm>
          <a:prstGeom prst="ellipse">
            <a:avLst/>
          </a:prstGeom>
          <a:solidFill>
            <a:srgbClr val="07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1"/>
          <p:cNvSpPr txBox="1"/>
          <p:nvPr/>
        </p:nvSpPr>
        <p:spPr>
          <a:xfrm>
            <a:off x="402336" y="7223760"/>
            <a:ext cx="3291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FFFFFF"/>
                </a:solidFill>
                <a:latin typeface="Noto Serif CJK SC"/>
                <a:ea typeface="Noto Serif CJK SC"/>
              </a:rPr>
              <a:t>1</a:t>
            </a:r>
          </a:p>
        </p:txBody>
      </p:sp>
      <p:sp>
        <p:nvSpPr>
          <p:cNvPr id="14" name="第一阶段：文献整理、开题报告、伦理审批、逍遥散制备与实验流程确定"/>
          <p:cNvSpPr txBox="1"/>
          <p:nvPr/>
        </p:nvSpPr>
        <p:spPr>
          <a:xfrm>
            <a:off x="896112" y="7205472"/>
            <a:ext cx="12179808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3" b="1">
                <a:solidFill>
                  <a:srgbClr val="07528F"/>
                </a:solidFill>
                <a:latin typeface="Noto Serif CJK SC"/>
                <a:ea typeface="Noto Serif CJK SC"/>
              </a:rPr>
              <a:t>第一阶段：</a:t>
            </a:r>
            <a:r>
              <a:rPr sz="1533" b="0">
                <a:solidFill>
                  <a:srgbClr val="20242B"/>
                </a:solidFill>
                <a:latin typeface="Noto Serif CJK SC"/>
                <a:ea typeface="Noto Serif CJK SC"/>
              </a:rPr>
              <a:t>文献整理、开题报告、伦理审批、逍遥散制备与实验流程确定</a:t>
            </a:r>
          </a:p>
        </p:txBody>
      </p:sp>
      <p:sp>
        <p:nvSpPr>
          <p:cNvPr id="15" name="任务条纹底色"/>
          <p:cNvSpPr/>
          <p:nvPr/>
        </p:nvSpPr>
        <p:spPr>
          <a:xfrm>
            <a:off x="256032" y="7589520"/>
            <a:ext cx="12911328" cy="384048"/>
          </a:xfrm>
          <a:prstGeom prst="roundRect">
            <a:avLst>
              <a:gd name="adj" fmla="val 19047"/>
            </a:avLst>
          </a:prstGeom>
          <a:solidFill>
            <a:srgbClr val="E7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阶段编号2"/>
          <p:cNvSpPr/>
          <p:nvPr/>
        </p:nvSpPr>
        <p:spPr>
          <a:xfrm>
            <a:off x="402336" y="7626096"/>
            <a:ext cx="329184" cy="329184"/>
          </a:xfrm>
          <a:prstGeom prst="ellipse">
            <a:avLst/>
          </a:prstGeom>
          <a:solidFill>
            <a:srgbClr val="07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2"/>
          <p:cNvSpPr txBox="1"/>
          <p:nvPr/>
        </p:nvSpPr>
        <p:spPr>
          <a:xfrm>
            <a:off x="402336" y="7626096"/>
            <a:ext cx="3291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FFFFFF"/>
                </a:solidFill>
                <a:latin typeface="Noto Serif CJK SC"/>
                <a:ea typeface="Noto Serif CJK SC"/>
              </a:rPr>
              <a:t>2</a:t>
            </a:r>
          </a:p>
        </p:txBody>
      </p:sp>
      <p:sp>
        <p:nvSpPr>
          <p:cNvPr id="18" name="第二阶段：适应性饲养、随机分组、预给药、CUMS造模、行为学评价、取材保存"/>
          <p:cNvSpPr txBox="1"/>
          <p:nvPr/>
        </p:nvSpPr>
        <p:spPr>
          <a:xfrm>
            <a:off x="896112" y="7607808"/>
            <a:ext cx="12179808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3" b="1">
                <a:solidFill>
                  <a:srgbClr val="07528F"/>
                </a:solidFill>
                <a:latin typeface="Noto Serif CJK SC"/>
                <a:ea typeface="Noto Serif CJK SC"/>
              </a:rPr>
              <a:t>第二阶段：</a:t>
            </a:r>
            <a:r>
              <a:rPr sz="1533" b="0">
                <a:solidFill>
                  <a:srgbClr val="20242B"/>
                </a:solidFill>
                <a:latin typeface="Noto Serif CJK SC"/>
                <a:ea typeface="Noto Serif CJK SC"/>
              </a:rPr>
              <a:t>适应性饲养、随机分组、预给药、CUMS造模、行为学评价、取材保存</a:t>
            </a:r>
          </a:p>
        </p:txBody>
      </p:sp>
      <p:sp>
        <p:nvSpPr>
          <p:cNvPr id="19" name="阶段编号3"/>
          <p:cNvSpPr/>
          <p:nvPr/>
        </p:nvSpPr>
        <p:spPr>
          <a:xfrm>
            <a:off x="402336" y="8028431"/>
            <a:ext cx="329184" cy="329184"/>
          </a:xfrm>
          <a:prstGeom prst="ellipse">
            <a:avLst/>
          </a:prstGeom>
          <a:solidFill>
            <a:srgbClr val="07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3"/>
          <p:cNvSpPr txBox="1"/>
          <p:nvPr/>
        </p:nvSpPr>
        <p:spPr>
          <a:xfrm>
            <a:off x="402336" y="8028431"/>
            <a:ext cx="3291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FFFFFF"/>
                </a:solidFill>
                <a:latin typeface="Noto Serif CJK SC"/>
                <a:ea typeface="Noto Serif CJK SC"/>
              </a:rPr>
              <a:t>3</a:t>
            </a:r>
          </a:p>
        </p:txBody>
      </p:sp>
      <p:sp>
        <p:nvSpPr>
          <p:cNvPr id="21" name="第三阶段：WB检测SIRT1、PGC-1α；生化检测ATP、MDA、SOD；统计分析与图表制作"/>
          <p:cNvSpPr txBox="1"/>
          <p:nvPr/>
        </p:nvSpPr>
        <p:spPr>
          <a:xfrm>
            <a:off x="896112" y="8010144"/>
            <a:ext cx="12179808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3" b="1">
                <a:solidFill>
                  <a:srgbClr val="07528F"/>
                </a:solidFill>
                <a:latin typeface="Noto Serif CJK SC"/>
                <a:ea typeface="Noto Serif CJK SC"/>
              </a:rPr>
              <a:t>第三阶段：</a:t>
            </a:r>
            <a:r>
              <a:rPr sz="1533" b="0">
                <a:solidFill>
                  <a:srgbClr val="20242B"/>
                </a:solidFill>
                <a:latin typeface="Noto Serif CJK SC"/>
                <a:ea typeface="Noto Serif CJK SC"/>
              </a:rPr>
              <a:t>WB检测SIRT1、PGC-1α；生化检测ATP、MDA、SOD；统计分析与图表制作</a:t>
            </a:r>
          </a:p>
        </p:txBody>
      </p:sp>
      <p:sp>
        <p:nvSpPr>
          <p:cNvPr id="22" name="任务条纹底色"/>
          <p:cNvSpPr/>
          <p:nvPr/>
        </p:nvSpPr>
        <p:spPr>
          <a:xfrm>
            <a:off x="256032" y="8394192"/>
            <a:ext cx="12911328" cy="384048"/>
          </a:xfrm>
          <a:prstGeom prst="roundRect">
            <a:avLst>
              <a:gd name="adj" fmla="val 19047"/>
            </a:avLst>
          </a:prstGeom>
          <a:solidFill>
            <a:srgbClr val="E7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阶段编号4"/>
          <p:cNvSpPr/>
          <p:nvPr/>
        </p:nvSpPr>
        <p:spPr>
          <a:xfrm>
            <a:off x="402336" y="8430768"/>
            <a:ext cx="329184" cy="329184"/>
          </a:xfrm>
          <a:prstGeom prst="ellipse">
            <a:avLst/>
          </a:prstGeom>
          <a:solidFill>
            <a:srgbClr val="07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4"/>
          <p:cNvSpPr txBox="1"/>
          <p:nvPr/>
        </p:nvSpPr>
        <p:spPr>
          <a:xfrm>
            <a:off x="402336" y="8430768"/>
            <a:ext cx="3291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FFFFFF"/>
                </a:solidFill>
                <a:latin typeface="Noto Serif CJK SC"/>
                <a:ea typeface="Noto Serif CJK SC"/>
              </a:rPr>
              <a:t>4</a:t>
            </a:r>
          </a:p>
        </p:txBody>
      </p:sp>
      <p:sp>
        <p:nvSpPr>
          <p:cNvPr id="25" name="第四阶段：整理实验结果，撰写论文初稿并修改完善"/>
          <p:cNvSpPr txBox="1"/>
          <p:nvPr/>
        </p:nvSpPr>
        <p:spPr>
          <a:xfrm>
            <a:off x="896112" y="8412480"/>
            <a:ext cx="12179808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3" b="1">
                <a:solidFill>
                  <a:srgbClr val="07528F"/>
                </a:solidFill>
                <a:latin typeface="Noto Serif CJK SC"/>
                <a:ea typeface="Noto Serif CJK SC"/>
              </a:rPr>
              <a:t>第四阶段：</a:t>
            </a:r>
            <a:r>
              <a:rPr sz="1533" b="0">
                <a:solidFill>
                  <a:srgbClr val="20242B"/>
                </a:solidFill>
                <a:latin typeface="Noto Serif CJK SC"/>
                <a:ea typeface="Noto Serif CJK SC"/>
              </a:rPr>
              <a:t>整理实验结果，撰写论文初稿并修改完善</a:t>
            </a:r>
          </a:p>
        </p:txBody>
      </p:sp>
      <p:sp>
        <p:nvSpPr>
          <p:cNvPr id="26" name="阶段编号5"/>
          <p:cNvSpPr/>
          <p:nvPr/>
        </p:nvSpPr>
        <p:spPr>
          <a:xfrm>
            <a:off x="402336" y="8833104"/>
            <a:ext cx="329184" cy="329184"/>
          </a:xfrm>
          <a:prstGeom prst="ellipse">
            <a:avLst/>
          </a:prstGeom>
          <a:solidFill>
            <a:srgbClr val="07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5"/>
          <p:cNvSpPr txBox="1"/>
          <p:nvPr/>
        </p:nvSpPr>
        <p:spPr>
          <a:xfrm>
            <a:off x="402336" y="8833104"/>
            <a:ext cx="3291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FFFFFF"/>
                </a:solidFill>
                <a:latin typeface="Noto Serif CJK SC"/>
                <a:ea typeface="Noto Serif CJK SC"/>
              </a:rPr>
              <a:t>5</a:t>
            </a:r>
          </a:p>
        </p:txBody>
      </p:sp>
      <p:sp>
        <p:nvSpPr>
          <p:cNvPr id="28" name="第五阶段：论文定稿、预答辩、论文评阅与正式答辩"/>
          <p:cNvSpPr txBox="1"/>
          <p:nvPr/>
        </p:nvSpPr>
        <p:spPr>
          <a:xfrm>
            <a:off x="896112" y="8814816"/>
            <a:ext cx="12179808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3" b="1">
                <a:solidFill>
                  <a:srgbClr val="07528F"/>
                </a:solidFill>
                <a:latin typeface="Noto Serif CJK SC"/>
                <a:ea typeface="Noto Serif CJK SC"/>
              </a:rPr>
              <a:t>第五阶段：</a:t>
            </a:r>
            <a:r>
              <a:rPr sz="1533" b="0">
                <a:solidFill>
                  <a:srgbClr val="20242B"/>
                </a:solidFill>
                <a:latin typeface="Noto Serif CJK SC"/>
                <a:ea typeface="Noto Serif CJK SC"/>
              </a:rPr>
              <a:t>论文定稿、预答辩、论文评阅与正式答辩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