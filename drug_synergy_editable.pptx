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依据用户提供的“图2 糖尿病肾病合并心血管疾病的药物协同治疗策略”逐项重建。文字、卡片与箭头为PowerPoint原生对象；医学插图为独立透明图像，可移动和缩放。未对图中治疗建议作临床验证。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: 图2 糖尿病肾病合并心血管疾病的药物协同治疗策略"/>
          <p:cNvSpPr txBox="1"/>
          <p:nvPr/>
        </p:nvSpPr>
        <p:spPr>
          <a:xfrm>
            <a:off x="2103120" y="0"/>
            <a:ext cx="11109960" cy="6217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952" b="1">
                <a:solidFill>
                  <a:srgbClr val="062660"/>
                </a:solidFill>
                <a:latin typeface="Noto Sans CJK SC"/>
                <a:ea typeface="Noto Sans CJK SC"/>
              </a:rPr>
              <a:t>图2 糖尿病肾病合并心血管疾病的药物协同治疗策略</a:t>
            </a:r>
          </a:p>
        </p:txBody>
      </p:sp>
      <p:sp>
        <p:nvSpPr>
          <p:cNvPr id="3" name="Editable graphic"/>
          <p:cNvSpPr/>
          <p:nvPr/>
        </p:nvSpPr>
        <p:spPr>
          <a:xfrm>
            <a:off x="91440" y="667512"/>
            <a:ext cx="6382512" cy="3264408"/>
          </a:xfrm>
          <a:prstGeom prst="roundRect">
            <a:avLst>
              <a:gd name="adj" fmla="val 6162"/>
            </a:avLst>
          </a:prstGeom>
          <a:solidFill>
            <a:srgbClr val="FFFFFF"/>
          </a:solidFill>
          <a:ln w="10795">
            <a:solidFill>
              <a:srgbClr val="76B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graphic"/>
          <p:cNvSpPr/>
          <p:nvPr/>
        </p:nvSpPr>
        <p:spPr>
          <a:xfrm>
            <a:off x="100584" y="676656"/>
            <a:ext cx="6364224" cy="658368"/>
          </a:xfrm>
          <a:prstGeom prst="roundRect">
            <a:avLst>
              <a:gd name="adj" fmla="val 27777"/>
            </a:avLst>
          </a:prstGeom>
          <a:ln>
            <a:noFill/>
          </a:ln>
          <a:gradFill>
            <a:gsLst>
              <a:gs pos="0">
                <a:srgbClr val="1F70BA"/>
              </a:gs>
              <a:gs pos="100000">
                <a:srgbClr val="83B8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graphic"/>
          <p:cNvSpPr/>
          <p:nvPr/>
        </p:nvSpPr>
        <p:spPr>
          <a:xfrm>
            <a:off x="100584" y="1106424"/>
            <a:ext cx="6364224" cy="155448"/>
          </a:xfrm>
          <a:prstGeom prst="rect">
            <a:avLst/>
          </a:prstGeom>
          <a:ln>
            <a:noFill/>
          </a:ln>
          <a:gradFill>
            <a:gsLst>
              <a:gs pos="0">
                <a:srgbClr val="1F70BA"/>
              </a:gs>
              <a:gs pos="100000">
                <a:srgbClr val="83B8E9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graphic"/>
          <p:cNvSpPr/>
          <p:nvPr/>
        </p:nvSpPr>
        <p:spPr>
          <a:xfrm>
            <a:off x="100584" y="1261872"/>
            <a:ext cx="6364224" cy="2660904"/>
          </a:xfrm>
          <a:prstGeom prst="roundRect">
            <a:avLst>
              <a:gd name="adj" fmla="val 5841"/>
            </a:avLst>
          </a:prstGeom>
          <a:solidFill>
            <a:srgbClr val="FA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graphic"/>
          <p:cNvSpPr/>
          <p:nvPr/>
        </p:nvSpPr>
        <p:spPr>
          <a:xfrm>
            <a:off x="256032" y="704088"/>
            <a:ext cx="530352" cy="530352"/>
          </a:xfrm>
          <a:prstGeom prst="ellipse">
            <a:avLst/>
          </a:prstGeom>
          <a:ln w="10795">
            <a:solidFill>
              <a:srgbClr val="FFFFFF"/>
            </a:solidFill>
          </a:ln>
          <a:gradFill>
            <a:gsLst>
              <a:gs pos="0">
                <a:srgbClr val="A4D6F9"/>
              </a:gs>
              <a:gs pos="100000">
                <a:srgbClr val="FFFF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1"/>
          <p:cNvSpPr txBox="1"/>
          <p:nvPr/>
        </p:nvSpPr>
        <p:spPr>
          <a:xfrm>
            <a:off x="256032" y="704088"/>
            <a:ext cx="530352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28" b="1">
                <a:solidFill>
                  <a:srgbClr val="1F70BA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9" name="Text: 基础治疗：ACEI/ARB"/>
          <p:cNvSpPr txBox="1"/>
          <p:nvPr/>
        </p:nvSpPr>
        <p:spPr>
          <a:xfrm>
            <a:off x="1097280" y="722376"/>
            <a:ext cx="5239512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64" b="1">
                <a:solidFill>
                  <a:srgbClr val="FFFFFF"/>
                </a:solidFill>
                <a:latin typeface="Noto Sans CJK SC"/>
                <a:ea typeface="Noto Sans CJK SC"/>
              </a:rPr>
              <a:t>基础治疗：ACEI/ARB</a:t>
            </a:r>
          </a:p>
        </p:txBody>
      </p:sp>
      <p:sp>
        <p:nvSpPr>
          <p:cNvPr id="10" name="Editable graphic"/>
          <p:cNvSpPr/>
          <p:nvPr/>
        </p:nvSpPr>
        <p:spPr>
          <a:xfrm>
            <a:off x="8851392" y="667512"/>
            <a:ext cx="6345936" cy="3264408"/>
          </a:xfrm>
          <a:prstGeom prst="roundRect">
            <a:avLst>
              <a:gd name="adj" fmla="val 6162"/>
            </a:avLst>
          </a:prstGeom>
          <a:solidFill>
            <a:srgbClr val="FFFFFF"/>
          </a:solidFill>
          <a:ln w="10795">
            <a:solidFill>
              <a:srgbClr val="6AC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graphic"/>
          <p:cNvSpPr/>
          <p:nvPr/>
        </p:nvSpPr>
        <p:spPr>
          <a:xfrm>
            <a:off x="8860536" y="676656"/>
            <a:ext cx="6327648" cy="658368"/>
          </a:xfrm>
          <a:prstGeom prst="roundRect">
            <a:avLst>
              <a:gd name="adj" fmla="val 27777"/>
            </a:avLst>
          </a:prstGeom>
          <a:ln>
            <a:noFill/>
          </a:ln>
          <a:gradFill>
            <a:gsLst>
              <a:gs pos="0">
                <a:srgbClr val="228E5E"/>
              </a:gs>
              <a:gs pos="100000">
                <a:srgbClr val="8AD4B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graphic"/>
          <p:cNvSpPr/>
          <p:nvPr/>
        </p:nvSpPr>
        <p:spPr>
          <a:xfrm>
            <a:off x="8860536" y="1106424"/>
            <a:ext cx="6327648" cy="155448"/>
          </a:xfrm>
          <a:prstGeom prst="rect">
            <a:avLst/>
          </a:prstGeom>
          <a:ln>
            <a:noFill/>
          </a:ln>
          <a:gradFill>
            <a:gsLst>
              <a:gs pos="0">
                <a:srgbClr val="228E5E"/>
              </a:gs>
              <a:gs pos="100000">
                <a:srgbClr val="8AD4B2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graphic"/>
          <p:cNvSpPr/>
          <p:nvPr/>
        </p:nvSpPr>
        <p:spPr>
          <a:xfrm>
            <a:off x="8860536" y="1261872"/>
            <a:ext cx="6327648" cy="2660904"/>
          </a:xfrm>
          <a:prstGeom prst="roundRect">
            <a:avLst>
              <a:gd name="adj" fmla="val 5841"/>
            </a:avLst>
          </a:prstGeom>
          <a:solidFill>
            <a:srgbClr val="FA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graphic"/>
          <p:cNvSpPr/>
          <p:nvPr/>
        </p:nvSpPr>
        <p:spPr>
          <a:xfrm>
            <a:off x="9015984" y="704088"/>
            <a:ext cx="530352" cy="530352"/>
          </a:xfrm>
          <a:prstGeom prst="ellipse">
            <a:avLst/>
          </a:prstGeom>
          <a:ln w="10795">
            <a:solidFill>
              <a:srgbClr val="FFFFFF"/>
            </a:solidFill>
          </a:ln>
          <a:gradFill>
            <a:gsLst>
              <a:gs pos="0">
                <a:srgbClr val="A4D6F9"/>
              </a:gs>
              <a:gs pos="100000">
                <a:srgbClr val="FFFF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2"/>
          <p:cNvSpPr txBox="1"/>
          <p:nvPr/>
        </p:nvSpPr>
        <p:spPr>
          <a:xfrm>
            <a:off x="9015984" y="704088"/>
            <a:ext cx="530352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28" b="1">
                <a:solidFill>
                  <a:srgbClr val="228E5E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6" name="Text: SGLT2抑制剂"/>
          <p:cNvSpPr txBox="1"/>
          <p:nvPr/>
        </p:nvSpPr>
        <p:spPr>
          <a:xfrm>
            <a:off x="9857232" y="722376"/>
            <a:ext cx="5202936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64" b="1">
                <a:solidFill>
                  <a:srgbClr val="FFFFFF"/>
                </a:solidFill>
                <a:latin typeface="Noto Sans CJK SC"/>
                <a:ea typeface="Noto Sans CJK SC"/>
              </a:rPr>
              <a:t>SGLT2抑制剂</a:t>
            </a:r>
          </a:p>
        </p:txBody>
      </p:sp>
      <p:sp>
        <p:nvSpPr>
          <p:cNvPr id="17" name="Editable graphic"/>
          <p:cNvSpPr/>
          <p:nvPr/>
        </p:nvSpPr>
        <p:spPr>
          <a:xfrm>
            <a:off x="91440" y="4114800"/>
            <a:ext cx="6382512" cy="3520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795">
            <a:solidFill>
              <a:srgbClr val="F4A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graphic"/>
          <p:cNvSpPr/>
          <p:nvPr/>
        </p:nvSpPr>
        <p:spPr>
          <a:xfrm>
            <a:off x="100584" y="4123944"/>
            <a:ext cx="6364224" cy="658368"/>
          </a:xfrm>
          <a:prstGeom prst="roundRect">
            <a:avLst>
              <a:gd name="adj" fmla="val 27777"/>
            </a:avLst>
          </a:prstGeom>
          <a:ln>
            <a:noFill/>
          </a:ln>
          <a:gradFill>
            <a:gsLst>
              <a:gs pos="0">
                <a:srgbClr val="C7203A"/>
              </a:gs>
              <a:gs pos="100000">
                <a:srgbClr val="F59EA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graphic"/>
          <p:cNvSpPr/>
          <p:nvPr/>
        </p:nvSpPr>
        <p:spPr>
          <a:xfrm>
            <a:off x="100584" y="4553712"/>
            <a:ext cx="6364224" cy="155448"/>
          </a:xfrm>
          <a:prstGeom prst="rect">
            <a:avLst/>
          </a:prstGeom>
          <a:ln>
            <a:noFill/>
          </a:ln>
          <a:gradFill>
            <a:gsLst>
              <a:gs pos="0">
                <a:srgbClr val="C7203A"/>
              </a:gs>
              <a:gs pos="100000">
                <a:srgbClr val="F59EA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graphic"/>
          <p:cNvSpPr/>
          <p:nvPr/>
        </p:nvSpPr>
        <p:spPr>
          <a:xfrm>
            <a:off x="100584" y="4709160"/>
            <a:ext cx="6364224" cy="2916936"/>
          </a:xfrm>
          <a:prstGeom prst="roundRect">
            <a:avLst>
              <a:gd name="adj" fmla="val 5329"/>
            </a:avLst>
          </a:prstGeom>
          <a:solidFill>
            <a:srgbClr val="FA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graphic"/>
          <p:cNvSpPr/>
          <p:nvPr/>
        </p:nvSpPr>
        <p:spPr>
          <a:xfrm>
            <a:off x="256032" y="4151376"/>
            <a:ext cx="530352" cy="530352"/>
          </a:xfrm>
          <a:prstGeom prst="ellipse">
            <a:avLst/>
          </a:prstGeom>
          <a:ln w="10795">
            <a:solidFill>
              <a:srgbClr val="FFFFFF"/>
            </a:solidFill>
          </a:ln>
          <a:gradFill>
            <a:gsLst>
              <a:gs pos="0">
                <a:srgbClr val="A4D6F9"/>
              </a:gs>
              <a:gs pos="100000">
                <a:srgbClr val="FFFF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3"/>
          <p:cNvSpPr txBox="1"/>
          <p:nvPr/>
        </p:nvSpPr>
        <p:spPr>
          <a:xfrm>
            <a:off x="256032" y="4151376"/>
            <a:ext cx="530352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28" b="1">
                <a:solidFill>
                  <a:srgbClr val="C7203A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3" name="Text: GLP-1受体激动剂"/>
          <p:cNvSpPr txBox="1"/>
          <p:nvPr/>
        </p:nvSpPr>
        <p:spPr>
          <a:xfrm>
            <a:off x="1097280" y="4169663"/>
            <a:ext cx="5239512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64" b="1">
                <a:solidFill>
                  <a:srgbClr val="FFFFFF"/>
                </a:solidFill>
                <a:latin typeface="Noto Sans CJK SC"/>
                <a:ea typeface="Noto Sans CJK SC"/>
              </a:rPr>
              <a:t>GLP-1受体激动剂</a:t>
            </a:r>
          </a:p>
        </p:txBody>
      </p:sp>
      <p:sp>
        <p:nvSpPr>
          <p:cNvPr id="24" name="Editable graphic"/>
          <p:cNvSpPr/>
          <p:nvPr/>
        </p:nvSpPr>
        <p:spPr>
          <a:xfrm>
            <a:off x="9436608" y="4114800"/>
            <a:ext cx="5760720" cy="35204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795">
            <a:solidFill>
              <a:srgbClr val="C7B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graphic"/>
          <p:cNvSpPr/>
          <p:nvPr/>
        </p:nvSpPr>
        <p:spPr>
          <a:xfrm>
            <a:off x="9445752" y="4123944"/>
            <a:ext cx="5742432" cy="658368"/>
          </a:xfrm>
          <a:prstGeom prst="roundRect">
            <a:avLst>
              <a:gd name="adj" fmla="val 27777"/>
            </a:avLst>
          </a:prstGeom>
          <a:ln>
            <a:noFill/>
          </a:ln>
          <a:gradFill>
            <a:gsLst>
              <a:gs pos="0">
                <a:srgbClr val="7950B1"/>
              </a:gs>
              <a:gs pos="100000">
                <a:srgbClr val="BC9AD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graphic"/>
          <p:cNvSpPr/>
          <p:nvPr/>
        </p:nvSpPr>
        <p:spPr>
          <a:xfrm>
            <a:off x="9445752" y="4553712"/>
            <a:ext cx="5742432" cy="155448"/>
          </a:xfrm>
          <a:prstGeom prst="rect">
            <a:avLst/>
          </a:prstGeom>
          <a:ln>
            <a:noFill/>
          </a:ln>
          <a:gradFill>
            <a:gsLst>
              <a:gs pos="0">
                <a:srgbClr val="7950B1"/>
              </a:gs>
              <a:gs pos="100000">
                <a:srgbClr val="BC9AD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graphic"/>
          <p:cNvSpPr/>
          <p:nvPr/>
        </p:nvSpPr>
        <p:spPr>
          <a:xfrm>
            <a:off x="9445752" y="4709160"/>
            <a:ext cx="5742432" cy="2916936"/>
          </a:xfrm>
          <a:prstGeom prst="roundRect">
            <a:avLst>
              <a:gd name="adj" fmla="val 5329"/>
            </a:avLst>
          </a:prstGeom>
          <a:solidFill>
            <a:srgbClr val="FA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graphic"/>
          <p:cNvSpPr/>
          <p:nvPr/>
        </p:nvSpPr>
        <p:spPr>
          <a:xfrm>
            <a:off x="9601200" y="4151376"/>
            <a:ext cx="530352" cy="530352"/>
          </a:xfrm>
          <a:prstGeom prst="ellipse">
            <a:avLst/>
          </a:prstGeom>
          <a:ln w="10795">
            <a:solidFill>
              <a:srgbClr val="FFFFFF"/>
            </a:solidFill>
          </a:ln>
          <a:gradFill>
            <a:gsLst>
              <a:gs pos="0">
                <a:srgbClr val="A4D6F9"/>
              </a:gs>
              <a:gs pos="100000">
                <a:srgbClr val="FFFF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"/>
          <p:cNvSpPr txBox="1"/>
          <p:nvPr/>
        </p:nvSpPr>
        <p:spPr>
          <a:xfrm>
            <a:off x="9601200" y="4151376"/>
            <a:ext cx="530352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528" b="1">
                <a:solidFill>
                  <a:srgbClr val="7950B1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30" name="Text: 非甾体MRA（非奈利酮）"/>
          <p:cNvSpPr txBox="1"/>
          <p:nvPr/>
        </p:nvSpPr>
        <p:spPr>
          <a:xfrm>
            <a:off x="10442448" y="4169663"/>
            <a:ext cx="461772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520" b="1">
                <a:solidFill>
                  <a:srgbClr val="FFFFFF"/>
                </a:solidFill>
                <a:latin typeface="Noto Sans CJK SC"/>
                <a:ea typeface="Noto Sans CJK SC"/>
              </a:rPr>
              <a:t>非甾体MRA（非奈利酮）</a:t>
            </a:r>
          </a:p>
        </p:txBody>
      </p:sp>
      <p:sp>
        <p:nvSpPr>
          <p:cNvPr id="31" name="Editable graphic"/>
          <p:cNvSpPr/>
          <p:nvPr/>
        </p:nvSpPr>
        <p:spPr>
          <a:xfrm rot="2100000">
            <a:off x="6300216" y="1719072"/>
            <a:ext cx="932688" cy="438912"/>
          </a:xfrm>
          <a:prstGeom prst="rightArrow">
            <a:avLst/>
          </a:prstGeom>
          <a:ln>
            <a:noFill/>
          </a:ln>
          <a:gradFill>
            <a:gsLst>
              <a:gs pos="0">
                <a:srgbClr val="E7F5FF"/>
              </a:gs>
              <a:gs pos="100000">
                <a:srgbClr val="0879C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graphic"/>
          <p:cNvSpPr/>
          <p:nvPr/>
        </p:nvSpPr>
        <p:spPr>
          <a:xfrm rot="8700000">
            <a:off x="8165592" y="1719072"/>
            <a:ext cx="905256" cy="438912"/>
          </a:xfrm>
          <a:prstGeom prst="rightArrow">
            <a:avLst/>
          </a:prstGeom>
          <a:ln>
            <a:noFill/>
          </a:ln>
          <a:gradFill>
            <a:gsLst>
              <a:gs pos="0">
                <a:srgbClr val="D4F3E1"/>
              </a:gs>
              <a:gs pos="100000">
                <a:srgbClr val="13885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graphic"/>
          <p:cNvSpPr/>
          <p:nvPr/>
        </p:nvSpPr>
        <p:spPr>
          <a:xfrm>
            <a:off x="5870448" y="1929384"/>
            <a:ext cx="3630168" cy="3575304"/>
          </a:xfrm>
          <a:prstGeom prst="ellipse">
            <a:avLst/>
          </a:prstGeom>
          <a:solidFill>
            <a:srgbClr val="EF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graphic"/>
          <p:cNvSpPr/>
          <p:nvPr/>
        </p:nvSpPr>
        <p:spPr>
          <a:xfrm>
            <a:off x="6062472" y="2167128"/>
            <a:ext cx="3246120" cy="3099816"/>
          </a:xfrm>
          <a:prstGeom prst="ellipse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Medical illustration: patient" descr="patient.png"/>
          <p:cNvPicPr>
            <a:picLocks noChangeAspect="1"/>
          </p:cNvPicPr>
          <p:nvPr/>
        </p:nvPicPr>
        <p:blipFill>
          <a:blip r:embed="rId2"/>
          <a:srcRect l="6234" r="6234" t="4872" b="3590"/>
          <a:stretch>
            <a:fillRect/>
          </a:stretch>
        </p:blipFill>
        <p:spPr>
          <a:xfrm>
            <a:off x="6309360" y="2156166"/>
            <a:ext cx="2834640" cy="3002867"/>
          </a:xfrm>
          <a:prstGeom prst="rect">
            <a:avLst/>
          </a:prstGeom>
        </p:spPr>
      </p:pic>
      <p:sp>
        <p:nvSpPr>
          <p:cNvPr id="36" name="Editable graphic"/>
          <p:cNvSpPr/>
          <p:nvPr/>
        </p:nvSpPr>
        <p:spPr>
          <a:xfrm>
            <a:off x="5696712" y="4142232"/>
            <a:ext cx="731520" cy="438912"/>
          </a:xfrm>
          <a:prstGeom prst="rightArrow">
            <a:avLst/>
          </a:prstGeom>
          <a:ln>
            <a:noFill/>
          </a:ln>
          <a:gradFill>
            <a:gsLst>
              <a:gs pos="0">
                <a:srgbClr val="FFE3E7"/>
              </a:gs>
              <a:gs pos="100000">
                <a:srgbClr val="D51C3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graphic"/>
          <p:cNvSpPr/>
          <p:nvPr/>
        </p:nvSpPr>
        <p:spPr>
          <a:xfrm rot="10800000">
            <a:off x="8915400" y="4142232"/>
            <a:ext cx="658368" cy="438912"/>
          </a:xfrm>
          <a:prstGeom prst="rightArrow">
            <a:avLst/>
          </a:prstGeom>
          <a:ln>
            <a:noFill/>
          </a:ln>
          <a:gradFill>
            <a:gsLst>
              <a:gs pos="0">
                <a:srgbClr val="EEE2FF"/>
              </a:gs>
              <a:gs pos="100000">
                <a:srgbClr val="7846CB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graphic"/>
          <p:cNvSpPr/>
          <p:nvPr/>
        </p:nvSpPr>
        <p:spPr>
          <a:xfrm rot="7020000">
            <a:off x="6729984" y="5285232"/>
            <a:ext cx="539496" cy="393192"/>
          </a:xfrm>
          <a:prstGeom prst="rightArrow">
            <a:avLst/>
          </a:prstGeom>
          <a:ln>
            <a:noFill/>
          </a:ln>
          <a:gradFill>
            <a:gsLst>
              <a:gs pos="0">
                <a:srgbClr val="E7F5FF"/>
              </a:gs>
              <a:gs pos="100000">
                <a:srgbClr val="0879C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graphic"/>
          <p:cNvSpPr/>
          <p:nvPr/>
        </p:nvSpPr>
        <p:spPr>
          <a:xfrm rot="3720000">
            <a:off x="8193024" y="5285232"/>
            <a:ext cx="576072" cy="393192"/>
          </a:xfrm>
          <a:prstGeom prst="rightArrow">
            <a:avLst/>
          </a:prstGeom>
          <a:ln>
            <a:noFill/>
          </a:ln>
          <a:gradFill>
            <a:gsLst>
              <a:gs pos="0">
                <a:srgbClr val="FFE3E7"/>
              </a:gs>
              <a:gs pos="100000">
                <a:srgbClr val="D51C3D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肾素-血管紧张素系统阻断"/>
          <p:cNvSpPr txBox="1"/>
          <p:nvPr/>
        </p:nvSpPr>
        <p:spPr>
          <a:xfrm>
            <a:off x="621792" y="1344168"/>
            <a:ext cx="320954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肾素-血管紧张素系统阻断</a:t>
            </a:r>
          </a:p>
        </p:txBody>
      </p:sp>
      <p:pic>
        <p:nvPicPr>
          <p:cNvPr id="41" name="Medical illustration: liver" descr="liver.png"/>
          <p:cNvPicPr>
            <a:picLocks noChangeAspect="1"/>
          </p:cNvPicPr>
          <p:nvPr/>
        </p:nvPicPr>
        <p:blipFill>
          <a:blip r:embed="rId3"/>
          <a:srcRect l="7186" r="2695" t="9717" b="9717"/>
          <a:stretch>
            <a:fillRect/>
          </a:stretch>
        </p:blipFill>
        <p:spPr>
          <a:xfrm>
            <a:off x="310896" y="2000698"/>
            <a:ext cx="987552" cy="652899"/>
          </a:xfrm>
          <a:prstGeom prst="rect">
            <a:avLst/>
          </a:prstGeom>
        </p:spPr>
      </p:pic>
      <p:sp>
        <p:nvSpPr>
          <p:cNvPr id="42" name="Text: 肝脏"/>
          <p:cNvSpPr txBox="1"/>
          <p:nvPr/>
        </p:nvSpPr>
        <p:spPr>
          <a:xfrm>
            <a:off x="338328" y="2642616"/>
            <a:ext cx="667512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62660"/>
                </a:solidFill>
                <a:latin typeface="Noto Sans CJK SC"/>
                <a:ea typeface="Noto Sans CJK SC"/>
              </a:rPr>
              <a:t>肝脏</a:t>
            </a:r>
          </a:p>
        </p:txBody>
      </p:sp>
      <p:sp>
        <p:nvSpPr>
          <p:cNvPr id="43" name="Editable graphic"/>
          <p:cNvSpPr/>
          <p:nvPr/>
        </p:nvSpPr>
        <p:spPr>
          <a:xfrm>
            <a:off x="987552" y="2414016"/>
            <a:ext cx="640080" cy="420624"/>
          </a:xfrm>
          <a:prstGeom prst="roundRect">
            <a:avLst>
              <a:gd name="adj" fmla="val 47826"/>
            </a:avLst>
          </a:prstGeom>
          <a:solidFill>
            <a:srgbClr val="D5ECFF"/>
          </a:solidFill>
          <a:ln w="10795">
            <a:solidFill>
              <a:srgbClr val="8CB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Ang I"/>
          <p:cNvSpPr txBox="1"/>
          <p:nvPr/>
        </p:nvSpPr>
        <p:spPr>
          <a:xfrm>
            <a:off x="1024128" y="2423160"/>
            <a:ext cx="557784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62660"/>
                </a:solidFill>
                <a:latin typeface="Noto Sans CJK SC"/>
                <a:ea typeface="Noto Sans CJK SC"/>
              </a:rPr>
              <a:t>Ang I</a:t>
            </a:r>
          </a:p>
        </p:txBody>
      </p:sp>
      <p:sp>
        <p:nvSpPr>
          <p:cNvPr id="45" name="Editable graphic"/>
          <p:cNvSpPr/>
          <p:nvPr/>
        </p:nvSpPr>
        <p:spPr>
          <a:xfrm>
            <a:off x="1655064" y="2542032"/>
            <a:ext cx="347472" cy="155448"/>
          </a:xfrm>
          <a:prstGeom prst="rightArrow">
            <a:avLst/>
          </a:prstGeom>
          <a:ln>
            <a:noFill/>
          </a:ln>
          <a:gradFill>
            <a:gsLst>
              <a:gs pos="0">
                <a:srgbClr val="E7F5FF"/>
              </a:gs>
              <a:gs pos="100000">
                <a:srgbClr val="0879C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graphic"/>
          <p:cNvSpPr/>
          <p:nvPr/>
        </p:nvSpPr>
        <p:spPr>
          <a:xfrm>
            <a:off x="2039112" y="2414016"/>
            <a:ext cx="658368" cy="420624"/>
          </a:xfrm>
          <a:prstGeom prst="roundRect">
            <a:avLst>
              <a:gd name="adj" fmla="val 47826"/>
            </a:avLst>
          </a:prstGeom>
          <a:solidFill>
            <a:srgbClr val="FFE1E0"/>
          </a:solidFill>
          <a:ln w="10795">
            <a:solidFill>
              <a:srgbClr val="E78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: Ang II"/>
          <p:cNvSpPr txBox="1"/>
          <p:nvPr/>
        </p:nvSpPr>
        <p:spPr>
          <a:xfrm>
            <a:off x="2066543" y="2423160"/>
            <a:ext cx="603504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7B1420"/>
                </a:solidFill>
                <a:latin typeface="Noto Sans CJK SC"/>
                <a:ea typeface="Noto Sans CJK SC"/>
              </a:rPr>
              <a:t>Ang II</a:t>
            </a:r>
          </a:p>
        </p:txBody>
      </p:sp>
      <p:sp>
        <p:nvSpPr>
          <p:cNvPr id="48" name="Text: -ACE"/>
          <p:cNvSpPr txBox="1"/>
          <p:nvPr/>
        </p:nvSpPr>
        <p:spPr>
          <a:xfrm>
            <a:off x="1444752" y="2103120"/>
            <a:ext cx="621792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0879CF"/>
                </a:solidFill>
                <a:latin typeface="Noto Sans CJK SC"/>
                <a:ea typeface="Noto Sans CJK SC"/>
              </a:rPr>
              <a:t>-ACE</a:t>
            </a:r>
          </a:p>
        </p:txBody>
      </p:sp>
      <p:sp>
        <p:nvSpPr>
          <p:cNvPr id="49" name="Editable graphic"/>
          <p:cNvSpPr/>
          <p:nvPr/>
        </p:nvSpPr>
        <p:spPr>
          <a:xfrm rot="840000">
            <a:off x="1408176" y="2295144"/>
            <a:ext cx="594360" cy="118872"/>
          </a:xfrm>
          <a:prstGeom prst="rightArrow">
            <a:avLst/>
          </a:prstGeom>
          <a:ln>
            <a:noFill/>
          </a:ln>
          <a:gradFill>
            <a:gsLst>
              <a:gs pos="0">
                <a:srgbClr val="E7F5FF"/>
              </a:gs>
              <a:gs pos="100000">
                <a:srgbClr val="0879C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graphic"/>
          <p:cNvSpPr/>
          <p:nvPr/>
        </p:nvSpPr>
        <p:spPr>
          <a:xfrm>
            <a:off x="2368296" y="1773936"/>
            <a:ext cx="1143000" cy="374904"/>
          </a:xfrm>
          <a:prstGeom prst="roundRect">
            <a:avLst>
              <a:gd name="adj" fmla="val 31707"/>
            </a:avLst>
          </a:prstGeom>
          <a:solidFill>
            <a:srgbClr val="FFEEEE"/>
          </a:solidFill>
          <a:ln w="10795">
            <a:solidFill>
              <a:srgbClr val="F65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: ACEI/ARB"/>
          <p:cNvSpPr txBox="1"/>
          <p:nvPr/>
        </p:nvSpPr>
        <p:spPr>
          <a:xfrm>
            <a:off x="2414016" y="1773936"/>
            <a:ext cx="10515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9F0614"/>
                </a:solidFill>
                <a:latin typeface="Noto Sans CJK SC"/>
                <a:ea typeface="Noto Sans CJK SC"/>
              </a:rPr>
              <a:t>ACEI/ARB</a:t>
            </a:r>
          </a:p>
        </p:txBody>
      </p:sp>
      <p:sp>
        <p:nvSpPr>
          <p:cNvPr id="52" name="Editable graphic"/>
          <p:cNvSpPr/>
          <p:nvPr/>
        </p:nvSpPr>
        <p:spPr>
          <a:xfrm>
            <a:off x="2807208" y="2185416"/>
            <a:ext cx="45720" cy="246888"/>
          </a:xfrm>
          <a:prstGeom prst="rect">
            <a:avLst/>
          </a:prstGeom>
          <a:solidFill>
            <a:srgbClr val="DA0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graphic"/>
          <p:cNvSpPr/>
          <p:nvPr/>
        </p:nvSpPr>
        <p:spPr>
          <a:xfrm>
            <a:off x="2724912" y="2404872"/>
            <a:ext cx="219456" cy="45720"/>
          </a:xfrm>
          <a:prstGeom prst="rect">
            <a:avLst/>
          </a:prstGeom>
          <a:solidFill>
            <a:srgbClr val="DA0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graphic"/>
          <p:cNvSpPr/>
          <p:nvPr/>
        </p:nvSpPr>
        <p:spPr>
          <a:xfrm>
            <a:off x="2715768" y="2542032"/>
            <a:ext cx="338328" cy="155448"/>
          </a:xfrm>
          <a:prstGeom prst="rightArrow">
            <a:avLst/>
          </a:prstGeom>
          <a:ln>
            <a:noFill/>
          </a:ln>
          <a:gradFill>
            <a:gsLst>
              <a:gs pos="0">
                <a:srgbClr val="E7F5FF"/>
              </a:gs>
              <a:gs pos="100000">
                <a:srgbClr val="0879C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Medical illustration: artery" descr="artery.png"/>
          <p:cNvPicPr>
            <a:picLocks noChangeAspect="1"/>
          </p:cNvPicPr>
          <p:nvPr/>
        </p:nvPicPr>
        <p:blipFill>
          <a:blip r:embed="rId4"/>
          <a:srcRect l="1429" r="4571" t="8304" b="7612"/>
          <a:stretch>
            <a:fillRect/>
          </a:stretch>
        </p:blipFill>
        <p:spPr>
          <a:xfrm>
            <a:off x="2514600" y="2355747"/>
            <a:ext cx="1408176" cy="1040081"/>
          </a:xfrm>
          <a:prstGeom prst="rect">
            <a:avLst/>
          </a:prstGeom>
        </p:spPr>
      </p:pic>
      <p:sp>
        <p:nvSpPr>
          <p:cNvPr id="56" name="Editable graphic"/>
          <p:cNvSpPr/>
          <p:nvPr/>
        </p:nvSpPr>
        <p:spPr>
          <a:xfrm>
            <a:off x="3035808" y="2514600"/>
            <a:ext cx="539496" cy="539496"/>
          </a:xfrm>
          <a:prstGeom prst="mathMultiply">
            <a:avLst/>
          </a:prstGeom>
          <a:solidFill>
            <a:srgbClr val="F32943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: 血管收缩"/>
          <p:cNvSpPr txBox="1"/>
          <p:nvPr/>
        </p:nvSpPr>
        <p:spPr>
          <a:xfrm>
            <a:off x="3118104" y="3200400"/>
            <a:ext cx="923544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062660"/>
                </a:solidFill>
                <a:latin typeface="Noto Sans CJK SC"/>
                <a:ea typeface="Noto Sans CJK SC"/>
              </a:rPr>
              <a:t>血管收缩</a:t>
            </a:r>
          </a:p>
        </p:txBody>
      </p:sp>
      <p:sp>
        <p:nvSpPr>
          <p:cNvPr id="58" name="Editable graphic"/>
          <p:cNvSpPr/>
          <p:nvPr/>
        </p:nvSpPr>
        <p:spPr>
          <a:xfrm>
            <a:off x="4050791" y="1362456"/>
            <a:ext cx="2276856" cy="2423160"/>
          </a:xfrm>
          <a:prstGeom prst="roundRect">
            <a:avLst>
              <a:gd name="adj" fmla="val 8032"/>
            </a:avLst>
          </a:prstGeom>
          <a:ln>
            <a:noFill/>
          </a:ln>
          <a:gradFill>
            <a:gsLst>
              <a:gs pos="0">
                <a:srgbClr val="E8F5FF"/>
              </a:gs>
              <a:gs pos="100000">
                <a:srgbClr val="DAEC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Medical illustration: meter" descr="meter.png"/>
          <p:cNvPicPr>
            <a:picLocks noChangeAspect="1"/>
          </p:cNvPicPr>
          <p:nvPr/>
        </p:nvPicPr>
        <p:blipFill>
          <a:blip r:embed="rId5"/>
          <a:srcRect l="13043" r="13043" t="7207" b="7207"/>
          <a:stretch>
            <a:fillRect/>
          </a:stretch>
        </p:blipFill>
        <p:spPr>
          <a:xfrm>
            <a:off x="4282632" y="1481328"/>
            <a:ext cx="231262" cy="484632"/>
          </a:xfrm>
          <a:prstGeom prst="rect">
            <a:avLst/>
          </a:prstGeom>
        </p:spPr>
      </p:pic>
      <p:sp>
        <p:nvSpPr>
          <p:cNvPr id="60" name="Text: 降压"/>
          <p:cNvSpPr txBox="1"/>
          <p:nvPr/>
        </p:nvSpPr>
        <p:spPr>
          <a:xfrm>
            <a:off x="4754880" y="1481328"/>
            <a:ext cx="151790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降压</a:t>
            </a:r>
          </a:p>
        </p:txBody>
      </p:sp>
      <p:pic>
        <p:nvPicPr>
          <p:cNvPr id="61" name="Medical illustration: glomerulus" descr="glomerulus.png"/>
          <p:cNvPicPr>
            <a:picLocks noChangeAspect="1"/>
          </p:cNvPicPr>
          <p:nvPr/>
        </p:nvPicPr>
        <p:blipFill>
          <a:blip r:embed="rId6"/>
          <a:srcRect l="7122" r="7122" t="4643" b="2143"/>
          <a:stretch>
            <a:fillRect/>
          </a:stretch>
        </p:blipFill>
        <p:spPr>
          <a:xfrm>
            <a:off x="4160520" y="2066718"/>
            <a:ext cx="475488" cy="429419"/>
          </a:xfrm>
          <a:prstGeom prst="rect">
            <a:avLst/>
          </a:prstGeom>
        </p:spPr>
      </p:pic>
      <p:sp>
        <p:nvSpPr>
          <p:cNvPr id="62" name="Text: 降低肾小球内压"/>
          <p:cNvSpPr txBox="1"/>
          <p:nvPr/>
        </p:nvSpPr>
        <p:spPr>
          <a:xfrm>
            <a:off x="4754880" y="2039112"/>
            <a:ext cx="151790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08" b="1">
                <a:solidFill>
                  <a:srgbClr val="062660"/>
                </a:solidFill>
                <a:latin typeface="Noto Sans CJK SC"/>
                <a:ea typeface="Noto Sans CJK SC"/>
              </a:rPr>
              <a:t>降低肾小球内压</a:t>
            </a:r>
          </a:p>
        </p:txBody>
      </p:sp>
      <p:pic>
        <p:nvPicPr>
          <p:cNvPr id="63" name="Medical illustration: drops" descr="drops.png"/>
          <p:cNvPicPr>
            <a:picLocks noChangeAspect="1"/>
          </p:cNvPicPr>
          <p:nvPr/>
        </p:nvPicPr>
        <p:blipFill>
          <a:blip r:embed="rId7"/>
          <a:srcRect l="11111" r="11111" t="3623" b="8696"/>
          <a:stretch>
            <a:fillRect/>
          </a:stretch>
        </p:blipFill>
        <p:spPr>
          <a:xfrm>
            <a:off x="4230044" y="2660904"/>
            <a:ext cx="336438" cy="484632"/>
          </a:xfrm>
          <a:prstGeom prst="rect">
            <a:avLst/>
          </a:prstGeom>
        </p:spPr>
      </p:pic>
      <p:sp>
        <p:nvSpPr>
          <p:cNvPr id="64" name="Text: 减少尿白蛋白"/>
          <p:cNvSpPr txBox="1"/>
          <p:nvPr/>
        </p:nvSpPr>
        <p:spPr>
          <a:xfrm>
            <a:off x="4754880" y="2660904"/>
            <a:ext cx="151790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减少尿白蛋白</a:t>
            </a:r>
          </a:p>
        </p:txBody>
      </p:sp>
      <p:pic>
        <p:nvPicPr>
          <p:cNvPr id="65" name="Medical illustration: capsule" descr="capsule.png"/>
          <p:cNvPicPr>
            <a:picLocks noChangeAspect="1"/>
          </p:cNvPicPr>
          <p:nvPr/>
        </p:nvPicPr>
        <p:blipFill>
          <a:blip r:embed="rId8"/>
          <a:srcRect l="4202" r="10084" t="10042" b="10042"/>
          <a:stretch>
            <a:fillRect/>
          </a:stretch>
        </p:blipFill>
        <p:spPr>
          <a:xfrm>
            <a:off x="4160520" y="3220122"/>
            <a:ext cx="475488" cy="445187"/>
          </a:xfrm>
          <a:prstGeom prst="rect">
            <a:avLst/>
          </a:prstGeom>
        </p:spPr>
      </p:pic>
      <p:sp>
        <p:nvSpPr>
          <p:cNvPr id="66" name="Text: 基础治疗"/>
          <p:cNvSpPr txBox="1"/>
          <p:nvPr/>
        </p:nvSpPr>
        <p:spPr>
          <a:xfrm>
            <a:off x="4754880" y="3200400"/>
            <a:ext cx="1517904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基础治疗</a:t>
            </a:r>
          </a:p>
        </p:txBody>
      </p:sp>
      <p:sp>
        <p:nvSpPr>
          <p:cNvPr id="67" name="Editable graphic"/>
          <p:cNvSpPr/>
          <p:nvPr/>
        </p:nvSpPr>
        <p:spPr>
          <a:xfrm>
            <a:off x="4453128" y="1600200"/>
            <a:ext cx="164592" cy="265176"/>
          </a:xfrm>
          <a:prstGeom prst="downArrow">
            <a:avLst/>
          </a:prstGeom>
          <a:solidFill>
            <a:srgbClr val="138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Medical illustration: tubule" descr="tubule.png"/>
          <p:cNvPicPr>
            <a:picLocks noChangeAspect="1"/>
          </p:cNvPicPr>
          <p:nvPr/>
        </p:nvPicPr>
        <p:blipFill>
          <a:blip r:embed="rId9"/>
          <a:srcRect l="3896" r="5195" t="4667" b="5000"/>
          <a:stretch>
            <a:fillRect/>
          </a:stretch>
        </p:blipFill>
        <p:spPr>
          <a:xfrm>
            <a:off x="9318124" y="1645920"/>
            <a:ext cx="2678415" cy="1728216"/>
          </a:xfrm>
          <a:prstGeom prst="rect">
            <a:avLst/>
          </a:prstGeom>
        </p:spPr>
      </p:pic>
      <p:sp>
        <p:nvSpPr>
          <p:cNvPr id="69" name="Text: 葡萄糖"/>
          <p:cNvSpPr txBox="1"/>
          <p:nvPr/>
        </p:nvSpPr>
        <p:spPr>
          <a:xfrm>
            <a:off x="9189720" y="1517904"/>
            <a:ext cx="7315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062660"/>
                </a:solidFill>
                <a:latin typeface="Noto Sans CJK SC"/>
                <a:ea typeface="Noto Sans CJK SC"/>
              </a:rPr>
              <a:t>葡萄糖</a:t>
            </a:r>
          </a:p>
        </p:txBody>
      </p:sp>
      <p:sp>
        <p:nvSpPr>
          <p:cNvPr id="70" name="Text: 钠离子"/>
          <p:cNvSpPr txBox="1"/>
          <p:nvPr/>
        </p:nvSpPr>
        <p:spPr>
          <a:xfrm>
            <a:off x="9336024" y="2688336"/>
            <a:ext cx="704088" cy="3017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062660"/>
                </a:solidFill>
                <a:latin typeface="Noto Sans CJK SC"/>
                <a:ea typeface="Noto Sans CJK SC"/>
              </a:rPr>
              <a:t>钠离子</a:t>
            </a:r>
          </a:p>
        </p:txBody>
      </p:sp>
      <p:sp>
        <p:nvSpPr>
          <p:cNvPr id="71" name="Editable graphic"/>
          <p:cNvSpPr/>
          <p:nvPr/>
        </p:nvSpPr>
        <p:spPr>
          <a:xfrm>
            <a:off x="10515600" y="1517904"/>
            <a:ext cx="1408176" cy="374904"/>
          </a:xfrm>
          <a:prstGeom prst="roundRect">
            <a:avLst>
              <a:gd name="adj" fmla="val 31707"/>
            </a:avLst>
          </a:prstGeom>
          <a:solidFill>
            <a:srgbClr val="E3F7EF"/>
          </a:solidFill>
          <a:ln w="10795">
            <a:solidFill>
              <a:srgbClr val="5BB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: SGLT2抑制剂"/>
          <p:cNvSpPr txBox="1"/>
          <p:nvPr/>
        </p:nvSpPr>
        <p:spPr>
          <a:xfrm>
            <a:off x="10561320" y="1517904"/>
            <a:ext cx="131673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23" b="1">
                <a:solidFill>
                  <a:srgbClr val="075D50"/>
                </a:solidFill>
                <a:latin typeface="Noto Sans CJK SC"/>
                <a:ea typeface="Noto Sans CJK SC"/>
              </a:rPr>
              <a:t>SGLT2抑制剂</a:t>
            </a:r>
          </a:p>
        </p:txBody>
      </p:sp>
      <p:sp>
        <p:nvSpPr>
          <p:cNvPr id="73" name="Editable graphic"/>
          <p:cNvSpPr/>
          <p:nvPr/>
        </p:nvSpPr>
        <p:spPr>
          <a:xfrm rot="7860000">
            <a:off x="10634472" y="1956816"/>
            <a:ext cx="466344" cy="137160"/>
          </a:xfrm>
          <a:prstGeom prst="rightArrow">
            <a:avLst/>
          </a:prstGeom>
          <a:ln>
            <a:noFill/>
          </a:ln>
          <a:gradFill>
            <a:gsLst>
              <a:gs pos="0">
                <a:srgbClr val="D4F3E1"/>
              </a:gs>
              <a:gs pos="100000">
                <a:srgbClr val="138858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: 减少近端肾小管 / 葡萄糖和钠重吸收"/>
          <p:cNvSpPr txBox="1"/>
          <p:nvPr/>
        </p:nvSpPr>
        <p:spPr>
          <a:xfrm>
            <a:off x="9912096" y="3236976"/>
            <a:ext cx="2185416" cy="5577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660"/>
                </a:solidFill>
                <a:latin typeface="Noto Sans CJK SC"/>
                <a:ea typeface="Noto Sans CJK SC"/>
              </a:rPr>
              <a:t>减少近端肾小管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660"/>
                </a:solidFill>
                <a:latin typeface="Noto Sans CJK SC"/>
                <a:ea typeface="Noto Sans CJK SC"/>
              </a:rPr>
              <a:t>葡萄糖和钠重吸收</a:t>
            </a:r>
          </a:p>
        </p:txBody>
      </p:sp>
      <p:sp>
        <p:nvSpPr>
          <p:cNvPr id="75" name="Editable graphic"/>
          <p:cNvSpPr/>
          <p:nvPr/>
        </p:nvSpPr>
        <p:spPr>
          <a:xfrm>
            <a:off x="12408408" y="1353312"/>
            <a:ext cx="2642616" cy="2459736"/>
          </a:xfrm>
          <a:prstGeom prst="roundRect">
            <a:avLst>
              <a:gd name="adj" fmla="val 7434"/>
            </a:avLst>
          </a:prstGeom>
          <a:ln>
            <a:noFill/>
          </a:ln>
          <a:gradFill>
            <a:gsLst>
              <a:gs pos="0">
                <a:srgbClr val="F1FCF7"/>
              </a:gs>
              <a:gs pos="100000">
                <a:srgbClr val="E2F5EB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Medical illustration: nephron" descr="nephron.png"/>
          <p:cNvPicPr>
            <a:picLocks noChangeAspect="1"/>
          </p:cNvPicPr>
          <p:nvPr/>
        </p:nvPicPr>
        <p:blipFill>
          <a:blip r:embed="rId10"/>
          <a:srcRect l="4485" r="6332" t="6250" b="6250"/>
          <a:stretch>
            <a:fillRect/>
          </a:stretch>
        </p:blipFill>
        <p:spPr>
          <a:xfrm>
            <a:off x="12508992" y="1418997"/>
            <a:ext cx="566928" cy="563573"/>
          </a:xfrm>
          <a:prstGeom prst="rect">
            <a:avLst/>
          </a:prstGeom>
        </p:spPr>
      </p:pic>
      <p:sp>
        <p:nvSpPr>
          <p:cNvPr id="77" name="Text: 减轻肾小管转运负荷"/>
          <p:cNvSpPr txBox="1"/>
          <p:nvPr/>
        </p:nvSpPr>
        <p:spPr>
          <a:xfrm>
            <a:off x="13167360" y="1417320"/>
            <a:ext cx="18379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25" b="1">
                <a:solidFill>
                  <a:srgbClr val="062660"/>
                </a:solidFill>
                <a:latin typeface="Noto Sans CJK SC"/>
                <a:ea typeface="Noto Sans CJK SC"/>
              </a:rPr>
              <a:t>减轻肾小管转运负荷</a:t>
            </a:r>
          </a:p>
        </p:txBody>
      </p:sp>
      <p:pic>
        <p:nvPicPr>
          <p:cNvPr id="78" name="Medical illustration: glomerulus" descr="glomerulus.png"/>
          <p:cNvPicPr>
            <a:picLocks noChangeAspect="1"/>
          </p:cNvPicPr>
          <p:nvPr/>
        </p:nvPicPr>
        <p:blipFill>
          <a:blip r:embed="rId6"/>
          <a:srcRect l="7122" r="7122" t="4643" b="2143"/>
          <a:stretch>
            <a:fillRect/>
          </a:stretch>
        </p:blipFill>
        <p:spPr>
          <a:xfrm>
            <a:off x="12508992" y="2048287"/>
            <a:ext cx="566928" cy="512000"/>
          </a:xfrm>
          <a:prstGeom prst="rect">
            <a:avLst/>
          </a:prstGeom>
        </p:spPr>
      </p:pic>
      <p:sp>
        <p:nvSpPr>
          <p:cNvPr id="79" name="Text: 缓解肾小球高滤过"/>
          <p:cNvSpPr txBox="1"/>
          <p:nvPr/>
        </p:nvSpPr>
        <p:spPr>
          <a:xfrm>
            <a:off x="13167360" y="2020824"/>
            <a:ext cx="18379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3" b="1">
                <a:solidFill>
                  <a:srgbClr val="062660"/>
                </a:solidFill>
                <a:latin typeface="Noto Sans CJK SC"/>
                <a:ea typeface="Noto Sans CJK SC"/>
              </a:rPr>
              <a:t>缓解肾小球高滤过</a:t>
            </a:r>
          </a:p>
        </p:txBody>
      </p:sp>
      <p:pic>
        <p:nvPicPr>
          <p:cNvPr id="80" name="Medical illustration: heart" descr="heart.png"/>
          <p:cNvPicPr>
            <a:picLocks noChangeAspect="1"/>
          </p:cNvPicPr>
          <p:nvPr/>
        </p:nvPicPr>
        <p:blipFill>
          <a:blip r:embed="rId11"/>
          <a:srcRect l="8922" r="8922" t="875" b="6997"/>
          <a:stretch>
            <a:fillRect/>
          </a:stretch>
        </p:blipFill>
        <p:spPr>
          <a:xfrm>
            <a:off x="12594210" y="3218688"/>
            <a:ext cx="396490" cy="566928"/>
          </a:xfrm>
          <a:prstGeom prst="rect">
            <a:avLst/>
          </a:prstGeom>
        </p:spPr>
      </p:pic>
      <p:sp>
        <p:nvSpPr>
          <p:cNvPr id="81" name="Text: 降低心衰住院风险"/>
          <p:cNvSpPr txBox="1"/>
          <p:nvPr/>
        </p:nvSpPr>
        <p:spPr>
          <a:xfrm>
            <a:off x="13167360" y="3218688"/>
            <a:ext cx="1837943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603" b="1">
                <a:solidFill>
                  <a:srgbClr val="062660"/>
                </a:solidFill>
                <a:latin typeface="Noto Sans CJK SC"/>
                <a:ea typeface="Noto Sans CJK SC"/>
              </a:rPr>
              <a:t>降低心衰住院风险</a:t>
            </a:r>
          </a:p>
        </p:txBody>
      </p:sp>
      <p:sp>
        <p:nvSpPr>
          <p:cNvPr id="82" name="Editable graphic"/>
          <p:cNvSpPr/>
          <p:nvPr/>
        </p:nvSpPr>
        <p:spPr>
          <a:xfrm>
            <a:off x="12893040" y="1563624"/>
            <a:ext cx="192024" cy="283464"/>
          </a:xfrm>
          <a:prstGeom prst="downArrow">
            <a:avLst/>
          </a:prstGeom>
          <a:solidFill>
            <a:srgbClr val="138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graphic"/>
          <p:cNvSpPr/>
          <p:nvPr/>
        </p:nvSpPr>
        <p:spPr>
          <a:xfrm>
            <a:off x="12563856" y="2734056"/>
            <a:ext cx="27432" cy="347472"/>
          </a:xfrm>
          <a:prstGeom prst="rect">
            <a:avLst/>
          </a:prstGeom>
          <a:solidFill>
            <a:srgbClr val="078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graphic"/>
          <p:cNvSpPr/>
          <p:nvPr/>
        </p:nvSpPr>
        <p:spPr>
          <a:xfrm>
            <a:off x="12563856" y="3054096"/>
            <a:ext cx="484632" cy="27432"/>
          </a:xfrm>
          <a:prstGeom prst="rect">
            <a:avLst/>
          </a:prstGeom>
          <a:solidFill>
            <a:srgbClr val="078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graphic"/>
          <p:cNvSpPr/>
          <p:nvPr/>
        </p:nvSpPr>
        <p:spPr>
          <a:xfrm rot="2880000">
            <a:off x="12600432" y="2706624"/>
            <a:ext cx="228600" cy="36576"/>
          </a:xfrm>
          <a:prstGeom prst="rect">
            <a:avLst/>
          </a:prstGeom>
          <a:solidFill>
            <a:srgbClr val="078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graphic"/>
          <p:cNvSpPr/>
          <p:nvPr/>
        </p:nvSpPr>
        <p:spPr>
          <a:xfrm rot="8700000">
            <a:off x="12765024" y="2871216"/>
            <a:ext cx="182880" cy="36576"/>
          </a:xfrm>
          <a:prstGeom prst="rect">
            <a:avLst/>
          </a:prstGeom>
          <a:solidFill>
            <a:srgbClr val="078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graphic"/>
          <p:cNvSpPr/>
          <p:nvPr/>
        </p:nvSpPr>
        <p:spPr>
          <a:xfrm rot="2820000">
            <a:off x="12893040" y="2880360"/>
            <a:ext cx="201168" cy="36576"/>
          </a:xfrm>
          <a:prstGeom prst="rect">
            <a:avLst/>
          </a:prstGeom>
          <a:solidFill>
            <a:srgbClr val="0786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: 延缓eGFR下降"/>
          <p:cNvSpPr txBox="1"/>
          <p:nvPr/>
        </p:nvSpPr>
        <p:spPr>
          <a:xfrm>
            <a:off x="13167360" y="2615184"/>
            <a:ext cx="1837943" cy="5212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延缓eGFR下降</a:t>
            </a:r>
          </a:p>
        </p:txBody>
      </p:sp>
      <p:pic>
        <p:nvPicPr>
          <p:cNvPr id="89" name="Medical illustration: glp" descr="glp.png"/>
          <p:cNvPicPr>
            <a:picLocks noChangeAspect="1"/>
          </p:cNvPicPr>
          <p:nvPr/>
        </p:nvPicPr>
        <p:blipFill>
          <a:blip r:embed="rId12"/>
          <a:srcRect l="2553" r="4681" t="508" b="6091"/>
          <a:stretch>
            <a:fillRect/>
          </a:stretch>
        </p:blipFill>
        <p:spPr>
          <a:xfrm>
            <a:off x="246888" y="5074374"/>
            <a:ext cx="2807208" cy="2369386"/>
          </a:xfrm>
          <a:prstGeom prst="rect">
            <a:avLst/>
          </a:prstGeom>
        </p:spPr>
      </p:pic>
      <p:sp>
        <p:nvSpPr>
          <p:cNvPr id="90" name="Editable graphic"/>
          <p:cNvSpPr/>
          <p:nvPr/>
        </p:nvSpPr>
        <p:spPr>
          <a:xfrm>
            <a:off x="777240" y="7196328"/>
            <a:ext cx="393192" cy="146304"/>
          </a:xfrm>
          <a:prstGeom prst="rightArrow">
            <a:avLst/>
          </a:prstGeom>
          <a:ln>
            <a:noFill/>
          </a:ln>
          <a:gradFill>
            <a:gsLst>
              <a:gs pos="0">
                <a:srgbClr val="E7F5FF"/>
              </a:gs>
              <a:gs pos="100000">
                <a:srgbClr val="0879C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graphic"/>
          <p:cNvSpPr/>
          <p:nvPr/>
        </p:nvSpPr>
        <p:spPr>
          <a:xfrm>
            <a:off x="1956816" y="7196328"/>
            <a:ext cx="320040" cy="146304"/>
          </a:xfrm>
          <a:prstGeom prst="rightArrow">
            <a:avLst/>
          </a:prstGeom>
          <a:ln>
            <a:noFill/>
          </a:ln>
          <a:gradFill>
            <a:gsLst>
              <a:gs pos="0">
                <a:srgbClr val="E7F5FF"/>
              </a:gs>
              <a:gs pos="100000">
                <a:srgbClr val="0879C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graphic"/>
          <p:cNvSpPr/>
          <p:nvPr/>
        </p:nvSpPr>
        <p:spPr>
          <a:xfrm>
            <a:off x="1216152" y="4882896"/>
            <a:ext cx="1773936" cy="374904"/>
          </a:xfrm>
          <a:prstGeom prst="roundRect">
            <a:avLst>
              <a:gd name="adj" fmla="val 26829"/>
            </a:avLst>
          </a:prstGeom>
          <a:solidFill>
            <a:srgbClr val="E1F0FF"/>
          </a:solidFill>
          <a:ln w="10795">
            <a:solidFill>
              <a:srgbClr val="8F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: GLP-1受体激动剂"/>
          <p:cNvSpPr txBox="1"/>
          <p:nvPr/>
        </p:nvSpPr>
        <p:spPr>
          <a:xfrm>
            <a:off x="1261872" y="4882896"/>
            <a:ext cx="168249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86" b="1">
                <a:solidFill>
                  <a:srgbClr val="062660"/>
                </a:solidFill>
                <a:latin typeface="Noto Sans CJK SC"/>
                <a:ea typeface="Noto Sans CJK SC"/>
              </a:rPr>
              <a:t>GLP-1受体激动剂</a:t>
            </a:r>
          </a:p>
        </p:txBody>
      </p:sp>
      <p:sp>
        <p:nvSpPr>
          <p:cNvPr id="94" name="Text: GLP-1受体"/>
          <p:cNvSpPr txBox="1"/>
          <p:nvPr/>
        </p:nvSpPr>
        <p:spPr>
          <a:xfrm>
            <a:off x="1883664" y="6263640"/>
            <a:ext cx="1207008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>
                <a:solidFill>
                  <a:srgbClr val="062660"/>
                </a:solidFill>
                <a:latin typeface="Noto Sans CJK SC"/>
                <a:ea typeface="Noto Sans CJK SC"/>
              </a:rPr>
              <a:t>GLP-1受体</a:t>
            </a:r>
          </a:p>
        </p:txBody>
      </p:sp>
      <p:sp>
        <p:nvSpPr>
          <p:cNvPr id="95" name="Editable graphic"/>
          <p:cNvSpPr/>
          <p:nvPr/>
        </p:nvSpPr>
        <p:spPr>
          <a:xfrm>
            <a:off x="3282696" y="4809744"/>
            <a:ext cx="2331720" cy="2734056"/>
          </a:xfrm>
          <a:prstGeom prst="roundRect">
            <a:avLst>
              <a:gd name="adj" fmla="val 7843"/>
            </a:avLst>
          </a:prstGeom>
          <a:ln>
            <a:noFill/>
          </a:ln>
          <a:gradFill>
            <a:gsLst>
              <a:gs pos="0">
                <a:srgbClr val="FFF3F5"/>
              </a:gs>
              <a:gs pos="100000">
                <a:srgbClr val="FFE8EC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Medical illustration: meter" descr="meter.png"/>
          <p:cNvPicPr>
            <a:picLocks noChangeAspect="1"/>
          </p:cNvPicPr>
          <p:nvPr/>
        </p:nvPicPr>
        <p:blipFill>
          <a:blip r:embed="rId5"/>
          <a:srcRect l="13043" r="13043" t="7207" b="7207"/>
          <a:stretch>
            <a:fillRect/>
          </a:stretch>
        </p:blipFill>
        <p:spPr>
          <a:xfrm>
            <a:off x="3568470" y="4901184"/>
            <a:ext cx="287987" cy="603504"/>
          </a:xfrm>
          <a:prstGeom prst="rect">
            <a:avLst/>
          </a:prstGeom>
        </p:spPr>
      </p:pic>
      <p:sp>
        <p:nvSpPr>
          <p:cNvPr id="97" name="Text: 改善血糖代谢"/>
          <p:cNvSpPr txBox="1"/>
          <p:nvPr/>
        </p:nvSpPr>
        <p:spPr>
          <a:xfrm>
            <a:off x="4197096" y="4901184"/>
            <a:ext cx="1353312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6" b="1">
                <a:solidFill>
                  <a:srgbClr val="062660"/>
                </a:solidFill>
                <a:latin typeface="Noto Sans CJK SC"/>
                <a:ea typeface="Noto Sans CJK SC"/>
              </a:rPr>
              <a:t>改善血糖代谢</a:t>
            </a:r>
          </a:p>
        </p:txBody>
      </p:sp>
      <p:pic>
        <p:nvPicPr>
          <p:cNvPr id="98" name="Medical illustration: fat" descr="fat.png"/>
          <p:cNvPicPr>
            <a:picLocks noChangeAspect="1"/>
          </p:cNvPicPr>
          <p:nvPr/>
        </p:nvPicPr>
        <p:blipFill>
          <a:blip r:embed="rId13"/>
          <a:srcRect l="6015" r="6015" t="5897" b="5897"/>
          <a:stretch>
            <a:fillRect/>
          </a:stretch>
        </p:blipFill>
        <p:spPr>
          <a:xfrm>
            <a:off x="3417436" y="5513832"/>
            <a:ext cx="590055" cy="603504"/>
          </a:xfrm>
          <a:prstGeom prst="rect">
            <a:avLst/>
          </a:prstGeom>
        </p:spPr>
      </p:pic>
      <p:sp>
        <p:nvSpPr>
          <p:cNvPr id="99" name="Text: 减重"/>
          <p:cNvSpPr txBox="1"/>
          <p:nvPr/>
        </p:nvSpPr>
        <p:spPr>
          <a:xfrm>
            <a:off x="4197096" y="5513832"/>
            <a:ext cx="1353312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减重</a:t>
            </a:r>
          </a:p>
        </p:txBody>
      </p:sp>
      <p:pic>
        <p:nvPicPr>
          <p:cNvPr id="100" name="Medical illustration: artery" descr="artery.png"/>
          <p:cNvPicPr>
            <a:picLocks noChangeAspect="1"/>
          </p:cNvPicPr>
          <p:nvPr/>
        </p:nvPicPr>
        <p:blipFill>
          <a:blip r:embed="rId4"/>
          <a:srcRect l="1429" r="4571" t="8304" b="7612"/>
          <a:stretch>
            <a:fillRect/>
          </a:stretch>
        </p:blipFill>
        <p:spPr>
          <a:xfrm>
            <a:off x="3346704" y="6258664"/>
            <a:ext cx="731520" cy="540302"/>
          </a:xfrm>
          <a:prstGeom prst="rect">
            <a:avLst/>
          </a:prstGeom>
        </p:spPr>
      </p:pic>
      <p:sp>
        <p:nvSpPr>
          <p:cNvPr id="101" name="Text: 降低动脉粥样 / 硬化风险"/>
          <p:cNvSpPr txBox="1"/>
          <p:nvPr/>
        </p:nvSpPr>
        <p:spPr>
          <a:xfrm>
            <a:off x="4197096" y="6227064"/>
            <a:ext cx="1353312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6" b="1">
                <a:solidFill>
                  <a:srgbClr val="062660"/>
                </a:solidFill>
                <a:latin typeface="Noto Sans CJK SC"/>
                <a:ea typeface="Noto Sans CJK SC"/>
              </a:rPr>
              <a:t>降低动脉粥样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6" b="1">
                <a:solidFill>
                  <a:srgbClr val="062660"/>
                </a:solidFill>
                <a:latin typeface="Noto Sans CJK SC"/>
                <a:ea typeface="Noto Sans CJK SC"/>
              </a:rPr>
              <a:t>硬化风险</a:t>
            </a:r>
          </a:p>
        </p:txBody>
      </p:sp>
      <p:pic>
        <p:nvPicPr>
          <p:cNvPr id="102" name="Medical illustration: kidney-red" descr="kidney-red.png"/>
          <p:cNvPicPr>
            <a:picLocks noChangeAspect="1"/>
          </p:cNvPicPr>
          <p:nvPr/>
        </p:nvPicPr>
        <p:blipFill>
          <a:blip r:embed="rId14"/>
          <a:srcRect l="6593" r="6593" t="5053" b="4421"/>
          <a:stretch>
            <a:fillRect/>
          </a:stretch>
        </p:blipFill>
        <p:spPr>
          <a:xfrm>
            <a:off x="3490711" y="6867144"/>
            <a:ext cx="443505" cy="603504"/>
          </a:xfrm>
          <a:prstGeom prst="rect">
            <a:avLst/>
          </a:prstGeom>
        </p:spPr>
      </p:pic>
      <p:sp>
        <p:nvSpPr>
          <p:cNvPr id="103" name="Text: 改善肾脏结局"/>
          <p:cNvSpPr txBox="1"/>
          <p:nvPr/>
        </p:nvSpPr>
        <p:spPr>
          <a:xfrm>
            <a:off x="4197096" y="6867144"/>
            <a:ext cx="1353312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66" b="1">
                <a:solidFill>
                  <a:srgbClr val="062660"/>
                </a:solidFill>
                <a:latin typeface="Noto Sans CJK SC"/>
                <a:ea typeface="Noto Sans CJK SC"/>
              </a:rPr>
              <a:t>改善肾脏结局</a:t>
            </a:r>
          </a:p>
        </p:txBody>
      </p:sp>
      <p:sp>
        <p:nvSpPr>
          <p:cNvPr id="104" name="Editable graphic"/>
          <p:cNvSpPr/>
          <p:nvPr/>
        </p:nvSpPr>
        <p:spPr>
          <a:xfrm>
            <a:off x="3355848" y="5641848"/>
            <a:ext cx="182880" cy="283464"/>
          </a:xfrm>
          <a:prstGeom prst="downArrow">
            <a:avLst/>
          </a:prstGeom>
          <a:solidFill>
            <a:srgbClr val="D5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Medical illustration: mr" descr="mr.png"/>
          <p:cNvPicPr>
            <a:picLocks noChangeAspect="1"/>
          </p:cNvPicPr>
          <p:nvPr/>
        </p:nvPicPr>
        <p:blipFill>
          <a:blip r:embed="rId15"/>
          <a:srcRect l="4340" r="4159" t="5714" b="5714"/>
          <a:stretch>
            <a:fillRect/>
          </a:stretch>
        </p:blipFill>
        <p:spPr>
          <a:xfrm>
            <a:off x="10109601" y="5102352"/>
            <a:ext cx="2375621" cy="1746504"/>
          </a:xfrm>
          <a:prstGeom prst="rect">
            <a:avLst/>
          </a:prstGeom>
        </p:spPr>
      </p:pic>
      <p:sp>
        <p:nvSpPr>
          <p:cNvPr id="106" name="Editable graphic"/>
          <p:cNvSpPr/>
          <p:nvPr/>
        </p:nvSpPr>
        <p:spPr>
          <a:xfrm>
            <a:off x="10241280" y="4937760"/>
            <a:ext cx="1078992" cy="374904"/>
          </a:xfrm>
          <a:prstGeom prst="roundRect">
            <a:avLst>
              <a:gd name="adj" fmla="val 31707"/>
            </a:avLst>
          </a:prstGeom>
          <a:solidFill>
            <a:srgbClr val="FFEEEE"/>
          </a:solidFill>
          <a:ln w="10795">
            <a:solidFill>
              <a:srgbClr val="FC7D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: 非奈利酮"/>
          <p:cNvSpPr txBox="1"/>
          <p:nvPr/>
        </p:nvSpPr>
        <p:spPr>
          <a:xfrm>
            <a:off x="10277856" y="4937760"/>
            <a:ext cx="1005840" cy="3749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AD0D1B"/>
                </a:solidFill>
                <a:latin typeface="Noto Sans CJK SC"/>
                <a:ea typeface="Noto Sans CJK SC"/>
              </a:rPr>
              <a:t>非奈利酮</a:t>
            </a:r>
          </a:p>
        </p:txBody>
      </p:sp>
      <p:sp>
        <p:nvSpPr>
          <p:cNvPr id="108" name="Text: MR"/>
          <p:cNvSpPr txBox="1"/>
          <p:nvPr/>
        </p:nvSpPr>
        <p:spPr>
          <a:xfrm>
            <a:off x="11759184" y="5376672"/>
            <a:ext cx="585216" cy="2651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062660"/>
                </a:solidFill>
                <a:latin typeface="Noto Sans CJK SC"/>
                <a:ea typeface="Noto Sans CJK SC"/>
              </a:rPr>
              <a:t>MR</a:t>
            </a:r>
          </a:p>
        </p:txBody>
      </p:sp>
      <p:sp>
        <p:nvSpPr>
          <p:cNvPr id="109" name="Editable graphic"/>
          <p:cNvSpPr/>
          <p:nvPr/>
        </p:nvSpPr>
        <p:spPr>
          <a:xfrm>
            <a:off x="10780776" y="5349240"/>
            <a:ext cx="36576" cy="246888"/>
          </a:xfrm>
          <a:prstGeom prst="rect">
            <a:avLst/>
          </a:prstGeom>
          <a:solidFill>
            <a:srgbClr val="DD0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graphic"/>
          <p:cNvSpPr/>
          <p:nvPr/>
        </p:nvSpPr>
        <p:spPr>
          <a:xfrm>
            <a:off x="10680192" y="5596128"/>
            <a:ext cx="246888" cy="36576"/>
          </a:xfrm>
          <a:prstGeom prst="rect">
            <a:avLst/>
          </a:prstGeom>
          <a:solidFill>
            <a:srgbClr val="DD0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: 阻断醛固酮-矿物皮质激素受体 / 抑制下游炎症与纤维化信号"/>
          <p:cNvSpPr txBox="1"/>
          <p:nvPr/>
        </p:nvSpPr>
        <p:spPr>
          <a:xfrm>
            <a:off x="9966960" y="6876288"/>
            <a:ext cx="2807208" cy="5852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73" b="1">
                <a:solidFill>
                  <a:srgbClr val="062660"/>
                </a:solidFill>
                <a:latin typeface="Noto Sans CJK SC"/>
                <a:ea typeface="Noto Sans CJK SC"/>
              </a:rPr>
              <a:t>阻断醛固酮-矿物皮质激素受体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73" b="1">
                <a:solidFill>
                  <a:srgbClr val="062660"/>
                </a:solidFill>
                <a:latin typeface="Noto Sans CJK SC"/>
                <a:ea typeface="Noto Sans CJK SC"/>
              </a:rPr>
              <a:t>抑制下游炎症与纤维化信号</a:t>
            </a:r>
          </a:p>
        </p:txBody>
      </p:sp>
      <p:sp>
        <p:nvSpPr>
          <p:cNvPr id="112" name="Editable graphic"/>
          <p:cNvSpPr/>
          <p:nvPr/>
        </p:nvSpPr>
        <p:spPr>
          <a:xfrm>
            <a:off x="12838176" y="4809744"/>
            <a:ext cx="2231136" cy="2734056"/>
          </a:xfrm>
          <a:prstGeom prst="roundRect">
            <a:avLst>
              <a:gd name="adj" fmla="val 8196"/>
            </a:avLst>
          </a:prstGeom>
          <a:ln>
            <a:noFill/>
          </a:ln>
          <a:gradFill>
            <a:gsLst>
              <a:gs pos="0">
                <a:srgbClr val="F9F5FF"/>
              </a:gs>
              <a:gs pos="100000">
                <a:srgbClr val="F0E8FF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Medical illustration: glomerulus" descr="glomerulus.png"/>
          <p:cNvPicPr>
            <a:picLocks noChangeAspect="1"/>
          </p:cNvPicPr>
          <p:nvPr/>
        </p:nvPicPr>
        <p:blipFill>
          <a:blip r:embed="rId6"/>
          <a:srcRect l="7122" r="7122" t="4643" b="2143"/>
          <a:stretch>
            <a:fillRect/>
          </a:stretch>
        </p:blipFill>
        <p:spPr>
          <a:xfrm>
            <a:off x="12938760" y="4910217"/>
            <a:ext cx="658368" cy="594581"/>
          </a:xfrm>
          <a:prstGeom prst="rect">
            <a:avLst/>
          </a:prstGeom>
        </p:spPr>
      </p:pic>
      <p:sp>
        <p:nvSpPr>
          <p:cNvPr id="114" name="Text: 降低尿白蛋白"/>
          <p:cNvSpPr txBox="1"/>
          <p:nvPr/>
        </p:nvSpPr>
        <p:spPr>
          <a:xfrm>
            <a:off x="13688568" y="4892040"/>
            <a:ext cx="133502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44" b="1">
                <a:solidFill>
                  <a:srgbClr val="062660"/>
                </a:solidFill>
                <a:latin typeface="Noto Sans CJK SC"/>
                <a:ea typeface="Noto Sans CJK SC"/>
              </a:rPr>
              <a:t>降低尿白蛋白</a:t>
            </a:r>
          </a:p>
        </p:txBody>
      </p:sp>
      <p:pic>
        <p:nvPicPr>
          <p:cNvPr id="115" name="Medical illustration: inflammation" descr="inflammation.png"/>
          <p:cNvPicPr>
            <a:picLocks noChangeAspect="1"/>
          </p:cNvPicPr>
          <p:nvPr/>
        </p:nvPicPr>
        <p:blipFill>
          <a:blip r:embed="rId16"/>
          <a:srcRect l="5217" r="5217" t="6061" b="6061"/>
          <a:stretch>
            <a:fillRect/>
          </a:stretch>
        </p:blipFill>
        <p:spPr>
          <a:xfrm>
            <a:off x="12938760" y="5560395"/>
            <a:ext cx="658368" cy="556097"/>
          </a:xfrm>
          <a:prstGeom prst="rect">
            <a:avLst/>
          </a:prstGeom>
        </p:spPr>
      </p:pic>
      <p:sp>
        <p:nvSpPr>
          <p:cNvPr id="116" name="Text: 减轻炎症"/>
          <p:cNvSpPr txBox="1"/>
          <p:nvPr/>
        </p:nvSpPr>
        <p:spPr>
          <a:xfrm>
            <a:off x="13688568" y="5522976"/>
            <a:ext cx="133502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减轻炎症</a:t>
            </a:r>
          </a:p>
        </p:txBody>
      </p:sp>
      <p:pic>
        <p:nvPicPr>
          <p:cNvPr id="117" name="Medical illustration: fibroblast" descr="fibroblast.png"/>
          <p:cNvPicPr>
            <a:picLocks noChangeAspect="1"/>
          </p:cNvPicPr>
          <p:nvPr/>
        </p:nvPicPr>
        <p:blipFill>
          <a:blip r:embed="rId17"/>
          <a:srcRect l="3592" r="2836" t="5955" b="5955"/>
          <a:stretch>
            <a:fillRect/>
          </a:stretch>
        </p:blipFill>
        <p:spPr>
          <a:xfrm>
            <a:off x="12938760" y="6242442"/>
            <a:ext cx="658368" cy="472162"/>
          </a:xfrm>
          <a:prstGeom prst="rect">
            <a:avLst/>
          </a:prstGeom>
        </p:spPr>
      </p:pic>
      <p:sp>
        <p:nvSpPr>
          <p:cNvPr id="118" name="Text: 减轻纤维化"/>
          <p:cNvSpPr txBox="1"/>
          <p:nvPr/>
        </p:nvSpPr>
        <p:spPr>
          <a:xfrm>
            <a:off x="13688568" y="6163056"/>
            <a:ext cx="133502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减轻纤维化</a:t>
            </a:r>
          </a:p>
        </p:txBody>
      </p:sp>
      <p:pic>
        <p:nvPicPr>
          <p:cNvPr id="119" name="Medical illustration: heart" descr="heart.png"/>
          <p:cNvPicPr>
            <a:picLocks noChangeAspect="1"/>
          </p:cNvPicPr>
          <p:nvPr/>
        </p:nvPicPr>
        <p:blipFill>
          <a:blip r:embed="rId11"/>
          <a:srcRect l="8922" r="8922" t="875" b="6997"/>
          <a:stretch>
            <a:fillRect/>
          </a:stretch>
        </p:blipFill>
        <p:spPr>
          <a:xfrm>
            <a:off x="13047316" y="6839712"/>
            <a:ext cx="441255" cy="630936"/>
          </a:xfrm>
          <a:prstGeom prst="rect">
            <a:avLst/>
          </a:prstGeom>
        </p:spPr>
      </p:pic>
      <p:sp>
        <p:nvSpPr>
          <p:cNvPr id="120" name="Text: 降低心血管风险"/>
          <p:cNvSpPr txBox="1"/>
          <p:nvPr/>
        </p:nvSpPr>
        <p:spPr>
          <a:xfrm>
            <a:off x="13688568" y="6839712"/>
            <a:ext cx="1335024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23" b="1">
                <a:solidFill>
                  <a:srgbClr val="062660"/>
                </a:solidFill>
                <a:latin typeface="Noto Sans CJK SC"/>
                <a:ea typeface="Noto Sans CJK SC"/>
              </a:rPr>
              <a:t>降低心血管风险</a:t>
            </a:r>
          </a:p>
        </p:txBody>
      </p:sp>
      <p:sp>
        <p:nvSpPr>
          <p:cNvPr id="121" name="Editable graphic"/>
          <p:cNvSpPr/>
          <p:nvPr/>
        </p:nvSpPr>
        <p:spPr>
          <a:xfrm>
            <a:off x="5614416" y="5806440"/>
            <a:ext cx="2194560" cy="1700784"/>
          </a:xfrm>
          <a:prstGeom prst="roundRect">
            <a:avLst>
              <a:gd name="adj" fmla="val 12903"/>
            </a:avLst>
          </a:prstGeom>
          <a:solidFill>
            <a:srgbClr val="EDF6FF"/>
          </a:solidFill>
          <a:ln w="10795">
            <a:solidFill>
              <a:srgbClr val="A2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graphic"/>
          <p:cNvSpPr/>
          <p:nvPr/>
        </p:nvSpPr>
        <p:spPr>
          <a:xfrm>
            <a:off x="5623560" y="5815584"/>
            <a:ext cx="2176272" cy="640080"/>
          </a:xfrm>
          <a:prstGeom prst="roundRect">
            <a:avLst>
              <a:gd name="adj" fmla="val 32857"/>
            </a:avLst>
          </a:prstGeom>
          <a:ln>
            <a:noFill/>
          </a:ln>
          <a:gradFill>
            <a:gsLst>
              <a:gs pos="0">
                <a:srgbClr val="0879CF"/>
              </a:gs>
              <a:gs pos="100000">
                <a:srgbClr val="367CB6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graphic"/>
          <p:cNvSpPr/>
          <p:nvPr/>
        </p:nvSpPr>
        <p:spPr>
          <a:xfrm>
            <a:off x="5623560" y="6217920"/>
            <a:ext cx="2176272" cy="173736"/>
          </a:xfrm>
          <a:prstGeom prst="rect">
            <a:avLst/>
          </a:prstGeom>
          <a:solidFill>
            <a:srgbClr val="087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graphic"/>
          <p:cNvSpPr/>
          <p:nvPr/>
        </p:nvSpPr>
        <p:spPr>
          <a:xfrm>
            <a:off x="5596128" y="5614416"/>
            <a:ext cx="758952" cy="758952"/>
          </a:xfrm>
          <a:prstGeom prst="ellipse">
            <a:avLst/>
          </a:prstGeom>
          <a:solidFill>
            <a:srgbClr val="D8EEFE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5" name="Medical illustration: kidney" descr="kidney.png"/>
          <p:cNvPicPr>
            <a:picLocks noChangeAspect="1"/>
          </p:cNvPicPr>
          <p:nvPr/>
        </p:nvPicPr>
        <p:blipFill>
          <a:blip r:embed="rId18"/>
          <a:srcRect l="5508" r="10169" t="6799" b="6799"/>
          <a:stretch>
            <a:fillRect/>
          </a:stretch>
        </p:blipFill>
        <p:spPr>
          <a:xfrm>
            <a:off x="5774151" y="5687568"/>
            <a:ext cx="393761" cy="603504"/>
          </a:xfrm>
          <a:prstGeom prst="rect">
            <a:avLst/>
          </a:prstGeom>
        </p:spPr>
      </p:pic>
      <p:sp>
        <p:nvSpPr>
          <p:cNvPr id="126" name="Text: 肾脏保护"/>
          <p:cNvSpPr txBox="1"/>
          <p:nvPr/>
        </p:nvSpPr>
        <p:spPr>
          <a:xfrm>
            <a:off x="6419088" y="5852160"/>
            <a:ext cx="133502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FFFFFF"/>
                </a:solidFill>
                <a:latin typeface="Noto Sans CJK SC"/>
                <a:ea typeface="Noto Sans CJK SC"/>
              </a:rPr>
              <a:t>肾脏保护</a:t>
            </a:r>
          </a:p>
        </p:txBody>
      </p:sp>
      <p:sp>
        <p:nvSpPr>
          <p:cNvPr id="127" name="Editable graphic"/>
          <p:cNvSpPr/>
          <p:nvPr/>
        </p:nvSpPr>
        <p:spPr>
          <a:xfrm>
            <a:off x="5824728" y="6492240"/>
            <a:ext cx="246888" cy="356616"/>
          </a:xfrm>
          <a:prstGeom prst="downArrow">
            <a:avLst/>
          </a:prstGeom>
          <a:solidFill>
            <a:srgbClr val="087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: 延缓肾功能恶化"/>
          <p:cNvSpPr txBox="1"/>
          <p:nvPr/>
        </p:nvSpPr>
        <p:spPr>
          <a:xfrm>
            <a:off x="6172200" y="6492240"/>
            <a:ext cx="159105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2" b="1">
                <a:solidFill>
                  <a:srgbClr val="062660"/>
                </a:solidFill>
                <a:latin typeface="Noto Sans CJK SC"/>
                <a:ea typeface="Noto Sans CJK SC"/>
              </a:rPr>
              <a:t>延缓肾功能恶化</a:t>
            </a:r>
          </a:p>
        </p:txBody>
      </p:sp>
      <p:sp>
        <p:nvSpPr>
          <p:cNvPr id="129" name="Editable graphic"/>
          <p:cNvSpPr/>
          <p:nvPr/>
        </p:nvSpPr>
        <p:spPr>
          <a:xfrm>
            <a:off x="5824728" y="7004304"/>
            <a:ext cx="246888" cy="356616"/>
          </a:xfrm>
          <a:prstGeom prst="downArrow">
            <a:avLst/>
          </a:prstGeom>
          <a:solidFill>
            <a:srgbClr val="0879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: 减少尿白蛋白"/>
          <p:cNvSpPr txBox="1"/>
          <p:nvPr/>
        </p:nvSpPr>
        <p:spPr>
          <a:xfrm>
            <a:off x="6172200" y="7004304"/>
            <a:ext cx="159105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减少尿白蛋白</a:t>
            </a:r>
          </a:p>
        </p:txBody>
      </p:sp>
      <p:sp>
        <p:nvSpPr>
          <p:cNvPr id="131" name="Editable graphic"/>
          <p:cNvSpPr/>
          <p:nvPr/>
        </p:nvSpPr>
        <p:spPr>
          <a:xfrm>
            <a:off x="7918704" y="5806440"/>
            <a:ext cx="2194560" cy="1700784"/>
          </a:xfrm>
          <a:prstGeom prst="roundRect">
            <a:avLst>
              <a:gd name="adj" fmla="val 12903"/>
            </a:avLst>
          </a:prstGeom>
          <a:solidFill>
            <a:srgbClr val="FFF1F4"/>
          </a:solidFill>
          <a:ln w="10795">
            <a:solidFill>
              <a:srgbClr val="FFBA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graphic"/>
          <p:cNvSpPr/>
          <p:nvPr/>
        </p:nvSpPr>
        <p:spPr>
          <a:xfrm>
            <a:off x="7927848" y="5815584"/>
            <a:ext cx="2176272" cy="640080"/>
          </a:xfrm>
          <a:prstGeom prst="roundRect">
            <a:avLst>
              <a:gd name="adj" fmla="val 32857"/>
            </a:avLst>
          </a:prstGeom>
          <a:ln>
            <a:noFill/>
          </a:ln>
          <a:gradFill>
            <a:gsLst>
              <a:gs pos="0">
                <a:srgbClr val="D51C3D"/>
              </a:gs>
              <a:gs pos="100000">
                <a:srgbClr val="EC617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graphic"/>
          <p:cNvSpPr/>
          <p:nvPr/>
        </p:nvSpPr>
        <p:spPr>
          <a:xfrm>
            <a:off x="7927848" y="6217920"/>
            <a:ext cx="2176272" cy="173736"/>
          </a:xfrm>
          <a:prstGeom prst="rect">
            <a:avLst/>
          </a:prstGeom>
          <a:solidFill>
            <a:srgbClr val="D5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graphic"/>
          <p:cNvSpPr/>
          <p:nvPr/>
        </p:nvSpPr>
        <p:spPr>
          <a:xfrm>
            <a:off x="7900416" y="5614416"/>
            <a:ext cx="758952" cy="758952"/>
          </a:xfrm>
          <a:prstGeom prst="ellipse">
            <a:avLst/>
          </a:prstGeom>
          <a:solidFill>
            <a:srgbClr val="FFDADF"/>
          </a:solidFill>
          <a:ln w="1079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Medical illustration: heart" descr="heart.png"/>
          <p:cNvPicPr>
            <a:picLocks noChangeAspect="1"/>
          </p:cNvPicPr>
          <p:nvPr/>
        </p:nvPicPr>
        <p:blipFill>
          <a:blip r:embed="rId11"/>
          <a:srcRect l="8922" r="8922" t="875" b="6997"/>
          <a:stretch>
            <a:fillRect/>
          </a:stretch>
        </p:blipFill>
        <p:spPr>
          <a:xfrm>
            <a:off x="8064284" y="5687568"/>
            <a:ext cx="422070" cy="603504"/>
          </a:xfrm>
          <a:prstGeom prst="rect">
            <a:avLst/>
          </a:prstGeom>
        </p:spPr>
      </p:pic>
      <p:sp>
        <p:nvSpPr>
          <p:cNvPr id="136" name="Text: 心血管保护"/>
          <p:cNvSpPr txBox="1"/>
          <p:nvPr/>
        </p:nvSpPr>
        <p:spPr>
          <a:xfrm>
            <a:off x="8723376" y="5852160"/>
            <a:ext cx="1335024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53" b="1">
                <a:solidFill>
                  <a:srgbClr val="FFFFFF"/>
                </a:solidFill>
                <a:latin typeface="Noto Sans CJK SC"/>
                <a:ea typeface="Noto Sans CJK SC"/>
              </a:rPr>
              <a:t>心血管保护</a:t>
            </a:r>
          </a:p>
        </p:txBody>
      </p:sp>
      <p:sp>
        <p:nvSpPr>
          <p:cNvPr id="137" name="Editable graphic"/>
          <p:cNvSpPr/>
          <p:nvPr/>
        </p:nvSpPr>
        <p:spPr>
          <a:xfrm>
            <a:off x="8129016" y="6492240"/>
            <a:ext cx="246888" cy="356616"/>
          </a:xfrm>
          <a:prstGeom prst="downArrow">
            <a:avLst/>
          </a:prstGeom>
          <a:solidFill>
            <a:srgbClr val="D5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: 降低心衰风险"/>
          <p:cNvSpPr txBox="1"/>
          <p:nvPr/>
        </p:nvSpPr>
        <p:spPr>
          <a:xfrm>
            <a:off x="8476488" y="6492240"/>
            <a:ext cx="159105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28" b="1">
                <a:solidFill>
                  <a:srgbClr val="062660"/>
                </a:solidFill>
                <a:latin typeface="Noto Sans CJK SC"/>
                <a:ea typeface="Noto Sans CJK SC"/>
              </a:rPr>
              <a:t>降低心衰风险</a:t>
            </a:r>
          </a:p>
        </p:txBody>
      </p:sp>
      <p:sp>
        <p:nvSpPr>
          <p:cNvPr id="139" name="Editable graphic"/>
          <p:cNvSpPr/>
          <p:nvPr/>
        </p:nvSpPr>
        <p:spPr>
          <a:xfrm>
            <a:off x="8129016" y="7004304"/>
            <a:ext cx="246888" cy="356616"/>
          </a:xfrm>
          <a:prstGeom prst="downArrow">
            <a:avLst/>
          </a:prstGeom>
          <a:solidFill>
            <a:srgbClr val="D51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: 降低心血管事件"/>
          <p:cNvSpPr txBox="1"/>
          <p:nvPr/>
        </p:nvSpPr>
        <p:spPr>
          <a:xfrm>
            <a:off x="8476488" y="7004304"/>
            <a:ext cx="1591056" cy="3931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582" b="1">
                <a:solidFill>
                  <a:srgbClr val="062660"/>
                </a:solidFill>
                <a:latin typeface="Noto Sans CJK SC"/>
                <a:ea typeface="Noto Sans CJK SC"/>
              </a:rPr>
              <a:t>降低心血管事件</a:t>
            </a:r>
          </a:p>
        </p:txBody>
      </p:sp>
      <p:sp>
        <p:nvSpPr>
          <p:cNvPr id="141" name="Editable graphic"/>
          <p:cNvSpPr/>
          <p:nvPr/>
        </p:nvSpPr>
        <p:spPr>
          <a:xfrm>
            <a:off x="2862072" y="7808975"/>
            <a:ext cx="9573768" cy="640080"/>
          </a:xfrm>
          <a:prstGeom prst="roundRect">
            <a:avLst>
              <a:gd name="adj" fmla="val 31428"/>
            </a:avLst>
          </a:prstGeom>
          <a:ln w="10795">
            <a:solidFill>
              <a:srgbClr val="77ADF4"/>
            </a:solidFill>
          </a:ln>
          <a:gradFill>
            <a:gsLst>
              <a:gs pos="0">
                <a:srgbClr val="F2F8FF"/>
              </a:gs>
              <a:gs pos="100000">
                <a:srgbClr val="E4F0FF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Medical illustration: clipboard" descr="clipboard.png"/>
          <p:cNvPicPr>
            <a:picLocks noChangeAspect="1"/>
          </p:cNvPicPr>
          <p:nvPr/>
        </p:nvPicPr>
        <p:blipFill>
          <a:blip r:embed="rId19"/>
          <a:srcRect l="6557" r="6557" t="5217" b="5217"/>
          <a:stretch>
            <a:fillRect/>
          </a:stretch>
        </p:blipFill>
        <p:spPr>
          <a:xfrm>
            <a:off x="4530874" y="7845552"/>
            <a:ext cx="402291" cy="521207"/>
          </a:xfrm>
          <a:prstGeom prst="rect">
            <a:avLst/>
          </a:prstGeom>
        </p:spPr>
      </p:pic>
      <p:sp>
        <p:nvSpPr>
          <p:cNvPr id="143" name="Text: 联合治疗需监测："/>
          <p:cNvSpPr txBox="1"/>
          <p:nvPr/>
        </p:nvSpPr>
        <p:spPr>
          <a:xfrm>
            <a:off x="5212080" y="7854696"/>
            <a:ext cx="2313432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062660"/>
                </a:solidFill>
                <a:latin typeface="Noto Sans CJK SC"/>
                <a:ea typeface="Noto Sans CJK SC"/>
              </a:rPr>
              <a:t>联合治疗需监测：</a:t>
            </a:r>
          </a:p>
        </p:txBody>
      </p:sp>
      <p:sp>
        <p:nvSpPr>
          <p:cNvPr id="144" name="Text: 血钾、肾功能、血压、容量状态"/>
          <p:cNvSpPr txBox="1"/>
          <p:nvPr/>
        </p:nvSpPr>
        <p:spPr>
          <a:xfrm>
            <a:off x="7351775" y="7854696"/>
            <a:ext cx="47548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062660"/>
                </a:solidFill>
                <a:latin typeface="Noto Sans CJK SC"/>
                <a:ea typeface="Noto Sans CJK SC"/>
              </a:rPr>
              <a:t>血钾、肾功能、血压、容量状态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