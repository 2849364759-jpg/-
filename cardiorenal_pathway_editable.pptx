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根据用户图片转录重建。所有文字、容器及箭头可编辑；插图为单独图片对象。内容对应原图，未额外调整或添加药物适应证、用药建议和临床结论。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图3  基于残余风险的心肾协同管理路径"/>
          <p:cNvSpPr txBox="1"/>
          <p:nvPr/>
        </p:nvSpPr>
        <p:spPr>
          <a:xfrm>
            <a:off x="3913632" y="27432"/>
            <a:ext cx="75895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70" b="1">
                <a:solidFill>
                  <a:srgbClr val="092963"/>
                </a:solidFill>
                <a:latin typeface="Noto Sans CJK SC"/>
                <a:ea typeface="Noto Sans CJK SC"/>
              </a:rPr>
              <a:t>图3  基于残余风险的心肾协同管理路径</a:t>
            </a:r>
          </a:p>
        </p:txBody>
      </p:sp>
      <p:sp>
        <p:nvSpPr>
          <p:cNvPr id="3" name="步骤1面板"/>
          <p:cNvSpPr/>
          <p:nvPr/>
        </p:nvSpPr>
        <p:spPr>
          <a:xfrm>
            <a:off x="91440" y="667512"/>
            <a:ext cx="2715768" cy="4882896"/>
          </a:xfrm>
          <a:prstGeom prst="roundRect">
            <a:avLst>
              <a:gd name="adj" fmla="val 5387"/>
            </a:avLst>
          </a:prstGeom>
          <a:solidFill>
            <a:srgbClr val="EAF6FF"/>
          </a:solidFill>
          <a:ln w="12065">
            <a:solidFill>
              <a:srgbClr val="76B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步骤标题背景"/>
          <p:cNvSpPr/>
          <p:nvPr/>
        </p:nvSpPr>
        <p:spPr>
          <a:xfrm>
            <a:off x="100584" y="676656"/>
            <a:ext cx="2697480" cy="813816"/>
          </a:xfrm>
          <a:gradFill>
            <a:gsLst>
              <a:gs pos="0">
                <a:srgbClr val="0F64B3"/>
              </a:gs>
              <a:gs pos="100000">
                <a:srgbClr val="73B6EF"/>
              </a:gs>
            </a:gsLst>
            <a:lin ang="0" scaled="1"/>
          </a:gradFill>
          <a:prstGeom prst="roundRect">
            <a:avLst>
              <a:gd name="adj" fmla="val 17977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步骤编号1"/>
          <p:cNvSpPr/>
          <p:nvPr/>
        </p:nvSpPr>
        <p:spPr>
          <a:xfrm>
            <a:off x="192024" y="713232"/>
            <a:ext cx="502920" cy="502920"/>
          </a:xfrm>
          <a:gradFill>
            <a:gsLst>
              <a:gs pos="0">
                <a:srgbClr val="A3D4FF"/>
              </a:gs>
              <a:gs pos="100000">
                <a:srgbClr val="E8F7FF"/>
              </a:gs>
            </a:gsLst>
            <a:lin ang="5400000" scaled="1"/>
          </a:gradFill>
          <a:prstGeom prst="ellipse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"/>
          <p:cNvSpPr txBox="1"/>
          <p:nvPr/>
        </p:nvSpPr>
        <p:spPr>
          <a:xfrm>
            <a:off x="228600" y="722376"/>
            <a:ext cx="4297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0F64B3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7" name="2型糖尿病&#10;+ 糖尿病肾病"/>
          <p:cNvSpPr txBox="1"/>
          <p:nvPr/>
        </p:nvSpPr>
        <p:spPr>
          <a:xfrm>
            <a:off x="859536" y="722376"/>
            <a:ext cx="1828800" cy="740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34" b="1">
                <a:solidFill>
                  <a:srgbClr val="FFFFFF"/>
                </a:solidFill>
                <a:latin typeface="Noto Sans CJK SC"/>
                <a:ea typeface="Noto Sans CJK SC"/>
              </a:rPr>
              <a:t>2型糖尿病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34" b="1">
                <a:solidFill>
                  <a:srgbClr val="FFFFFF"/>
                </a:solidFill>
                <a:latin typeface="Noto Sans CJK SC"/>
                <a:ea typeface="Noto Sans CJK SC"/>
              </a:rPr>
              <a:t>+ 糖尿病肾病</a:t>
            </a:r>
          </a:p>
        </p:txBody>
      </p:sp>
      <p:sp>
        <p:nvSpPr>
          <p:cNvPr id="8" name="疾病与患者示意区域"/>
          <p:cNvSpPr/>
          <p:nvPr/>
        </p:nvSpPr>
        <p:spPr>
          <a:xfrm>
            <a:off x="100584" y="1472184"/>
            <a:ext cx="2706624" cy="4069080"/>
          </a:xfrm>
          <a:prstGeom prst="roundRect">
            <a:avLst>
              <a:gd name="adj" fmla="val 5405"/>
            </a:avLst>
          </a:prstGeom>
          <a:solidFill>
            <a:srgbClr val="F1FAFF"/>
          </a:solidFill>
          <a:ln w="12065">
            <a:solidFill>
              <a:srgbClr val="8DC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独立插图_patient" descr="patient.png"/>
          <p:cNvPicPr>
            <a:picLocks noChangeAspect="1"/>
          </p:cNvPicPr>
          <p:nvPr/>
        </p:nvPicPr>
        <p:blipFill>
          <a:blip r:embed="rId2"/>
          <a:srcRect l="13714" r="13714" t="4865" b="4865"/>
          <a:stretch>
            <a:fillRect/>
          </a:stretch>
        </p:blipFill>
        <p:spPr>
          <a:xfrm>
            <a:off x="182880" y="1636056"/>
            <a:ext cx="1453896" cy="3823632"/>
          </a:xfrm>
          <a:prstGeom prst="rect">
            <a:avLst/>
          </a:prstGeom>
        </p:spPr>
      </p:pic>
      <p:pic>
        <p:nvPicPr>
          <p:cNvPr id="10" name="独立插图_glucometer" descr="glucometer.png"/>
          <p:cNvPicPr>
            <a:picLocks noChangeAspect="1"/>
          </p:cNvPicPr>
          <p:nvPr/>
        </p:nvPicPr>
        <p:blipFill>
          <a:blip r:embed="rId3"/>
          <a:srcRect l="10811" r="10811" t="7869" b="7869"/>
          <a:stretch>
            <a:fillRect/>
          </a:stretch>
        </p:blipFill>
        <p:spPr>
          <a:xfrm>
            <a:off x="1655064" y="1752862"/>
            <a:ext cx="950976" cy="1404602"/>
          </a:xfrm>
          <a:prstGeom prst="rect">
            <a:avLst/>
          </a:prstGeom>
        </p:spPr>
      </p:pic>
      <p:pic>
        <p:nvPicPr>
          <p:cNvPr id="11" name="独立插图_kidneys_large" descr="kidneys_large.png"/>
          <p:cNvPicPr>
            <a:picLocks noChangeAspect="1"/>
          </p:cNvPicPr>
          <p:nvPr/>
        </p:nvPicPr>
        <p:blipFill>
          <a:blip r:embed="rId4"/>
          <a:srcRect l="4638" r="6957" t="7339" b="3670"/>
          <a:stretch>
            <a:fillRect/>
          </a:stretch>
        </p:blipFill>
        <p:spPr>
          <a:xfrm>
            <a:off x="960120" y="3598358"/>
            <a:ext cx="1801368" cy="1718682"/>
          </a:xfrm>
          <a:prstGeom prst="rect">
            <a:avLst/>
          </a:prstGeom>
        </p:spPr>
      </p:pic>
      <p:sp>
        <p:nvSpPr>
          <p:cNvPr id="12" name="步骤2面板"/>
          <p:cNvSpPr/>
          <p:nvPr/>
        </p:nvSpPr>
        <p:spPr>
          <a:xfrm>
            <a:off x="2935224" y="667512"/>
            <a:ext cx="2642616" cy="4882896"/>
          </a:xfrm>
          <a:prstGeom prst="roundRect">
            <a:avLst>
              <a:gd name="adj" fmla="val 5536"/>
            </a:avLst>
          </a:prstGeom>
          <a:solidFill>
            <a:srgbClr val="EAF6FF"/>
          </a:solidFill>
          <a:ln w="12065">
            <a:solidFill>
              <a:srgbClr val="76B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步骤标题背景"/>
          <p:cNvSpPr/>
          <p:nvPr/>
        </p:nvSpPr>
        <p:spPr>
          <a:xfrm>
            <a:off x="2944368" y="676656"/>
            <a:ext cx="2624328" cy="585216"/>
          </a:xfrm>
          <a:gradFill>
            <a:gsLst>
              <a:gs pos="0">
                <a:srgbClr val="0F64B3"/>
              </a:gs>
              <a:gs pos="100000">
                <a:srgbClr val="73B6EF"/>
              </a:gs>
            </a:gsLst>
            <a:lin ang="0" scaled="1"/>
          </a:gradFill>
          <a:prstGeom prst="roundRect">
            <a:avLst>
              <a:gd name="adj" fmla="val 25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步骤编号2"/>
          <p:cNvSpPr/>
          <p:nvPr/>
        </p:nvSpPr>
        <p:spPr>
          <a:xfrm>
            <a:off x="3035808" y="713232"/>
            <a:ext cx="502920" cy="502920"/>
          </a:xfrm>
          <a:gradFill>
            <a:gsLst>
              <a:gs pos="0">
                <a:srgbClr val="A3D4FF"/>
              </a:gs>
              <a:gs pos="100000">
                <a:srgbClr val="E8F7FF"/>
              </a:gs>
            </a:gsLst>
            <a:lin ang="5400000" scaled="1"/>
          </a:gradFill>
          <a:prstGeom prst="ellipse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2"/>
          <p:cNvSpPr txBox="1"/>
          <p:nvPr/>
        </p:nvSpPr>
        <p:spPr>
          <a:xfrm>
            <a:off x="3072384" y="722376"/>
            <a:ext cx="4297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0F64B3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6" name="基础评估"/>
          <p:cNvSpPr txBox="1"/>
          <p:nvPr/>
        </p:nvSpPr>
        <p:spPr>
          <a:xfrm>
            <a:off x="3703320" y="722376"/>
            <a:ext cx="175564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基础评估</a:t>
            </a:r>
          </a:p>
        </p:txBody>
      </p:sp>
      <p:sp>
        <p:nvSpPr>
          <p:cNvPr id="17" name="步骤3面板"/>
          <p:cNvSpPr/>
          <p:nvPr/>
        </p:nvSpPr>
        <p:spPr>
          <a:xfrm>
            <a:off x="5696712" y="667512"/>
            <a:ext cx="2779776" cy="4882896"/>
          </a:xfrm>
          <a:prstGeom prst="roundRect">
            <a:avLst>
              <a:gd name="adj" fmla="val 5263"/>
            </a:avLst>
          </a:prstGeom>
          <a:solidFill>
            <a:srgbClr val="F2FBF3"/>
          </a:solidFill>
          <a:ln w="12065">
            <a:solidFill>
              <a:srgbClr val="8FD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步骤标题背景"/>
          <p:cNvSpPr/>
          <p:nvPr/>
        </p:nvSpPr>
        <p:spPr>
          <a:xfrm>
            <a:off x="5705856" y="676656"/>
            <a:ext cx="2761488" cy="585216"/>
          </a:xfrm>
          <a:gradFill>
            <a:gsLst>
              <a:gs pos="0">
                <a:srgbClr val="22855B"/>
              </a:gs>
              <a:gs pos="100000">
                <a:srgbClr val="60BA89"/>
              </a:gs>
            </a:gsLst>
            <a:lin ang="0" scaled="1"/>
          </a:gradFill>
          <a:prstGeom prst="roundRect">
            <a:avLst>
              <a:gd name="adj" fmla="val 25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步骤编号3"/>
          <p:cNvSpPr/>
          <p:nvPr/>
        </p:nvSpPr>
        <p:spPr>
          <a:xfrm>
            <a:off x="5797296" y="713232"/>
            <a:ext cx="502920" cy="502920"/>
          </a:xfrm>
          <a:gradFill>
            <a:gsLst>
              <a:gs pos="0">
                <a:srgbClr val="A3D4FF"/>
              </a:gs>
              <a:gs pos="100000">
                <a:srgbClr val="E8F7FF"/>
              </a:gs>
            </a:gsLst>
            <a:lin ang="5400000" scaled="1"/>
          </a:gradFill>
          <a:prstGeom prst="ellipse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3"/>
          <p:cNvSpPr txBox="1"/>
          <p:nvPr/>
        </p:nvSpPr>
        <p:spPr>
          <a:xfrm>
            <a:off x="5833872" y="722376"/>
            <a:ext cx="4297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22855B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1" name="基础综合管理"/>
          <p:cNvSpPr txBox="1"/>
          <p:nvPr/>
        </p:nvSpPr>
        <p:spPr>
          <a:xfrm>
            <a:off x="6464808" y="722376"/>
            <a:ext cx="1892807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43" b="1">
                <a:solidFill>
                  <a:srgbClr val="FFFFFF"/>
                </a:solidFill>
                <a:latin typeface="Noto Sans CJK SC"/>
                <a:ea typeface="Noto Sans CJK SC"/>
              </a:rPr>
              <a:t>基础综合管理</a:t>
            </a:r>
          </a:p>
        </p:txBody>
      </p:sp>
      <p:sp>
        <p:nvSpPr>
          <p:cNvPr id="22" name="步骤4面板"/>
          <p:cNvSpPr/>
          <p:nvPr/>
        </p:nvSpPr>
        <p:spPr>
          <a:xfrm>
            <a:off x="8641080" y="667512"/>
            <a:ext cx="6547104" cy="4882896"/>
          </a:xfrm>
          <a:prstGeom prst="roundRect">
            <a:avLst>
              <a:gd name="adj" fmla="val 2996"/>
            </a:avLst>
          </a:prstGeom>
          <a:solidFill>
            <a:srgbClr val="EAF6FF"/>
          </a:solidFill>
          <a:ln w="12065">
            <a:solidFill>
              <a:srgbClr val="76B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步骤标题背景"/>
          <p:cNvSpPr/>
          <p:nvPr/>
        </p:nvSpPr>
        <p:spPr>
          <a:xfrm>
            <a:off x="8650224" y="676656"/>
            <a:ext cx="6528816" cy="585216"/>
          </a:xfrm>
          <a:gradFill>
            <a:gsLst>
              <a:gs pos="0">
                <a:srgbClr val="0F64B3"/>
              </a:gs>
              <a:gs pos="100000">
                <a:srgbClr val="73B6EF"/>
              </a:gs>
            </a:gsLst>
            <a:lin ang="0" scaled="1"/>
          </a:gradFill>
          <a:prstGeom prst="roundRect">
            <a:avLst>
              <a:gd name="adj" fmla="val 25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步骤编号4"/>
          <p:cNvSpPr/>
          <p:nvPr/>
        </p:nvSpPr>
        <p:spPr>
          <a:xfrm>
            <a:off x="8741664" y="713232"/>
            <a:ext cx="502920" cy="502920"/>
          </a:xfrm>
          <a:gradFill>
            <a:gsLst>
              <a:gs pos="0">
                <a:srgbClr val="A3D4FF"/>
              </a:gs>
              <a:gs pos="100000">
                <a:srgbClr val="E8F7FF"/>
              </a:gs>
            </a:gsLst>
            <a:lin ang="5400000" scaled="1"/>
          </a:gradFill>
          <a:prstGeom prst="ellipse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4"/>
          <p:cNvSpPr txBox="1"/>
          <p:nvPr/>
        </p:nvSpPr>
        <p:spPr>
          <a:xfrm>
            <a:off x="8778240" y="722376"/>
            <a:ext cx="4297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0F64B3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6" name="基于残余风险的个体化强化治疗"/>
          <p:cNvSpPr txBox="1"/>
          <p:nvPr/>
        </p:nvSpPr>
        <p:spPr>
          <a:xfrm>
            <a:off x="9409176" y="722376"/>
            <a:ext cx="5660136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基于残余风险的个体化强化治疗</a:t>
            </a:r>
          </a:p>
        </p:txBody>
      </p:sp>
      <p:sp>
        <p:nvSpPr>
          <p:cNvPr id="27" name="基础评估_eGFR"/>
          <p:cNvSpPr/>
          <p:nvPr/>
        </p:nvSpPr>
        <p:spPr>
          <a:xfrm>
            <a:off x="3063240" y="1389888"/>
            <a:ext cx="2377440" cy="658368"/>
          </a:xfrm>
          <a:prstGeom prst="roundRect">
            <a:avLst>
              <a:gd name="adj" fmla="val 22222"/>
            </a:avLst>
          </a:prstGeom>
          <a:solidFill>
            <a:srgbClr val="EBF7FF"/>
          </a:solidFill>
          <a:ln w="12065">
            <a:solidFill>
              <a:srgbClr val="AC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独立插图_kidneys_pair" descr="kidneys_pair.png"/>
          <p:cNvPicPr>
            <a:picLocks noChangeAspect="1"/>
          </p:cNvPicPr>
          <p:nvPr/>
        </p:nvPicPr>
        <p:blipFill>
          <a:blip r:embed="rId5"/>
          <a:srcRect l="9717" r="9717" t="10860" b="10860"/>
          <a:stretch>
            <a:fillRect/>
          </a:stretch>
        </p:blipFill>
        <p:spPr>
          <a:xfrm>
            <a:off x="3191256" y="1460719"/>
            <a:ext cx="594360" cy="516704"/>
          </a:xfrm>
          <a:prstGeom prst="rect">
            <a:avLst/>
          </a:prstGeom>
        </p:spPr>
      </p:pic>
      <p:sp>
        <p:nvSpPr>
          <p:cNvPr id="29" name="eGFR"/>
          <p:cNvSpPr txBox="1"/>
          <p:nvPr/>
        </p:nvSpPr>
        <p:spPr>
          <a:xfrm>
            <a:off x="3895344" y="1444752"/>
            <a:ext cx="10972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9295B"/>
                </a:solidFill>
                <a:latin typeface="Noto Sans CJK SC"/>
                <a:ea typeface="Noto Sans CJK SC"/>
              </a:rPr>
              <a:t>eGFR</a:t>
            </a:r>
          </a:p>
        </p:txBody>
      </p:sp>
      <p:sp>
        <p:nvSpPr>
          <p:cNvPr id="30" name="基础评估_尿白蛋白/UACR"/>
          <p:cNvSpPr/>
          <p:nvPr/>
        </p:nvSpPr>
        <p:spPr>
          <a:xfrm>
            <a:off x="3063240" y="2167128"/>
            <a:ext cx="2377440" cy="667512"/>
          </a:xfrm>
          <a:prstGeom prst="roundRect">
            <a:avLst>
              <a:gd name="adj" fmla="val 21917"/>
            </a:avLst>
          </a:prstGeom>
          <a:solidFill>
            <a:srgbClr val="EBF7FF"/>
          </a:solidFill>
          <a:ln w="12065">
            <a:solidFill>
              <a:srgbClr val="AC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独立插图_urine" descr="urine.png"/>
          <p:cNvPicPr>
            <a:picLocks noChangeAspect="1"/>
          </p:cNvPicPr>
          <p:nvPr/>
        </p:nvPicPr>
        <p:blipFill>
          <a:blip r:embed="rId6"/>
          <a:srcRect l="11321" r="11321" t="8439" b="10127"/>
          <a:stretch>
            <a:fillRect/>
          </a:stretch>
        </p:blipFill>
        <p:spPr>
          <a:xfrm>
            <a:off x="3251450" y="2221992"/>
            <a:ext cx="473971" cy="557784"/>
          </a:xfrm>
          <a:prstGeom prst="rect">
            <a:avLst/>
          </a:prstGeom>
        </p:spPr>
      </p:pic>
      <p:sp>
        <p:nvSpPr>
          <p:cNvPr id="32" name="尿白蛋白/&#10;UACR"/>
          <p:cNvSpPr txBox="1"/>
          <p:nvPr/>
        </p:nvSpPr>
        <p:spPr>
          <a:xfrm>
            <a:off x="3895344" y="2221992"/>
            <a:ext cx="1097280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9295B"/>
                </a:solidFill>
                <a:latin typeface="Noto Sans CJK SC"/>
                <a:ea typeface="Noto Sans CJK SC"/>
              </a:rPr>
              <a:t>尿白蛋白/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9295B"/>
                </a:solidFill>
                <a:latin typeface="Noto Sans CJK SC"/>
                <a:ea typeface="Noto Sans CJK SC"/>
              </a:rPr>
              <a:t>UACR</a:t>
            </a:r>
          </a:p>
        </p:txBody>
      </p:sp>
      <p:sp>
        <p:nvSpPr>
          <p:cNvPr id="33" name="基础评估_心力衰竭风险"/>
          <p:cNvSpPr/>
          <p:nvPr/>
        </p:nvSpPr>
        <p:spPr>
          <a:xfrm>
            <a:off x="3063240" y="2990088"/>
            <a:ext cx="2377440" cy="749808"/>
          </a:xfrm>
          <a:prstGeom prst="roundRect">
            <a:avLst>
              <a:gd name="adj" fmla="val 19512"/>
            </a:avLst>
          </a:prstGeom>
          <a:solidFill>
            <a:srgbClr val="EBF7FF"/>
          </a:solidFill>
          <a:ln w="12065">
            <a:solidFill>
              <a:srgbClr val="AC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独立插图_heart" descr="heart.png"/>
          <p:cNvPicPr>
            <a:picLocks noChangeAspect="1"/>
          </p:cNvPicPr>
          <p:nvPr/>
        </p:nvPicPr>
        <p:blipFill>
          <a:blip r:embed="rId7"/>
          <a:srcRect l="10435" r="10435" t="3636" b="7273"/>
          <a:stretch>
            <a:fillRect/>
          </a:stretch>
        </p:blipFill>
        <p:spPr>
          <a:xfrm>
            <a:off x="3250692" y="3044952"/>
            <a:ext cx="475488" cy="640080"/>
          </a:xfrm>
          <a:prstGeom prst="rect">
            <a:avLst/>
          </a:prstGeom>
        </p:spPr>
      </p:pic>
      <p:sp>
        <p:nvSpPr>
          <p:cNvPr id="35" name="心力衰竭风险"/>
          <p:cNvSpPr txBox="1"/>
          <p:nvPr/>
        </p:nvSpPr>
        <p:spPr>
          <a:xfrm>
            <a:off x="3895344" y="3044952"/>
            <a:ext cx="10972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09295B"/>
                </a:solidFill>
                <a:latin typeface="Noto Sans CJK SC"/>
                <a:ea typeface="Noto Sans CJK SC"/>
              </a:rPr>
              <a:t>心力衰竭风险</a:t>
            </a:r>
          </a:p>
        </p:txBody>
      </p:sp>
      <p:sp>
        <p:nvSpPr>
          <p:cNvPr id="36" name="基础评估_肥胖/ASCVD风险"/>
          <p:cNvSpPr/>
          <p:nvPr/>
        </p:nvSpPr>
        <p:spPr>
          <a:xfrm>
            <a:off x="3063240" y="3858768"/>
            <a:ext cx="2377440" cy="731520"/>
          </a:xfrm>
          <a:prstGeom prst="roundRect">
            <a:avLst>
              <a:gd name="adj" fmla="val 20000"/>
            </a:avLst>
          </a:prstGeom>
          <a:solidFill>
            <a:srgbClr val="EBF7FF"/>
          </a:solidFill>
          <a:ln w="12065">
            <a:solidFill>
              <a:srgbClr val="AC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独立插图_obesity" descr="obesity.png"/>
          <p:cNvPicPr>
            <a:picLocks noChangeAspect="1"/>
          </p:cNvPicPr>
          <p:nvPr/>
        </p:nvPicPr>
        <p:blipFill>
          <a:blip r:embed="rId8"/>
          <a:srcRect l="9677" r="9677" t="8791" b="7326"/>
          <a:stretch>
            <a:fillRect/>
          </a:stretch>
        </p:blipFill>
        <p:spPr>
          <a:xfrm>
            <a:off x="3216911" y="3913632"/>
            <a:ext cx="543049" cy="621792"/>
          </a:xfrm>
          <a:prstGeom prst="rect">
            <a:avLst/>
          </a:prstGeom>
        </p:spPr>
      </p:pic>
      <p:sp>
        <p:nvSpPr>
          <p:cNvPr id="38" name="肥胖/ASCVD&#10;风险"/>
          <p:cNvSpPr txBox="1"/>
          <p:nvPr/>
        </p:nvSpPr>
        <p:spPr>
          <a:xfrm>
            <a:off x="3895344" y="3913632"/>
            <a:ext cx="1097280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1">
                <a:solidFill>
                  <a:srgbClr val="09295B"/>
                </a:solidFill>
                <a:latin typeface="Noto Sans CJK SC"/>
                <a:ea typeface="Noto Sans CJK SC"/>
              </a:rPr>
              <a:t>肥胖/ASCVD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1">
                <a:solidFill>
                  <a:srgbClr val="09295B"/>
                </a:solidFill>
                <a:latin typeface="Noto Sans CJK SC"/>
                <a:ea typeface="Noto Sans CJK SC"/>
              </a:rPr>
              <a:t>风险</a:t>
            </a:r>
          </a:p>
        </p:txBody>
      </p:sp>
      <p:sp>
        <p:nvSpPr>
          <p:cNvPr id="39" name="基础评估_血压与血脂"/>
          <p:cNvSpPr/>
          <p:nvPr/>
        </p:nvSpPr>
        <p:spPr>
          <a:xfrm>
            <a:off x="3063240" y="4718304"/>
            <a:ext cx="2377440" cy="758952"/>
          </a:xfrm>
          <a:prstGeom prst="roundRect">
            <a:avLst>
              <a:gd name="adj" fmla="val 19277"/>
            </a:avLst>
          </a:prstGeom>
          <a:solidFill>
            <a:srgbClr val="EBF7FF"/>
          </a:solidFill>
          <a:ln w="12065">
            <a:solidFill>
              <a:srgbClr val="AC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独立插图_bp" descr="bp.png"/>
          <p:cNvPicPr>
            <a:picLocks noChangeAspect="1"/>
          </p:cNvPicPr>
          <p:nvPr/>
        </p:nvPicPr>
        <p:blipFill>
          <a:blip r:embed="rId9"/>
          <a:srcRect l="8392" r="8392" t="9836" b="9836"/>
          <a:stretch>
            <a:fillRect/>
          </a:stretch>
        </p:blipFill>
        <p:spPr>
          <a:xfrm>
            <a:off x="3191256" y="4853043"/>
            <a:ext cx="594360" cy="489472"/>
          </a:xfrm>
          <a:prstGeom prst="rect">
            <a:avLst/>
          </a:prstGeom>
        </p:spPr>
      </p:pic>
      <p:sp>
        <p:nvSpPr>
          <p:cNvPr id="41" name="血压与血脂"/>
          <p:cNvSpPr txBox="1"/>
          <p:nvPr/>
        </p:nvSpPr>
        <p:spPr>
          <a:xfrm>
            <a:off x="3895344" y="4773168"/>
            <a:ext cx="1097280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69" b="1">
                <a:solidFill>
                  <a:srgbClr val="09295B"/>
                </a:solidFill>
                <a:latin typeface="Noto Sans CJK SC"/>
                <a:ea typeface="Noto Sans CJK SC"/>
              </a:rPr>
              <a:t>血压与血脂</a:t>
            </a:r>
          </a:p>
        </p:txBody>
      </p:sp>
      <p:pic>
        <p:nvPicPr>
          <p:cNvPr id="42" name="独立插图_chart" descr="chart.png"/>
          <p:cNvPicPr>
            <a:picLocks noChangeAspect="1"/>
          </p:cNvPicPr>
          <p:nvPr/>
        </p:nvPicPr>
        <p:blipFill>
          <a:blip r:embed="rId10"/>
          <a:srcRect l="10256" r="10256" t="6633" b="12245"/>
          <a:stretch>
            <a:fillRect/>
          </a:stretch>
        </p:blipFill>
        <p:spPr>
          <a:xfrm>
            <a:off x="4855464" y="1515175"/>
            <a:ext cx="466343" cy="398648"/>
          </a:xfrm>
          <a:prstGeom prst="rect">
            <a:avLst/>
          </a:prstGeom>
        </p:spPr>
      </p:pic>
      <p:pic>
        <p:nvPicPr>
          <p:cNvPr id="43" name="独立插图_urine_dots" descr="urine_dots.png"/>
          <p:cNvPicPr>
            <a:picLocks noChangeAspect="1"/>
          </p:cNvPicPr>
          <p:nvPr/>
        </p:nvPicPr>
        <p:blipFill>
          <a:blip r:embed="rId11"/>
          <a:srcRect l="12245" r="12245" t="12308" b="12308"/>
          <a:stretch>
            <a:fillRect/>
          </a:stretch>
        </p:blipFill>
        <p:spPr>
          <a:xfrm>
            <a:off x="4928616" y="2328445"/>
            <a:ext cx="384048" cy="381453"/>
          </a:xfrm>
          <a:prstGeom prst="rect">
            <a:avLst/>
          </a:prstGeom>
        </p:spPr>
      </p:pic>
      <p:pic>
        <p:nvPicPr>
          <p:cNvPr id="44" name="独立插图_ecg" descr="ecg.png"/>
          <p:cNvPicPr>
            <a:picLocks noChangeAspect="1"/>
          </p:cNvPicPr>
          <p:nvPr/>
        </p:nvPicPr>
        <p:blipFill>
          <a:blip r:embed="rId12"/>
          <a:srcRect l="8054" r="8054" t="6000" b="12000"/>
          <a:stretch>
            <a:fillRect/>
          </a:stretch>
        </p:blipFill>
        <p:spPr>
          <a:xfrm>
            <a:off x="5010912" y="3264737"/>
            <a:ext cx="347472" cy="227941"/>
          </a:xfrm>
          <a:prstGeom prst="rect">
            <a:avLst/>
          </a:prstGeom>
        </p:spPr>
      </p:pic>
      <p:pic>
        <p:nvPicPr>
          <p:cNvPr id="45" name="独立插图_gauge" descr="gauge.png"/>
          <p:cNvPicPr>
            <a:picLocks noChangeAspect="1"/>
          </p:cNvPicPr>
          <p:nvPr/>
        </p:nvPicPr>
        <p:blipFill>
          <a:blip r:embed="rId13"/>
          <a:srcRect l="8824" r="8824" t="14371" b="14371"/>
          <a:stretch>
            <a:fillRect/>
          </a:stretch>
        </p:blipFill>
        <p:spPr>
          <a:xfrm>
            <a:off x="4956048" y="4115514"/>
            <a:ext cx="393192" cy="208883"/>
          </a:xfrm>
          <a:prstGeom prst="rect">
            <a:avLst/>
          </a:prstGeom>
        </p:spPr>
      </p:pic>
      <p:pic>
        <p:nvPicPr>
          <p:cNvPr id="46" name="独立插图_lipids" descr="lipids.png"/>
          <p:cNvPicPr>
            <a:picLocks noChangeAspect="1"/>
          </p:cNvPicPr>
          <p:nvPr/>
        </p:nvPicPr>
        <p:blipFill>
          <a:blip r:embed="rId14"/>
          <a:srcRect l="8333" r="8333" t="8374" b="9360"/>
          <a:stretch>
            <a:fillRect/>
          </a:stretch>
        </p:blipFill>
        <p:spPr>
          <a:xfrm>
            <a:off x="4919472" y="4941893"/>
            <a:ext cx="448056" cy="311772"/>
          </a:xfrm>
          <a:prstGeom prst="rect">
            <a:avLst/>
          </a:prstGeom>
        </p:spPr>
      </p:pic>
      <p:sp>
        <p:nvSpPr>
          <p:cNvPr id="47" name="基础管理_个体化控糖"/>
          <p:cNvSpPr/>
          <p:nvPr/>
        </p:nvSpPr>
        <p:spPr>
          <a:xfrm>
            <a:off x="5833872" y="1417320"/>
            <a:ext cx="2505456" cy="841248"/>
          </a:xfrm>
          <a:prstGeom prst="roundRect">
            <a:avLst>
              <a:gd name="adj" fmla="val 17391"/>
            </a:avLst>
          </a:prstGeom>
          <a:solidFill>
            <a:srgbClr val="F1FBF4"/>
          </a:solidFill>
          <a:ln w="12065">
            <a:solidFill>
              <a:srgbClr val="A7D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独立插图_insulin" descr="insulin.png"/>
          <p:cNvPicPr>
            <a:picLocks noChangeAspect="1"/>
          </p:cNvPicPr>
          <p:nvPr/>
        </p:nvPicPr>
        <p:blipFill>
          <a:blip r:embed="rId15"/>
          <a:srcRect l="6094" r="6648" t="10891" b="11881"/>
          <a:stretch>
            <a:fillRect/>
          </a:stretch>
        </p:blipFill>
        <p:spPr>
          <a:xfrm>
            <a:off x="5897880" y="1663598"/>
            <a:ext cx="704088" cy="348691"/>
          </a:xfrm>
          <a:prstGeom prst="rect">
            <a:avLst/>
          </a:prstGeom>
        </p:spPr>
      </p:pic>
      <p:sp>
        <p:nvSpPr>
          <p:cNvPr id="49" name="个体化控糖"/>
          <p:cNvSpPr txBox="1"/>
          <p:nvPr/>
        </p:nvSpPr>
        <p:spPr>
          <a:xfrm>
            <a:off x="6638544" y="1481328"/>
            <a:ext cx="1618488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9295B"/>
                </a:solidFill>
                <a:latin typeface="Noto Sans CJK SC"/>
                <a:ea typeface="Noto Sans CJK SC"/>
              </a:rPr>
              <a:t>个体化控糖</a:t>
            </a:r>
          </a:p>
        </p:txBody>
      </p:sp>
      <p:sp>
        <p:nvSpPr>
          <p:cNvPr id="50" name="基础管理_ACEI/ARB"/>
          <p:cNvSpPr/>
          <p:nvPr/>
        </p:nvSpPr>
        <p:spPr>
          <a:xfrm>
            <a:off x="5833872" y="2414016"/>
            <a:ext cx="2505456" cy="868680"/>
          </a:xfrm>
          <a:prstGeom prst="roundRect">
            <a:avLst>
              <a:gd name="adj" fmla="val 16842"/>
            </a:avLst>
          </a:prstGeom>
          <a:solidFill>
            <a:srgbClr val="F1FBF4"/>
          </a:solidFill>
          <a:ln w="12065">
            <a:solidFill>
              <a:srgbClr val="A7D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独立插图_capsule" descr="capsule.png"/>
          <p:cNvPicPr>
            <a:picLocks noChangeAspect="1"/>
          </p:cNvPicPr>
          <p:nvPr/>
        </p:nvPicPr>
        <p:blipFill>
          <a:blip r:embed="rId16"/>
          <a:srcRect l="9600" r="9600" t="10837" b="2463"/>
          <a:stretch>
            <a:fillRect/>
          </a:stretch>
        </p:blipFill>
        <p:spPr>
          <a:xfrm>
            <a:off x="5897880" y="2541624"/>
            <a:ext cx="704088" cy="613462"/>
          </a:xfrm>
          <a:prstGeom prst="rect">
            <a:avLst/>
          </a:prstGeom>
        </p:spPr>
      </p:pic>
      <p:sp>
        <p:nvSpPr>
          <p:cNvPr id="52" name="ACEI/ARB"/>
          <p:cNvSpPr txBox="1"/>
          <p:nvPr/>
        </p:nvSpPr>
        <p:spPr>
          <a:xfrm>
            <a:off x="6638544" y="2478024"/>
            <a:ext cx="1618488" cy="740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9295B"/>
                </a:solidFill>
                <a:latin typeface="Noto Sans CJK SC"/>
                <a:ea typeface="Noto Sans CJK SC"/>
              </a:rPr>
              <a:t>ACEI/ARB</a:t>
            </a:r>
          </a:p>
        </p:txBody>
      </p:sp>
      <p:sp>
        <p:nvSpPr>
          <p:cNvPr id="53" name="基础管理_调脂"/>
          <p:cNvSpPr/>
          <p:nvPr/>
        </p:nvSpPr>
        <p:spPr>
          <a:xfrm>
            <a:off x="5833872" y="3410712"/>
            <a:ext cx="2505456" cy="905256"/>
          </a:xfrm>
          <a:prstGeom prst="roundRect">
            <a:avLst>
              <a:gd name="adj" fmla="val 16161"/>
            </a:avLst>
          </a:prstGeom>
          <a:solidFill>
            <a:srgbClr val="F1FBF4"/>
          </a:solidFill>
          <a:ln w="12065">
            <a:solidFill>
              <a:srgbClr val="A7D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独立插图_yellowpill" descr="yellowpill.png"/>
          <p:cNvPicPr>
            <a:picLocks noChangeAspect="1"/>
          </p:cNvPicPr>
          <p:nvPr/>
        </p:nvPicPr>
        <p:blipFill>
          <a:blip r:embed="rId17"/>
          <a:srcRect l="10000" r="10000" t="12060" b="8543"/>
          <a:stretch>
            <a:fillRect/>
          </a:stretch>
        </p:blipFill>
        <p:spPr>
          <a:xfrm>
            <a:off x="5897880" y="3573637"/>
            <a:ext cx="704088" cy="579405"/>
          </a:xfrm>
          <a:prstGeom prst="rect">
            <a:avLst/>
          </a:prstGeom>
        </p:spPr>
      </p:pic>
      <p:sp>
        <p:nvSpPr>
          <p:cNvPr id="55" name="调脂"/>
          <p:cNvSpPr txBox="1"/>
          <p:nvPr/>
        </p:nvSpPr>
        <p:spPr>
          <a:xfrm>
            <a:off x="6638544" y="3474720"/>
            <a:ext cx="1618488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9295B"/>
                </a:solidFill>
                <a:latin typeface="Noto Sans CJK SC"/>
                <a:ea typeface="Noto Sans CJK SC"/>
              </a:rPr>
              <a:t>调脂</a:t>
            </a:r>
          </a:p>
        </p:txBody>
      </p:sp>
      <p:sp>
        <p:nvSpPr>
          <p:cNvPr id="56" name="基础管理_生活方式干预"/>
          <p:cNvSpPr/>
          <p:nvPr/>
        </p:nvSpPr>
        <p:spPr>
          <a:xfrm>
            <a:off x="5833872" y="4480560"/>
            <a:ext cx="2505456" cy="960120"/>
          </a:xfrm>
          <a:prstGeom prst="roundRect">
            <a:avLst>
              <a:gd name="adj" fmla="val 15238"/>
            </a:avLst>
          </a:prstGeom>
          <a:solidFill>
            <a:srgbClr val="F1FBF4"/>
          </a:solidFill>
          <a:ln w="12065">
            <a:solidFill>
              <a:srgbClr val="A7D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独立插图_runner" descr="runner.png"/>
          <p:cNvPicPr>
            <a:picLocks noChangeAspect="1"/>
          </p:cNvPicPr>
          <p:nvPr/>
        </p:nvPicPr>
        <p:blipFill>
          <a:blip r:embed="rId18"/>
          <a:srcRect l="9160" r="9160" t="397" b="9524"/>
          <a:stretch>
            <a:fillRect/>
          </a:stretch>
        </p:blipFill>
        <p:spPr>
          <a:xfrm>
            <a:off x="5897880" y="4587190"/>
            <a:ext cx="704088" cy="746859"/>
          </a:xfrm>
          <a:prstGeom prst="rect">
            <a:avLst/>
          </a:prstGeom>
        </p:spPr>
      </p:pic>
      <p:sp>
        <p:nvSpPr>
          <p:cNvPr id="58" name="生活方式干预"/>
          <p:cNvSpPr txBox="1"/>
          <p:nvPr/>
        </p:nvSpPr>
        <p:spPr>
          <a:xfrm>
            <a:off x="6638544" y="4544568"/>
            <a:ext cx="161848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9295B"/>
                </a:solidFill>
                <a:latin typeface="Noto Sans CJK SC"/>
                <a:ea typeface="Noto Sans CJK SC"/>
              </a:rPr>
              <a:t>生活方式干预</a:t>
            </a:r>
          </a:p>
        </p:txBody>
      </p:sp>
      <p:pic>
        <p:nvPicPr>
          <p:cNvPr id="59" name="独立插图_chart" descr="chart.png"/>
          <p:cNvPicPr>
            <a:picLocks noChangeAspect="1"/>
          </p:cNvPicPr>
          <p:nvPr/>
        </p:nvPicPr>
        <p:blipFill>
          <a:blip r:embed="rId10"/>
          <a:srcRect l="10256" r="10256" t="6633" b="12245"/>
          <a:stretch>
            <a:fillRect/>
          </a:stretch>
        </p:blipFill>
        <p:spPr>
          <a:xfrm>
            <a:off x="7790688" y="1617013"/>
            <a:ext cx="420624" cy="359565"/>
          </a:xfrm>
          <a:prstGeom prst="rect">
            <a:avLst/>
          </a:prstGeom>
        </p:spPr>
      </p:pic>
      <p:pic>
        <p:nvPicPr>
          <p:cNvPr id="60" name="独立插图_kidney" descr="kidney.png"/>
          <p:cNvPicPr>
            <a:picLocks noChangeAspect="1"/>
          </p:cNvPicPr>
          <p:nvPr/>
        </p:nvPicPr>
        <p:blipFill>
          <a:blip r:embed="rId19"/>
          <a:srcRect l="12903" r="12903" t="2871" b="5742"/>
          <a:stretch>
            <a:fillRect/>
          </a:stretch>
        </p:blipFill>
        <p:spPr>
          <a:xfrm>
            <a:off x="7763256" y="2524572"/>
            <a:ext cx="448056" cy="620135"/>
          </a:xfrm>
          <a:prstGeom prst="rect">
            <a:avLst/>
          </a:prstGeom>
        </p:spPr>
      </p:pic>
      <p:pic>
        <p:nvPicPr>
          <p:cNvPr id="61" name="独立插图_artery" descr="artery.png"/>
          <p:cNvPicPr>
            <a:picLocks noChangeAspect="1"/>
          </p:cNvPicPr>
          <p:nvPr/>
        </p:nvPicPr>
        <p:blipFill>
          <a:blip r:embed="rId20"/>
          <a:srcRect l="6540" r="4360" t="4183" b="9125"/>
          <a:stretch>
            <a:fillRect/>
          </a:stretch>
        </p:blipFill>
        <p:spPr>
          <a:xfrm>
            <a:off x="7280007" y="3529584"/>
            <a:ext cx="957352" cy="667512"/>
          </a:xfrm>
          <a:prstGeom prst="rect">
            <a:avLst/>
          </a:prstGeom>
        </p:spPr>
      </p:pic>
      <p:pic>
        <p:nvPicPr>
          <p:cNvPr id="62" name="独立插图_vegetables" descr="vegetables.png"/>
          <p:cNvPicPr>
            <a:picLocks noChangeAspect="1"/>
          </p:cNvPicPr>
          <p:nvPr/>
        </p:nvPicPr>
        <p:blipFill>
          <a:blip r:embed="rId21"/>
          <a:srcRect l="4145" r="4404" t="10909" b="10909"/>
          <a:stretch>
            <a:fillRect/>
          </a:stretch>
        </p:blipFill>
        <p:spPr>
          <a:xfrm>
            <a:off x="6996435" y="4873752"/>
            <a:ext cx="975856" cy="475488"/>
          </a:xfrm>
          <a:prstGeom prst="rect">
            <a:avLst/>
          </a:prstGeom>
        </p:spPr>
      </p:pic>
      <p:sp>
        <p:nvSpPr>
          <p:cNvPr id="63" name="流程右箭头"/>
          <p:cNvSpPr/>
          <p:nvPr/>
        </p:nvSpPr>
        <p:spPr>
          <a:xfrm>
            <a:off x="2770632" y="2889504"/>
            <a:ext cx="292608" cy="466344"/>
          </a:xfrm>
          <a:gradFill>
            <a:gsLst>
              <a:gs pos="0">
                <a:srgbClr val="C5E9FF"/>
              </a:gs>
              <a:gs pos="100000">
                <a:srgbClr val="238EE8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流程右箭头"/>
          <p:cNvSpPr/>
          <p:nvPr/>
        </p:nvSpPr>
        <p:spPr>
          <a:xfrm>
            <a:off x="5532120" y="2889504"/>
            <a:ext cx="292608" cy="466344"/>
          </a:xfrm>
          <a:gradFill>
            <a:gsLst>
              <a:gs pos="0">
                <a:srgbClr val="C5E9FF"/>
              </a:gs>
              <a:gs pos="100000">
                <a:srgbClr val="238EE8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风险分支A"/>
          <p:cNvSpPr/>
          <p:nvPr/>
        </p:nvSpPr>
        <p:spPr>
          <a:xfrm>
            <a:off x="8741664" y="1353312"/>
            <a:ext cx="1783080" cy="1179576"/>
          </a:xfrm>
          <a:prstGeom prst="roundRect">
            <a:avLst>
              <a:gd name="adj" fmla="val 12403"/>
            </a:avLst>
          </a:prstGeom>
          <a:solidFill>
            <a:srgbClr val="FFF5E9"/>
          </a:solidFill>
          <a:ln w="12065">
            <a:solidFill>
              <a:srgbClr val="FF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分支A药物治疗"/>
          <p:cNvSpPr/>
          <p:nvPr/>
        </p:nvSpPr>
        <p:spPr>
          <a:xfrm>
            <a:off x="10735056" y="1353312"/>
            <a:ext cx="1773936" cy="1179576"/>
          </a:xfrm>
          <a:prstGeom prst="roundRect">
            <a:avLst>
              <a:gd name="adj" fmla="val 12403"/>
            </a:avLst>
          </a:prstGeom>
          <a:solidFill>
            <a:srgbClr val="FFF5E9"/>
          </a:solidFill>
          <a:ln w="12065">
            <a:solidFill>
              <a:srgbClr val="FF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分支A治疗获益"/>
          <p:cNvSpPr/>
          <p:nvPr/>
        </p:nvSpPr>
        <p:spPr>
          <a:xfrm>
            <a:off x="12728448" y="1353312"/>
            <a:ext cx="2386584" cy="1179576"/>
          </a:xfrm>
          <a:prstGeom prst="roundRect">
            <a:avLst>
              <a:gd name="adj" fmla="val 12403"/>
            </a:avLst>
          </a:prstGeom>
          <a:solidFill>
            <a:srgbClr val="FFF5E9"/>
          </a:solidFill>
          <a:ln w="12065">
            <a:solidFill>
              <a:srgbClr val="FF9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治疗分支A"/>
          <p:cNvSpPr/>
          <p:nvPr/>
        </p:nvSpPr>
        <p:spPr>
          <a:xfrm>
            <a:off x="8842248" y="1417320"/>
            <a:ext cx="411480" cy="411480"/>
          </a:xfrm>
          <a:prstGeom prst="ellipse">
            <a:avLst/>
          </a:prstGeom>
          <a:solidFill>
            <a:srgbClr val="F36600"/>
          </a:solidFill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"/>
          <p:cNvSpPr txBox="1"/>
          <p:nvPr/>
        </p:nvSpPr>
        <p:spPr>
          <a:xfrm>
            <a:off x="8878824" y="1426464"/>
            <a:ext cx="338328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>
                <a:solidFill>
                  <a:srgbClr val="FFFFFF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70" name="eGFR下降快&#10;或心衰风险高"/>
          <p:cNvSpPr txBox="1"/>
          <p:nvPr/>
        </p:nvSpPr>
        <p:spPr>
          <a:xfrm>
            <a:off x="9345168" y="1399032"/>
            <a:ext cx="1106424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5" b="1">
                <a:solidFill>
                  <a:srgbClr val="F36600"/>
                </a:solidFill>
                <a:latin typeface="Noto Sans CJK SC"/>
                <a:ea typeface="Noto Sans CJK SC"/>
              </a:rPr>
              <a:t>eGFR下降快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5" b="1">
                <a:solidFill>
                  <a:srgbClr val="F36600"/>
                </a:solidFill>
                <a:latin typeface="Noto Sans CJK SC"/>
                <a:ea typeface="Noto Sans CJK SC"/>
              </a:rPr>
              <a:t>或心衰风险高</a:t>
            </a:r>
          </a:p>
        </p:txBody>
      </p:sp>
      <p:sp>
        <p:nvSpPr>
          <p:cNvPr id="71" name="优先考虑&#10;SGLT2抑制剂"/>
          <p:cNvSpPr txBox="1"/>
          <p:nvPr/>
        </p:nvSpPr>
        <p:spPr>
          <a:xfrm>
            <a:off x="10826496" y="1399032"/>
            <a:ext cx="1591056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36600"/>
                </a:solidFill>
                <a:latin typeface="Noto Sans CJK SC"/>
                <a:ea typeface="Noto Sans CJK SC"/>
              </a:rPr>
              <a:t>优先考虑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36600"/>
                </a:solidFill>
                <a:latin typeface="Noto Sans CJK SC"/>
                <a:ea typeface="Noto Sans CJK SC"/>
              </a:rPr>
              <a:t>SGLT2抑制剂</a:t>
            </a:r>
          </a:p>
        </p:txBody>
      </p:sp>
      <p:sp>
        <p:nvSpPr>
          <p:cNvPr id="72" name="流程右箭头"/>
          <p:cNvSpPr/>
          <p:nvPr/>
        </p:nvSpPr>
        <p:spPr>
          <a:xfrm>
            <a:off x="8458200" y="1664208"/>
            <a:ext cx="292608" cy="429768"/>
          </a:xfrm>
          <a:gradFill>
            <a:gsLst>
              <a:gs pos="0">
                <a:srgbClr val="C5E9FF"/>
              </a:gs>
              <a:gs pos="100000">
                <a:srgbClr val="F36600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流程右箭头"/>
          <p:cNvSpPr/>
          <p:nvPr/>
        </p:nvSpPr>
        <p:spPr>
          <a:xfrm>
            <a:off x="10506456" y="1709928"/>
            <a:ext cx="274320" cy="402336"/>
          </a:xfrm>
          <a:gradFill>
            <a:gsLst>
              <a:gs pos="0">
                <a:srgbClr val="C5E9FF"/>
              </a:gs>
              <a:gs pos="100000">
                <a:srgbClr val="F36600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流程右箭头"/>
          <p:cNvSpPr/>
          <p:nvPr/>
        </p:nvSpPr>
        <p:spPr>
          <a:xfrm>
            <a:off x="12481560" y="1709928"/>
            <a:ext cx="283464" cy="402336"/>
          </a:xfrm>
          <a:gradFill>
            <a:gsLst>
              <a:gs pos="0">
                <a:srgbClr val="C5E9FF"/>
              </a:gs>
              <a:gs pos="100000">
                <a:srgbClr val="F36600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风险分支B"/>
          <p:cNvSpPr/>
          <p:nvPr/>
        </p:nvSpPr>
        <p:spPr>
          <a:xfrm>
            <a:off x="8741664" y="2670048"/>
            <a:ext cx="1783080" cy="1335024"/>
          </a:xfrm>
          <a:prstGeom prst="roundRect">
            <a:avLst>
              <a:gd name="adj" fmla="val 10958"/>
            </a:avLst>
          </a:prstGeom>
          <a:solidFill>
            <a:srgbClr val="FFF0F3"/>
          </a:solidFill>
          <a:ln w="12065">
            <a:solidFill>
              <a:srgbClr val="FF8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分支B药物治疗"/>
          <p:cNvSpPr/>
          <p:nvPr/>
        </p:nvSpPr>
        <p:spPr>
          <a:xfrm>
            <a:off x="10735056" y="2670048"/>
            <a:ext cx="1773936" cy="1335024"/>
          </a:xfrm>
          <a:prstGeom prst="roundRect">
            <a:avLst>
              <a:gd name="adj" fmla="val 10958"/>
            </a:avLst>
          </a:prstGeom>
          <a:solidFill>
            <a:srgbClr val="FFF0F3"/>
          </a:solidFill>
          <a:ln w="12065">
            <a:solidFill>
              <a:srgbClr val="FF8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分支B治疗获益"/>
          <p:cNvSpPr/>
          <p:nvPr/>
        </p:nvSpPr>
        <p:spPr>
          <a:xfrm>
            <a:off x="12728448" y="2670048"/>
            <a:ext cx="2386584" cy="1335024"/>
          </a:xfrm>
          <a:prstGeom prst="roundRect">
            <a:avLst>
              <a:gd name="adj" fmla="val 10958"/>
            </a:avLst>
          </a:prstGeom>
          <a:solidFill>
            <a:srgbClr val="FFF0F3"/>
          </a:solidFill>
          <a:ln w="12065">
            <a:solidFill>
              <a:srgbClr val="FF8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治疗分支B"/>
          <p:cNvSpPr/>
          <p:nvPr/>
        </p:nvSpPr>
        <p:spPr>
          <a:xfrm>
            <a:off x="8842248" y="2734056"/>
            <a:ext cx="411480" cy="411480"/>
          </a:xfrm>
          <a:prstGeom prst="ellipse">
            <a:avLst/>
          </a:prstGeom>
          <a:solidFill>
            <a:srgbClr val="DC243C"/>
          </a:solidFill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B"/>
          <p:cNvSpPr txBox="1"/>
          <p:nvPr/>
        </p:nvSpPr>
        <p:spPr>
          <a:xfrm>
            <a:off x="8878824" y="2743200"/>
            <a:ext cx="338328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>
                <a:solidFill>
                  <a:srgbClr val="FFFFFF"/>
                </a:solidFill>
                <a:latin typeface="Noto Sans CJK SC"/>
                <a:ea typeface="Noto Sans CJK SC"/>
              </a:rPr>
              <a:t>B</a:t>
            </a:r>
          </a:p>
        </p:txBody>
      </p:sp>
      <p:sp>
        <p:nvSpPr>
          <p:cNvPr id="80" name="肥胖或&#10;ASCVD风险高"/>
          <p:cNvSpPr txBox="1"/>
          <p:nvPr/>
        </p:nvSpPr>
        <p:spPr>
          <a:xfrm>
            <a:off x="9345168" y="2715768"/>
            <a:ext cx="1106424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6" b="1">
                <a:solidFill>
                  <a:srgbClr val="DC243C"/>
                </a:solidFill>
                <a:latin typeface="Noto Sans CJK SC"/>
                <a:ea typeface="Noto Sans CJK SC"/>
              </a:rPr>
              <a:t>肥胖或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6" b="1">
                <a:solidFill>
                  <a:srgbClr val="DC243C"/>
                </a:solidFill>
                <a:latin typeface="Noto Sans CJK SC"/>
                <a:ea typeface="Noto Sans CJK SC"/>
              </a:rPr>
              <a:t>ASCVD风险高</a:t>
            </a:r>
          </a:p>
        </p:txBody>
      </p:sp>
      <p:sp>
        <p:nvSpPr>
          <p:cNvPr id="81" name="考虑&#10;GLP-1受体激动剂"/>
          <p:cNvSpPr txBox="1"/>
          <p:nvPr/>
        </p:nvSpPr>
        <p:spPr>
          <a:xfrm>
            <a:off x="10826496" y="2715768"/>
            <a:ext cx="1591056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4" b="1">
                <a:solidFill>
                  <a:srgbClr val="DC243C"/>
                </a:solidFill>
                <a:latin typeface="Noto Sans CJK SC"/>
                <a:ea typeface="Noto Sans CJK SC"/>
              </a:rPr>
              <a:t>考虑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4" b="1">
                <a:solidFill>
                  <a:srgbClr val="DC243C"/>
                </a:solidFill>
                <a:latin typeface="Noto Sans CJK SC"/>
                <a:ea typeface="Noto Sans CJK SC"/>
              </a:rPr>
              <a:t>GLP-1受体激动剂</a:t>
            </a:r>
          </a:p>
        </p:txBody>
      </p:sp>
      <p:sp>
        <p:nvSpPr>
          <p:cNvPr id="82" name="流程右箭头"/>
          <p:cNvSpPr/>
          <p:nvPr/>
        </p:nvSpPr>
        <p:spPr>
          <a:xfrm>
            <a:off x="8458200" y="2980944"/>
            <a:ext cx="292608" cy="429768"/>
          </a:xfrm>
          <a:gradFill>
            <a:gsLst>
              <a:gs pos="0">
                <a:srgbClr val="C5E9FF"/>
              </a:gs>
              <a:gs pos="100000">
                <a:srgbClr val="DC243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流程右箭头"/>
          <p:cNvSpPr/>
          <p:nvPr/>
        </p:nvSpPr>
        <p:spPr>
          <a:xfrm>
            <a:off x="10506456" y="3026664"/>
            <a:ext cx="274320" cy="402336"/>
          </a:xfrm>
          <a:gradFill>
            <a:gsLst>
              <a:gs pos="0">
                <a:srgbClr val="C5E9FF"/>
              </a:gs>
              <a:gs pos="100000">
                <a:srgbClr val="DC243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流程右箭头"/>
          <p:cNvSpPr/>
          <p:nvPr/>
        </p:nvSpPr>
        <p:spPr>
          <a:xfrm>
            <a:off x="12481560" y="3026664"/>
            <a:ext cx="283464" cy="402336"/>
          </a:xfrm>
          <a:gradFill>
            <a:gsLst>
              <a:gs pos="0">
                <a:srgbClr val="C5E9FF"/>
              </a:gs>
              <a:gs pos="100000">
                <a:srgbClr val="DC243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风险分支C"/>
          <p:cNvSpPr/>
          <p:nvPr/>
        </p:nvSpPr>
        <p:spPr>
          <a:xfrm>
            <a:off x="8741664" y="4133087"/>
            <a:ext cx="1783080" cy="1335024"/>
          </a:xfrm>
          <a:prstGeom prst="roundRect">
            <a:avLst>
              <a:gd name="adj" fmla="val 10958"/>
            </a:avLst>
          </a:prstGeom>
          <a:solidFill>
            <a:srgbClr val="F4EEFF"/>
          </a:solidFill>
          <a:ln w="12065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分支C药物治疗"/>
          <p:cNvSpPr/>
          <p:nvPr/>
        </p:nvSpPr>
        <p:spPr>
          <a:xfrm>
            <a:off x="10735056" y="4133087"/>
            <a:ext cx="1773936" cy="1335024"/>
          </a:xfrm>
          <a:prstGeom prst="roundRect">
            <a:avLst>
              <a:gd name="adj" fmla="val 10958"/>
            </a:avLst>
          </a:prstGeom>
          <a:solidFill>
            <a:srgbClr val="F4EEFF"/>
          </a:solidFill>
          <a:ln w="12065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分支C治疗获益"/>
          <p:cNvSpPr/>
          <p:nvPr/>
        </p:nvSpPr>
        <p:spPr>
          <a:xfrm>
            <a:off x="12728448" y="4133087"/>
            <a:ext cx="2386584" cy="1335024"/>
          </a:xfrm>
          <a:prstGeom prst="roundRect">
            <a:avLst>
              <a:gd name="adj" fmla="val 10958"/>
            </a:avLst>
          </a:prstGeom>
          <a:solidFill>
            <a:srgbClr val="F4EEFF"/>
          </a:solidFill>
          <a:ln w="12065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治疗分支C"/>
          <p:cNvSpPr/>
          <p:nvPr/>
        </p:nvSpPr>
        <p:spPr>
          <a:xfrm>
            <a:off x="8842248" y="4197096"/>
            <a:ext cx="411480" cy="411480"/>
          </a:xfrm>
          <a:prstGeom prst="ellipse">
            <a:avLst/>
          </a:prstGeom>
          <a:solidFill>
            <a:srgbClr val="642ACC"/>
          </a:solidFill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"/>
          <p:cNvSpPr txBox="1"/>
          <p:nvPr/>
        </p:nvSpPr>
        <p:spPr>
          <a:xfrm>
            <a:off x="8878824" y="4206240"/>
            <a:ext cx="338328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>
                <a:solidFill>
                  <a:srgbClr val="FFFFFF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90" name="尿白蛋白&#10;持续升高"/>
          <p:cNvSpPr txBox="1"/>
          <p:nvPr/>
        </p:nvSpPr>
        <p:spPr>
          <a:xfrm>
            <a:off x="9345168" y="4178808"/>
            <a:ext cx="1106424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642ACC"/>
                </a:solidFill>
                <a:latin typeface="Noto Sans CJK SC"/>
                <a:ea typeface="Noto Sans CJK SC"/>
              </a:rPr>
              <a:t>尿白蛋白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642ACC"/>
                </a:solidFill>
                <a:latin typeface="Noto Sans CJK SC"/>
                <a:ea typeface="Noto Sans CJK SC"/>
              </a:rPr>
              <a:t>持续升高</a:t>
            </a:r>
          </a:p>
        </p:txBody>
      </p:sp>
      <p:sp>
        <p:nvSpPr>
          <p:cNvPr id="91" name="可加用非奈利酮"/>
          <p:cNvSpPr txBox="1"/>
          <p:nvPr/>
        </p:nvSpPr>
        <p:spPr>
          <a:xfrm>
            <a:off x="10826496" y="4178808"/>
            <a:ext cx="1591056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8" b="1">
                <a:solidFill>
                  <a:srgbClr val="642ACC"/>
                </a:solidFill>
                <a:latin typeface="Noto Sans CJK SC"/>
                <a:ea typeface="Noto Sans CJK SC"/>
              </a:rPr>
              <a:t>可加用非奈利酮</a:t>
            </a:r>
          </a:p>
        </p:txBody>
      </p:sp>
      <p:sp>
        <p:nvSpPr>
          <p:cNvPr id="92" name="流程右箭头"/>
          <p:cNvSpPr/>
          <p:nvPr/>
        </p:nvSpPr>
        <p:spPr>
          <a:xfrm>
            <a:off x="8458200" y="4443984"/>
            <a:ext cx="292608" cy="429768"/>
          </a:xfrm>
          <a:gradFill>
            <a:gsLst>
              <a:gs pos="0">
                <a:srgbClr val="C5E9FF"/>
              </a:gs>
              <a:gs pos="100000">
                <a:srgbClr val="642AC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流程右箭头"/>
          <p:cNvSpPr/>
          <p:nvPr/>
        </p:nvSpPr>
        <p:spPr>
          <a:xfrm>
            <a:off x="10506456" y="4489704"/>
            <a:ext cx="274320" cy="402336"/>
          </a:xfrm>
          <a:gradFill>
            <a:gsLst>
              <a:gs pos="0">
                <a:srgbClr val="C5E9FF"/>
              </a:gs>
              <a:gs pos="100000">
                <a:srgbClr val="642AC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流程右箭头"/>
          <p:cNvSpPr/>
          <p:nvPr/>
        </p:nvSpPr>
        <p:spPr>
          <a:xfrm>
            <a:off x="12481560" y="4489704"/>
            <a:ext cx="283464" cy="402336"/>
          </a:xfrm>
          <a:gradFill>
            <a:gsLst>
              <a:gs pos="0">
                <a:srgbClr val="C5E9FF"/>
              </a:gs>
              <a:gs pos="100000">
                <a:srgbClr val="642ACC"/>
              </a:gs>
            </a:gsLst>
            <a:lin ang="0" scaled="1"/>
          </a:gradFill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独立插图_kidney" descr="kidney.png"/>
          <p:cNvPicPr>
            <a:picLocks noChangeAspect="1"/>
          </p:cNvPicPr>
          <p:nvPr/>
        </p:nvPicPr>
        <p:blipFill>
          <a:blip r:embed="rId19"/>
          <a:srcRect l="12903" r="12903" t="2871" b="5742"/>
          <a:stretch>
            <a:fillRect/>
          </a:stretch>
        </p:blipFill>
        <p:spPr>
          <a:xfrm>
            <a:off x="9042075" y="1975104"/>
            <a:ext cx="350152" cy="484632"/>
          </a:xfrm>
          <a:prstGeom prst="rect">
            <a:avLst/>
          </a:prstGeom>
        </p:spPr>
      </p:pic>
      <p:sp>
        <p:nvSpPr>
          <p:cNvPr id="96" name="趋势down"/>
          <p:cNvSpPr/>
          <p:nvPr/>
        </p:nvSpPr>
        <p:spPr>
          <a:xfrm>
            <a:off x="9436608" y="2075688"/>
            <a:ext cx="128016" cy="274320"/>
          </a:xfrm>
          <a:prstGeom prst="downArrow">
            <a:avLst/>
          </a:prstGeom>
          <a:solidFill>
            <a:srgbClr val="F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独立插图_heart" descr="heart.png"/>
          <p:cNvPicPr>
            <a:picLocks noChangeAspect="1"/>
          </p:cNvPicPr>
          <p:nvPr/>
        </p:nvPicPr>
        <p:blipFill>
          <a:blip r:embed="rId7"/>
          <a:srcRect l="10435" r="10435" t="3636" b="7273"/>
          <a:stretch>
            <a:fillRect/>
          </a:stretch>
        </p:blipFill>
        <p:spPr>
          <a:xfrm>
            <a:off x="9766445" y="1984248"/>
            <a:ext cx="373597" cy="502920"/>
          </a:xfrm>
          <a:prstGeom prst="rect">
            <a:avLst/>
          </a:prstGeom>
        </p:spPr>
      </p:pic>
      <p:sp>
        <p:nvSpPr>
          <p:cNvPr id="98" name="趋势up"/>
          <p:cNvSpPr/>
          <p:nvPr/>
        </p:nvSpPr>
        <p:spPr>
          <a:xfrm>
            <a:off x="10149840" y="2103120"/>
            <a:ext cx="128016" cy="274320"/>
          </a:xfrm>
          <a:prstGeom prst="upArrow">
            <a:avLst/>
          </a:prstGeom>
          <a:solidFill>
            <a:srgbClr val="F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独立插图_sglt2_pills" descr="sglt2_pills.png"/>
          <p:cNvPicPr>
            <a:picLocks noChangeAspect="1"/>
          </p:cNvPicPr>
          <p:nvPr/>
        </p:nvPicPr>
        <p:blipFill>
          <a:blip r:embed="rId22"/>
          <a:srcRect l="8304" r="8304" t="12000" b="12000"/>
          <a:stretch>
            <a:fillRect/>
          </a:stretch>
        </p:blipFill>
        <p:spPr>
          <a:xfrm>
            <a:off x="11237494" y="2011680"/>
            <a:ext cx="695906" cy="438912"/>
          </a:xfrm>
          <a:prstGeom prst="rect">
            <a:avLst/>
          </a:prstGeom>
        </p:spPr>
      </p:pic>
      <p:pic>
        <p:nvPicPr>
          <p:cNvPr id="100" name="独立插图_kidney" descr="kidney.png"/>
          <p:cNvPicPr>
            <a:picLocks noChangeAspect="1"/>
          </p:cNvPicPr>
          <p:nvPr/>
        </p:nvPicPr>
        <p:blipFill>
          <a:blip r:embed="rId19"/>
          <a:srcRect l="12903" r="12903" t="2871" b="5742"/>
          <a:stretch>
            <a:fillRect/>
          </a:stretch>
        </p:blipFill>
        <p:spPr>
          <a:xfrm>
            <a:off x="12912022" y="1399032"/>
            <a:ext cx="336939" cy="466344"/>
          </a:xfrm>
          <a:prstGeom prst="rect">
            <a:avLst/>
          </a:prstGeom>
        </p:spPr>
      </p:pic>
      <p:sp>
        <p:nvSpPr>
          <p:cNvPr id="101" name="趋势down"/>
          <p:cNvSpPr/>
          <p:nvPr/>
        </p:nvSpPr>
        <p:spPr>
          <a:xfrm>
            <a:off x="13295376" y="1490472"/>
            <a:ext cx="137160" cy="301752"/>
          </a:xfrm>
          <a:prstGeom prst="down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延缓肾功能下降"/>
          <p:cNvSpPr txBox="1"/>
          <p:nvPr/>
        </p:nvSpPr>
        <p:spPr>
          <a:xfrm>
            <a:off x="13533120" y="1417320"/>
            <a:ext cx="150876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7" b="1">
                <a:solidFill>
                  <a:srgbClr val="09295B"/>
                </a:solidFill>
                <a:latin typeface="Noto Sans CJK SC"/>
                <a:ea typeface="Noto Sans CJK SC"/>
              </a:rPr>
              <a:t>延缓肾功能下降</a:t>
            </a:r>
          </a:p>
        </p:txBody>
      </p:sp>
      <p:sp>
        <p:nvSpPr>
          <p:cNvPr id="103" name="A分支获益分隔线"/>
          <p:cNvSpPr/>
          <p:nvPr/>
        </p:nvSpPr>
        <p:spPr>
          <a:xfrm>
            <a:off x="12829032" y="1929384"/>
            <a:ext cx="2176272" cy="9144"/>
          </a:xfrm>
          <a:prstGeom prst="rect">
            <a:avLst/>
          </a:prstGeom>
          <a:solidFill>
            <a:srgbClr val="F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独立插图_bed" descr="bed.png"/>
          <p:cNvPicPr>
            <a:picLocks noChangeAspect="1"/>
          </p:cNvPicPr>
          <p:nvPr/>
        </p:nvPicPr>
        <p:blipFill>
          <a:blip r:embed="rId23"/>
          <a:srcRect l="9125" r="9125" t="12000" b="12000"/>
          <a:stretch>
            <a:fillRect/>
          </a:stretch>
        </p:blipFill>
        <p:spPr>
          <a:xfrm>
            <a:off x="12856464" y="2041217"/>
            <a:ext cx="576072" cy="407269"/>
          </a:xfrm>
          <a:prstGeom prst="rect">
            <a:avLst/>
          </a:prstGeom>
        </p:spPr>
      </p:pic>
      <p:sp>
        <p:nvSpPr>
          <p:cNvPr id="105" name="趋势down"/>
          <p:cNvSpPr/>
          <p:nvPr/>
        </p:nvSpPr>
        <p:spPr>
          <a:xfrm>
            <a:off x="13395960" y="2029968"/>
            <a:ext cx="137160" cy="338328"/>
          </a:xfrm>
          <a:prstGeom prst="down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降低心衰住院风险"/>
          <p:cNvSpPr txBox="1"/>
          <p:nvPr/>
        </p:nvSpPr>
        <p:spPr>
          <a:xfrm>
            <a:off x="13560552" y="2011680"/>
            <a:ext cx="14813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1" b="1">
                <a:solidFill>
                  <a:srgbClr val="09295B"/>
                </a:solidFill>
                <a:latin typeface="Noto Sans CJK SC"/>
                <a:ea typeface="Noto Sans CJK SC"/>
              </a:rPr>
              <a:t>降低心衰住院风险</a:t>
            </a:r>
          </a:p>
        </p:txBody>
      </p:sp>
      <p:pic>
        <p:nvPicPr>
          <p:cNvPr id="107" name="独立插图_obesity_red" descr="obesity_red.png"/>
          <p:cNvPicPr>
            <a:picLocks noChangeAspect="1"/>
          </p:cNvPicPr>
          <p:nvPr/>
        </p:nvPicPr>
        <p:blipFill>
          <a:blip r:embed="rId24"/>
          <a:srcRect l="14035" r="14035" t="10435" b="6087"/>
          <a:stretch>
            <a:fillRect/>
          </a:stretch>
        </p:blipFill>
        <p:spPr>
          <a:xfrm>
            <a:off x="8933688" y="3277566"/>
            <a:ext cx="393192" cy="613763"/>
          </a:xfrm>
          <a:prstGeom prst="rect">
            <a:avLst/>
          </a:prstGeom>
        </p:spPr>
      </p:pic>
      <p:pic>
        <p:nvPicPr>
          <p:cNvPr id="108" name="独立插图_artery" descr="artery.png"/>
          <p:cNvPicPr>
            <a:picLocks noChangeAspect="1"/>
          </p:cNvPicPr>
          <p:nvPr/>
        </p:nvPicPr>
        <p:blipFill>
          <a:blip r:embed="rId20"/>
          <a:srcRect l="6540" r="4360" t="4183" b="9125"/>
          <a:stretch>
            <a:fillRect/>
          </a:stretch>
        </p:blipFill>
        <p:spPr>
          <a:xfrm>
            <a:off x="9491652" y="3337560"/>
            <a:ext cx="904895" cy="630936"/>
          </a:xfrm>
          <a:prstGeom prst="rect">
            <a:avLst/>
          </a:prstGeom>
        </p:spPr>
      </p:pic>
      <p:pic>
        <p:nvPicPr>
          <p:cNvPr id="109" name="独立插图_glp1_pen" descr="glp1_pen.png"/>
          <p:cNvPicPr>
            <a:picLocks noChangeAspect="1"/>
          </p:cNvPicPr>
          <p:nvPr/>
        </p:nvPicPr>
        <p:blipFill>
          <a:blip r:embed="rId25"/>
          <a:srcRect l="7524" r="7524" t="14545" b="14545"/>
          <a:stretch>
            <a:fillRect/>
          </a:stretch>
        </p:blipFill>
        <p:spPr>
          <a:xfrm>
            <a:off x="10936224" y="3332836"/>
            <a:ext cx="1335024" cy="576375"/>
          </a:xfrm>
          <a:prstGeom prst="rect">
            <a:avLst/>
          </a:prstGeom>
        </p:spPr>
      </p:pic>
      <p:pic>
        <p:nvPicPr>
          <p:cNvPr id="110" name="独立插图_scale" descr="scale.png"/>
          <p:cNvPicPr>
            <a:picLocks noChangeAspect="1"/>
          </p:cNvPicPr>
          <p:nvPr/>
        </p:nvPicPr>
        <p:blipFill>
          <a:blip r:embed="rId26"/>
          <a:srcRect l="11111" r="11111" t="11538" b="11538"/>
          <a:stretch>
            <a:fillRect/>
          </a:stretch>
        </p:blipFill>
        <p:spPr>
          <a:xfrm>
            <a:off x="12872923" y="2807208"/>
            <a:ext cx="460857" cy="438912"/>
          </a:xfrm>
          <a:prstGeom prst="rect">
            <a:avLst/>
          </a:prstGeom>
        </p:spPr>
      </p:pic>
      <p:sp>
        <p:nvSpPr>
          <p:cNvPr id="111" name="趋势down"/>
          <p:cNvSpPr/>
          <p:nvPr/>
        </p:nvSpPr>
        <p:spPr>
          <a:xfrm>
            <a:off x="13368528" y="2889504"/>
            <a:ext cx="137160" cy="301752"/>
          </a:xfrm>
          <a:prstGeom prst="down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减重"/>
          <p:cNvSpPr txBox="1"/>
          <p:nvPr/>
        </p:nvSpPr>
        <p:spPr>
          <a:xfrm>
            <a:off x="13560552" y="2788920"/>
            <a:ext cx="140817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9295B"/>
                </a:solidFill>
                <a:latin typeface="Noto Sans CJK SC"/>
                <a:ea typeface="Noto Sans CJK SC"/>
              </a:rPr>
              <a:t>减重</a:t>
            </a:r>
          </a:p>
        </p:txBody>
      </p:sp>
      <p:sp>
        <p:nvSpPr>
          <p:cNvPr id="113" name="B分支获益分隔线"/>
          <p:cNvSpPr/>
          <p:nvPr/>
        </p:nvSpPr>
        <p:spPr>
          <a:xfrm>
            <a:off x="12829032" y="3346704"/>
            <a:ext cx="2176272" cy="9144"/>
          </a:xfrm>
          <a:prstGeom prst="rect">
            <a:avLst/>
          </a:prstGeom>
          <a:solidFill>
            <a:srgbClr val="F5B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独立插图_artery" descr="artery.png"/>
          <p:cNvPicPr>
            <a:picLocks noChangeAspect="1"/>
          </p:cNvPicPr>
          <p:nvPr/>
        </p:nvPicPr>
        <p:blipFill>
          <a:blip r:embed="rId20"/>
          <a:srcRect l="6540" r="4360" t="4183" b="9125"/>
          <a:stretch>
            <a:fillRect/>
          </a:stretch>
        </p:blipFill>
        <p:spPr>
          <a:xfrm>
            <a:off x="12783312" y="3472413"/>
            <a:ext cx="649224" cy="452669"/>
          </a:xfrm>
          <a:prstGeom prst="rect">
            <a:avLst/>
          </a:prstGeom>
        </p:spPr>
      </p:pic>
      <p:sp>
        <p:nvSpPr>
          <p:cNvPr id="115" name="趋势down"/>
          <p:cNvSpPr/>
          <p:nvPr/>
        </p:nvSpPr>
        <p:spPr>
          <a:xfrm>
            <a:off x="13386816" y="3511296"/>
            <a:ext cx="137160" cy="292608"/>
          </a:xfrm>
          <a:prstGeom prst="down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降低动脉粥样硬化风险"/>
          <p:cNvSpPr txBox="1"/>
          <p:nvPr/>
        </p:nvSpPr>
        <p:spPr>
          <a:xfrm>
            <a:off x="13560552" y="3419856"/>
            <a:ext cx="149047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7" b="1">
                <a:solidFill>
                  <a:srgbClr val="09295B"/>
                </a:solidFill>
                <a:latin typeface="Noto Sans CJK SC"/>
                <a:ea typeface="Noto Sans CJK SC"/>
              </a:rPr>
              <a:t>降低动脉粥样硬化风险</a:t>
            </a:r>
          </a:p>
        </p:txBody>
      </p:sp>
      <p:pic>
        <p:nvPicPr>
          <p:cNvPr id="117" name="独立插图_urine" descr="urine.png"/>
          <p:cNvPicPr>
            <a:picLocks noChangeAspect="1"/>
          </p:cNvPicPr>
          <p:nvPr/>
        </p:nvPicPr>
        <p:blipFill>
          <a:blip r:embed="rId6"/>
          <a:srcRect l="11321" r="11321" t="8439" b="10127"/>
          <a:stretch>
            <a:fillRect/>
          </a:stretch>
        </p:blipFill>
        <p:spPr>
          <a:xfrm>
            <a:off x="9182257" y="4764024"/>
            <a:ext cx="536132" cy="630936"/>
          </a:xfrm>
          <a:prstGeom prst="rect">
            <a:avLst/>
          </a:prstGeom>
        </p:spPr>
      </p:pic>
      <p:sp>
        <p:nvSpPr>
          <p:cNvPr id="118" name="趋势up"/>
          <p:cNvSpPr/>
          <p:nvPr/>
        </p:nvSpPr>
        <p:spPr>
          <a:xfrm>
            <a:off x="9902952" y="4855464"/>
            <a:ext cx="155448" cy="393192"/>
          </a:xfrm>
          <a:prstGeom prst="up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独立插图_finerenone" descr="finerenone.png"/>
          <p:cNvPicPr>
            <a:picLocks noChangeAspect="1"/>
          </p:cNvPicPr>
          <p:nvPr/>
        </p:nvPicPr>
        <p:blipFill>
          <a:blip r:embed="rId27"/>
          <a:srcRect l="12000" r="12000" t="12060" b="12060"/>
          <a:stretch>
            <a:fillRect/>
          </a:stretch>
        </p:blipFill>
        <p:spPr>
          <a:xfrm>
            <a:off x="11341194" y="4736592"/>
            <a:ext cx="589091" cy="585216"/>
          </a:xfrm>
          <a:prstGeom prst="rect">
            <a:avLst/>
          </a:prstGeom>
        </p:spPr>
      </p:pic>
      <p:pic>
        <p:nvPicPr>
          <p:cNvPr id="120" name="独立插图_urine" descr="urine.png"/>
          <p:cNvPicPr>
            <a:picLocks noChangeAspect="1"/>
          </p:cNvPicPr>
          <p:nvPr/>
        </p:nvPicPr>
        <p:blipFill>
          <a:blip r:embed="rId6"/>
          <a:srcRect l="11321" r="11321" t="8439" b="10127"/>
          <a:stretch>
            <a:fillRect/>
          </a:stretch>
        </p:blipFill>
        <p:spPr>
          <a:xfrm>
            <a:off x="12880532" y="4206240"/>
            <a:ext cx="427351" cy="502920"/>
          </a:xfrm>
          <a:prstGeom prst="rect">
            <a:avLst/>
          </a:prstGeom>
        </p:spPr>
      </p:pic>
      <p:sp>
        <p:nvSpPr>
          <p:cNvPr id="121" name="趋势down"/>
          <p:cNvSpPr/>
          <p:nvPr/>
        </p:nvSpPr>
        <p:spPr>
          <a:xfrm>
            <a:off x="13368528" y="4334256"/>
            <a:ext cx="137160" cy="301752"/>
          </a:xfrm>
          <a:prstGeom prst="downArrow">
            <a:avLst/>
          </a:prstGeom>
          <a:solidFill>
            <a:srgbClr val="FF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进一步降尿蛋白"/>
          <p:cNvSpPr txBox="1"/>
          <p:nvPr/>
        </p:nvSpPr>
        <p:spPr>
          <a:xfrm>
            <a:off x="13569696" y="4197096"/>
            <a:ext cx="146304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2" b="1">
                <a:solidFill>
                  <a:srgbClr val="09295B"/>
                </a:solidFill>
                <a:latin typeface="Noto Sans CJK SC"/>
                <a:ea typeface="Noto Sans CJK SC"/>
              </a:rPr>
              <a:t>进一步降尿蛋白</a:t>
            </a:r>
          </a:p>
        </p:txBody>
      </p:sp>
      <p:sp>
        <p:nvSpPr>
          <p:cNvPr id="123" name="C分支获益分隔线"/>
          <p:cNvSpPr/>
          <p:nvPr/>
        </p:nvSpPr>
        <p:spPr>
          <a:xfrm>
            <a:off x="12829032" y="4754880"/>
            <a:ext cx="2176272" cy="9144"/>
          </a:xfrm>
          <a:prstGeom prst="rect">
            <a:avLst/>
          </a:prstGeom>
          <a:solidFill>
            <a:srgbClr val="D7C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独立插图_kidney_shield" descr="kidney_shield.png"/>
          <p:cNvPicPr>
            <a:picLocks noChangeAspect="1"/>
          </p:cNvPicPr>
          <p:nvPr/>
        </p:nvPicPr>
        <p:blipFill>
          <a:blip r:embed="rId28"/>
          <a:srcRect l="9600" r="9600" t="8134" b="6220"/>
          <a:stretch>
            <a:fillRect/>
          </a:stretch>
        </p:blipFill>
        <p:spPr>
          <a:xfrm>
            <a:off x="12838176" y="4795892"/>
            <a:ext cx="640080" cy="567199"/>
          </a:xfrm>
          <a:prstGeom prst="rect">
            <a:avLst/>
          </a:prstGeom>
        </p:spPr>
      </p:pic>
      <p:sp>
        <p:nvSpPr>
          <p:cNvPr id="125" name="针对炎症/纤维化&#10;残余风险"/>
          <p:cNvSpPr txBox="1"/>
          <p:nvPr/>
        </p:nvSpPr>
        <p:spPr>
          <a:xfrm>
            <a:off x="13551408" y="4773168"/>
            <a:ext cx="1490472" cy="6126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>
                <a:solidFill>
                  <a:srgbClr val="09295B"/>
                </a:solidFill>
                <a:latin typeface="Noto Sans CJK SC"/>
                <a:ea typeface="Noto Sans CJK SC"/>
              </a:rPr>
              <a:t>针对炎症/纤维化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>
                <a:solidFill>
                  <a:srgbClr val="09295B"/>
                </a:solidFill>
                <a:latin typeface="Noto Sans CJK SC"/>
                <a:ea typeface="Noto Sans CJK SC"/>
              </a:rPr>
              <a:t>残余风险</a:t>
            </a:r>
          </a:p>
        </p:txBody>
      </p:sp>
      <p:sp>
        <p:nvSpPr>
          <p:cNvPr id="126" name="流程向下箭头"/>
          <p:cNvSpPr/>
          <p:nvPr/>
        </p:nvSpPr>
        <p:spPr>
          <a:xfrm>
            <a:off x="7324344" y="5550408"/>
            <a:ext cx="521207" cy="365760"/>
          </a:xfrm>
          <a:gradFill>
            <a:gsLst>
              <a:gs pos="0">
                <a:srgbClr val="9CD9FF"/>
              </a:gs>
              <a:gs pos="100000">
                <a:srgbClr val="0070D2"/>
              </a:gs>
            </a:gsLst>
            <a:lin ang="5400000" scaled="1"/>
          </a:gradFill>
          <a:prstGeom prst="downArrow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步骤5面板"/>
          <p:cNvSpPr/>
          <p:nvPr/>
        </p:nvSpPr>
        <p:spPr>
          <a:xfrm>
            <a:off x="137160" y="5833872"/>
            <a:ext cx="15023592" cy="1600200"/>
          </a:xfrm>
          <a:prstGeom prst="roundRect">
            <a:avLst>
              <a:gd name="adj" fmla="val 9142"/>
            </a:avLst>
          </a:prstGeom>
          <a:solidFill>
            <a:srgbClr val="EAF6FF"/>
          </a:solidFill>
          <a:ln w="12065">
            <a:solidFill>
              <a:srgbClr val="76B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步骤标题背景"/>
          <p:cNvSpPr/>
          <p:nvPr/>
        </p:nvSpPr>
        <p:spPr>
          <a:xfrm>
            <a:off x="146304" y="5843016"/>
            <a:ext cx="15005304" cy="521207"/>
          </a:xfrm>
          <a:gradFill>
            <a:gsLst>
              <a:gs pos="0">
                <a:srgbClr val="0F64B3"/>
              </a:gs>
              <a:gs pos="100000">
                <a:srgbClr val="73B6EF"/>
              </a:gs>
            </a:gsLst>
            <a:lin ang="0" scaled="1"/>
          </a:gradFill>
          <a:prstGeom prst="roundRect">
            <a:avLst>
              <a:gd name="adj" fmla="val 2807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步骤编号5"/>
          <p:cNvSpPr/>
          <p:nvPr/>
        </p:nvSpPr>
        <p:spPr>
          <a:xfrm>
            <a:off x="237744" y="5879592"/>
            <a:ext cx="502920" cy="502920"/>
          </a:xfrm>
          <a:gradFill>
            <a:gsLst>
              <a:gs pos="0">
                <a:srgbClr val="A3D4FF"/>
              </a:gs>
              <a:gs pos="100000">
                <a:srgbClr val="E8F7FF"/>
              </a:gs>
            </a:gsLst>
            <a:lin ang="5400000" scaled="1"/>
          </a:gradFill>
          <a:prstGeom prst="ellipse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5"/>
          <p:cNvSpPr txBox="1"/>
          <p:nvPr/>
        </p:nvSpPr>
        <p:spPr>
          <a:xfrm>
            <a:off x="274320" y="5888736"/>
            <a:ext cx="4297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1">
                <a:solidFill>
                  <a:srgbClr val="0F64B3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131" name="动态随访与再评估"/>
          <p:cNvSpPr txBox="1"/>
          <p:nvPr/>
        </p:nvSpPr>
        <p:spPr>
          <a:xfrm>
            <a:off x="905256" y="5888736"/>
            <a:ext cx="14136624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FFFFFF"/>
                </a:solidFill>
                <a:latin typeface="Noto Sans CJK SC"/>
                <a:ea typeface="Noto Sans CJK SC"/>
              </a:rPr>
              <a:t>动态随访与再评估</a:t>
            </a:r>
          </a:p>
        </p:txBody>
      </p:sp>
      <p:sp>
        <p:nvSpPr>
          <p:cNvPr id="132" name="动态随访内容条"/>
          <p:cNvSpPr/>
          <p:nvPr/>
        </p:nvSpPr>
        <p:spPr>
          <a:xfrm>
            <a:off x="246888" y="6428232"/>
            <a:ext cx="14785848" cy="905256"/>
          </a:xfrm>
          <a:prstGeom prst="roundRect">
            <a:avLst>
              <a:gd name="adj" fmla="val 16161"/>
            </a:avLst>
          </a:prstGeom>
          <a:solidFill>
            <a:srgbClr val="EBF7FF"/>
          </a:solidFill>
          <a:ln w="12065">
            <a:solidFill>
              <a:srgbClr val="EB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独立插图_calendar" descr="calendar.png"/>
          <p:cNvPicPr>
            <a:picLocks noChangeAspect="1"/>
          </p:cNvPicPr>
          <p:nvPr/>
        </p:nvPicPr>
        <p:blipFill>
          <a:blip r:embed="rId29"/>
          <a:srcRect l="11765" r="11765" t="8252" b="11650"/>
          <a:stretch>
            <a:fillRect/>
          </a:stretch>
        </p:blipFill>
        <p:spPr>
          <a:xfrm>
            <a:off x="727114" y="6537960"/>
            <a:ext cx="639747" cy="676656"/>
          </a:xfrm>
          <a:prstGeom prst="rect">
            <a:avLst/>
          </a:prstGeom>
        </p:spPr>
      </p:pic>
      <p:sp>
        <p:nvSpPr>
          <p:cNvPr id="134" name="动态随访"/>
          <p:cNvSpPr txBox="1"/>
          <p:nvPr/>
        </p:nvSpPr>
        <p:spPr>
          <a:xfrm>
            <a:off x="1645920" y="6601968"/>
            <a:ext cx="167335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9295B"/>
                </a:solidFill>
                <a:latin typeface="Noto Sans CJK SC"/>
                <a:ea typeface="Noto Sans CJK SC"/>
              </a:rPr>
              <a:t>动态随访</a:t>
            </a:r>
          </a:p>
        </p:txBody>
      </p:sp>
      <p:sp>
        <p:nvSpPr>
          <p:cNvPr id="135" name="随访项目分隔线"/>
          <p:cNvSpPr/>
          <p:nvPr/>
        </p:nvSpPr>
        <p:spPr>
          <a:xfrm>
            <a:off x="3520440" y="6519672"/>
            <a:ext cx="9144" cy="731520"/>
          </a:xfrm>
          <a:prstGeom prst="rect">
            <a:avLst/>
          </a:prstGeom>
          <a:solidFill>
            <a:srgbClr val="A2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随访项目分隔线"/>
          <p:cNvSpPr/>
          <p:nvPr/>
        </p:nvSpPr>
        <p:spPr>
          <a:xfrm>
            <a:off x="11082528" y="6519672"/>
            <a:ext cx="9144" cy="731520"/>
          </a:xfrm>
          <a:prstGeom prst="rect">
            <a:avLst/>
          </a:prstGeom>
          <a:solidFill>
            <a:srgbClr val="A2C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独立插图_potassium" descr="potassium.png"/>
          <p:cNvPicPr>
            <a:picLocks noChangeAspect="1"/>
          </p:cNvPicPr>
          <p:nvPr/>
        </p:nvPicPr>
        <p:blipFill>
          <a:blip r:embed="rId30"/>
          <a:srcRect l="22430" r="22430" t="5742" b="8612"/>
          <a:stretch>
            <a:fillRect/>
          </a:stretch>
        </p:blipFill>
        <p:spPr>
          <a:xfrm>
            <a:off x="4169536" y="6492240"/>
            <a:ext cx="247143" cy="749808"/>
          </a:xfrm>
          <a:prstGeom prst="rect">
            <a:avLst/>
          </a:prstGeom>
        </p:spPr>
      </p:pic>
      <p:pic>
        <p:nvPicPr>
          <p:cNvPr id="138" name="独立插图_kidney" descr="kidney.png"/>
          <p:cNvPicPr>
            <a:picLocks noChangeAspect="1"/>
          </p:cNvPicPr>
          <p:nvPr/>
        </p:nvPicPr>
        <p:blipFill>
          <a:blip r:embed="rId19"/>
          <a:srcRect l="12903" r="12903" t="2871" b="5742"/>
          <a:stretch>
            <a:fillRect/>
          </a:stretch>
        </p:blipFill>
        <p:spPr>
          <a:xfrm>
            <a:off x="4598809" y="6473952"/>
            <a:ext cx="568172" cy="786384"/>
          </a:xfrm>
          <a:prstGeom prst="rect">
            <a:avLst/>
          </a:prstGeom>
        </p:spPr>
      </p:pic>
      <p:pic>
        <p:nvPicPr>
          <p:cNvPr id="139" name="独立插图_urine" descr="urine.png"/>
          <p:cNvPicPr>
            <a:picLocks noChangeAspect="1"/>
          </p:cNvPicPr>
          <p:nvPr/>
        </p:nvPicPr>
        <p:blipFill>
          <a:blip r:embed="rId6"/>
          <a:srcRect l="11321" r="11321" t="8439" b="10127"/>
          <a:stretch>
            <a:fillRect/>
          </a:stretch>
        </p:blipFill>
        <p:spPr>
          <a:xfrm>
            <a:off x="5303520" y="6491320"/>
            <a:ext cx="630936" cy="742503"/>
          </a:xfrm>
          <a:prstGeom prst="rect">
            <a:avLst/>
          </a:prstGeom>
        </p:spPr>
      </p:pic>
      <p:pic>
        <p:nvPicPr>
          <p:cNvPr id="140" name="独立插图_bp_k" descr="bp_k.png"/>
          <p:cNvPicPr>
            <a:picLocks noChangeAspect="1"/>
          </p:cNvPicPr>
          <p:nvPr/>
        </p:nvPicPr>
        <p:blipFill>
          <a:blip r:embed="rId31"/>
          <a:srcRect l="10256" r="10256" t="11163" b="11163"/>
          <a:stretch>
            <a:fillRect/>
          </a:stretch>
        </p:blipFill>
        <p:spPr>
          <a:xfrm>
            <a:off x="6153912" y="6578493"/>
            <a:ext cx="704088" cy="632165"/>
          </a:xfrm>
          <a:prstGeom prst="rect">
            <a:avLst/>
          </a:prstGeom>
        </p:spPr>
      </p:pic>
      <p:pic>
        <p:nvPicPr>
          <p:cNvPr id="141" name="独立插图_scale" descr="scale.png"/>
          <p:cNvPicPr>
            <a:picLocks noChangeAspect="1"/>
          </p:cNvPicPr>
          <p:nvPr/>
        </p:nvPicPr>
        <p:blipFill>
          <a:blip r:embed="rId26"/>
          <a:srcRect l="11111" r="11111" t="11538" b="11538"/>
          <a:stretch>
            <a:fillRect/>
          </a:stretch>
        </p:blipFill>
        <p:spPr>
          <a:xfrm>
            <a:off x="7022592" y="6581067"/>
            <a:ext cx="658368" cy="627017"/>
          </a:xfrm>
          <a:prstGeom prst="rect">
            <a:avLst/>
          </a:prstGeom>
        </p:spPr>
      </p:pic>
      <p:sp>
        <p:nvSpPr>
          <p:cNvPr id="142" name="监测血钾、eGFR、UACR、血压、&#10;体重/容量状态"/>
          <p:cNvSpPr txBox="1"/>
          <p:nvPr/>
        </p:nvSpPr>
        <p:spPr>
          <a:xfrm>
            <a:off x="8065008" y="6574536"/>
            <a:ext cx="2916936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7" b="1">
                <a:solidFill>
                  <a:srgbClr val="09295B"/>
                </a:solidFill>
                <a:latin typeface="Noto Sans CJK SC"/>
                <a:ea typeface="Noto Sans CJK SC"/>
              </a:rPr>
              <a:t>监测血钾、eGFR、UACR、血压、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7" b="1">
                <a:solidFill>
                  <a:srgbClr val="09295B"/>
                </a:solidFill>
                <a:latin typeface="Noto Sans CJK SC"/>
                <a:ea typeface="Noto Sans CJK SC"/>
              </a:rPr>
              <a:t>体重/容量状态</a:t>
            </a:r>
          </a:p>
        </p:txBody>
      </p:sp>
      <p:pic>
        <p:nvPicPr>
          <p:cNvPr id="143" name="独立插图_refresh" descr="refresh.png"/>
          <p:cNvPicPr>
            <a:picLocks noChangeAspect="1"/>
          </p:cNvPicPr>
          <p:nvPr/>
        </p:nvPicPr>
        <p:blipFill>
          <a:blip r:embed="rId32"/>
          <a:srcRect l="10573" r="10573" t="11163" b="11163"/>
          <a:stretch>
            <a:fillRect/>
          </a:stretch>
        </p:blipFill>
        <p:spPr>
          <a:xfrm>
            <a:off x="11522261" y="6510528"/>
            <a:ext cx="793885" cy="740664"/>
          </a:xfrm>
          <a:prstGeom prst="rect">
            <a:avLst/>
          </a:prstGeom>
        </p:spPr>
      </p:pic>
      <p:sp>
        <p:nvSpPr>
          <p:cNvPr id="144" name="必要时调整治疗&#10;或转诊"/>
          <p:cNvSpPr txBox="1"/>
          <p:nvPr/>
        </p:nvSpPr>
        <p:spPr>
          <a:xfrm>
            <a:off x="12536424" y="6492240"/>
            <a:ext cx="1380744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9295B"/>
                </a:solidFill>
                <a:latin typeface="Noto Sans CJK SC"/>
                <a:ea typeface="Noto Sans CJK SC"/>
              </a:rPr>
              <a:t>必要时调整治疗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9295B"/>
                </a:solidFill>
                <a:latin typeface="Noto Sans CJK SC"/>
                <a:ea typeface="Noto Sans CJK SC"/>
              </a:rPr>
              <a:t>或转诊</a:t>
            </a:r>
          </a:p>
        </p:txBody>
      </p:sp>
      <p:pic>
        <p:nvPicPr>
          <p:cNvPr id="145" name="独立插图_doctor" descr="doctor.png"/>
          <p:cNvPicPr>
            <a:picLocks noChangeAspect="1"/>
          </p:cNvPicPr>
          <p:nvPr/>
        </p:nvPicPr>
        <p:blipFill>
          <a:blip r:embed="rId33"/>
          <a:srcRect l="10213" r="10213" t="2252" b="5856"/>
          <a:stretch>
            <a:fillRect/>
          </a:stretch>
        </p:blipFill>
        <p:spPr>
          <a:xfrm>
            <a:off x="13880592" y="6340532"/>
            <a:ext cx="923544" cy="1007502"/>
          </a:xfrm>
          <a:prstGeom prst="rect">
            <a:avLst/>
          </a:prstGeom>
        </p:spPr>
      </p:pic>
      <p:sp>
        <p:nvSpPr>
          <p:cNvPr id="146" name="流程向下箭头"/>
          <p:cNvSpPr/>
          <p:nvPr/>
        </p:nvSpPr>
        <p:spPr>
          <a:xfrm>
            <a:off x="7360920" y="7424927"/>
            <a:ext cx="475488" cy="347472"/>
          </a:xfrm>
          <a:gradFill>
            <a:gsLst>
              <a:gs pos="0">
                <a:srgbClr val="9CD9FF"/>
              </a:gs>
              <a:gs pos="100000">
                <a:srgbClr val="0070D2"/>
              </a:gs>
            </a:gsLst>
            <a:lin ang="5400000" scaled="1"/>
          </a:gradFill>
          <a:prstGeom prst="downArrow">
            <a:avLst/>
          </a:prstGeom>
          <a:ln w="1206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总体治疗目标"/>
          <p:cNvSpPr/>
          <p:nvPr/>
        </p:nvSpPr>
        <p:spPr>
          <a:xfrm>
            <a:off x="2103120" y="7735824"/>
            <a:ext cx="11137392" cy="731520"/>
          </a:xfrm>
          <a:prstGeom prst="roundRect">
            <a:avLst>
              <a:gd name="adj" fmla="val 20000"/>
            </a:avLst>
          </a:prstGeom>
          <a:solidFill>
            <a:srgbClr val="FFF0F1"/>
          </a:solidFill>
          <a:ln w="12065">
            <a:solidFill>
              <a:srgbClr val="FF6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独立插图_target" descr="target.png"/>
          <p:cNvPicPr>
            <a:picLocks noChangeAspect="1"/>
          </p:cNvPicPr>
          <p:nvPr/>
        </p:nvPicPr>
        <p:blipFill>
          <a:blip r:embed="rId34"/>
          <a:srcRect l="10811" r="10811" t="5936" b="10959"/>
          <a:stretch>
            <a:fillRect/>
          </a:stretch>
        </p:blipFill>
        <p:spPr>
          <a:xfrm>
            <a:off x="3468540" y="7680960"/>
            <a:ext cx="725591" cy="758952"/>
          </a:xfrm>
          <a:prstGeom prst="rect">
            <a:avLst/>
          </a:prstGeom>
        </p:spPr>
      </p:pic>
      <p:sp>
        <p:nvSpPr>
          <p:cNvPr id="149" name="治疗目标：降低整体心肾风险，而非单纯叠加药物"/>
          <p:cNvSpPr txBox="1"/>
          <p:nvPr/>
        </p:nvSpPr>
        <p:spPr>
          <a:xfrm>
            <a:off x="4443984" y="7818120"/>
            <a:ext cx="6382512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1">
                <a:solidFill>
                  <a:srgbClr val="B70821"/>
                </a:solidFill>
                <a:latin typeface="Noto Sans CJK SC"/>
                <a:ea typeface="Noto Sans CJK SC"/>
              </a:rPr>
              <a:t>治疗目标：降低整体心肾风险，而非单纯叠加药物</a:t>
            </a:r>
          </a:p>
        </p:txBody>
      </p:sp>
      <p:sp>
        <p:nvSpPr>
          <p:cNvPr id="150" name="心肾目标示意背景"/>
          <p:cNvSpPr/>
          <p:nvPr/>
        </p:nvSpPr>
        <p:spPr>
          <a:xfrm>
            <a:off x="10835640" y="7763256"/>
            <a:ext cx="2231136" cy="640080"/>
          </a:xfrm>
          <a:prstGeom prst="ellipse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独立插图_kidney" descr="kidney.png"/>
          <p:cNvPicPr>
            <a:picLocks noChangeAspect="1"/>
          </p:cNvPicPr>
          <p:nvPr/>
        </p:nvPicPr>
        <p:blipFill>
          <a:blip r:embed="rId19"/>
          <a:srcRect l="12903" r="12903" t="2871" b="5742"/>
          <a:stretch>
            <a:fillRect/>
          </a:stretch>
        </p:blipFill>
        <p:spPr>
          <a:xfrm>
            <a:off x="11087482" y="7616952"/>
            <a:ext cx="621026" cy="859536"/>
          </a:xfrm>
          <a:prstGeom prst="rect">
            <a:avLst/>
          </a:prstGeom>
        </p:spPr>
      </p:pic>
      <p:pic>
        <p:nvPicPr>
          <p:cNvPr id="152" name="独立插图_heart" descr="heart.png"/>
          <p:cNvPicPr>
            <a:picLocks noChangeAspect="1"/>
          </p:cNvPicPr>
          <p:nvPr/>
        </p:nvPicPr>
        <p:blipFill>
          <a:blip r:embed="rId7"/>
          <a:srcRect l="10435" r="10435" t="3636" b="7273"/>
          <a:stretch>
            <a:fillRect/>
          </a:stretch>
        </p:blipFill>
        <p:spPr>
          <a:xfrm>
            <a:off x="12104043" y="7562088"/>
            <a:ext cx="645305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