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646920" cy="1363370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根据用户在聊天中提供的技术路线图进行可见内容重建。文字、流程框、标题色带、流程箭头和时间轴为原生可编辑对象；科研插图由图片工具依据原图分离重建，为可独立移动和缩放的位图，内部细节不可编辑。原始上传未提供可读取的源文件路径，因此未运行 skill 的 prepare/record/finalize 完整管线，不能声称逐像素复刻。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技术路线图"/>
          <p:cNvSpPr txBox="1"/>
          <p:nvPr/>
        </p:nvSpPr>
        <p:spPr>
          <a:xfrm>
            <a:off x="3127248" y="0"/>
            <a:ext cx="3337560" cy="7315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896" b="1">
                <a:solidFill>
                  <a:srgbClr val="073679"/>
                </a:solidFill>
                <a:latin typeface="Noto Serif CJK SC"/>
                <a:ea typeface="Noto Serif CJK SC"/>
              </a:rPr>
              <a:t>技术路线图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2176272" y="438912"/>
            <a:ext cx="914400" cy="27432"/>
          </a:xfrm>
          <a:gradFill rotWithShape="1">
            <a:gsLst>
              <a:gs pos="0">
                <a:srgbClr val="22B7FF"/>
              </a:gs>
              <a:gs pos="100000">
                <a:srgbClr val="073679"/>
              </a:gs>
            </a:gsLst>
            <a:lin ang="0" scaled="1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56248" y="438912"/>
            <a:ext cx="914400" cy="27432"/>
          </a:xfrm>
          <a:gradFill rotWithShape="1">
            <a:gsLst>
              <a:gs pos="0">
                <a:srgbClr val="22B7FF"/>
              </a:gs>
              <a:gs pos="100000">
                <a:srgbClr val="073679"/>
              </a:gs>
            </a:gsLst>
            <a:lin ang="0" scaled="1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流程框_实验准备"/>
          <p:cNvSpPr/>
          <p:nvPr/>
        </p:nvSpPr>
        <p:spPr>
          <a:xfrm>
            <a:off x="347472" y="795528"/>
            <a:ext cx="8961120" cy="1152144"/>
          </a:xfrm>
          <a:gradFill rotWithShape="1">
            <a:gsLst>
              <a:gs pos="0">
                <a:srgbClr val="D6F0FF"/>
              </a:gs>
              <a:gs pos="45000">
                <a:srgbClr val="F5FCFF"/>
              </a:gs>
              <a:gs pos="100000">
                <a:srgbClr val="C6EBFF"/>
              </a:gs>
            </a:gsLst>
            <a:lin ang="0" scaled="1"/>
          </a:gradFill>
          <a:prstGeom prst="roundRect">
            <a:avLst>
              <a:gd name="adj" fmla="val 12698"/>
            </a:avLst>
          </a:prstGeom>
          <a:ln w="20320">
            <a:solidFill>
              <a:srgbClr val="008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标题色带_实验准备"/>
          <p:cNvSpPr/>
          <p:nvPr/>
        </p:nvSpPr>
        <p:spPr>
          <a:xfrm>
            <a:off x="1746504" y="886968"/>
            <a:ext cx="6949440" cy="420624"/>
          </a:xfrm>
          <a:gradFill rotWithShape="1">
            <a:gsLst>
              <a:gs pos="0">
                <a:srgbClr val="91D0F7"/>
              </a:gs>
              <a:gs pos="100000">
                <a:srgbClr val="E5F7FF"/>
              </a:gs>
            </a:gsLst>
            <a:lin ang="0" scaled="1"/>
          </a:gradFill>
          <a:prstGeom prst="roundRect">
            <a:avLst>
              <a:gd name="adj" fmla="val 43478"/>
            </a:avLst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独立插图_document" descr="docu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478" y="868680"/>
            <a:ext cx="1067602" cy="1005840"/>
          </a:xfrm>
          <a:prstGeom prst="rect">
            <a:avLst/>
          </a:prstGeom>
        </p:spPr>
      </p:pic>
      <p:sp>
        <p:nvSpPr>
          <p:cNvPr id="8" name="实验准备"/>
          <p:cNvSpPr txBox="1"/>
          <p:nvPr/>
        </p:nvSpPr>
        <p:spPr>
          <a:xfrm>
            <a:off x="2011680" y="896112"/>
            <a:ext cx="6803136" cy="4114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20" b="1">
                <a:solidFill>
                  <a:srgbClr val="073679"/>
                </a:solidFill>
                <a:latin typeface="Noto Serif CJK SC"/>
                <a:ea typeface="Noto Serif CJK SC"/>
              </a:rPr>
              <a:t>实验准备</a:t>
            </a:r>
          </a:p>
        </p:txBody>
      </p:sp>
      <p:sp>
        <p:nvSpPr>
          <p:cNvPr id="9" name="文献研究、实验方案制定、动物伦理审批"/>
          <p:cNvSpPr txBox="1"/>
          <p:nvPr/>
        </p:nvSpPr>
        <p:spPr>
          <a:xfrm>
            <a:off x="2011680" y="1362456"/>
            <a:ext cx="5486400" cy="52120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0242D"/>
                </a:solidFill>
                <a:latin typeface="Noto Sans CJK SC"/>
                <a:ea typeface="Noto Sans CJK SC"/>
              </a:rPr>
              <a:t>文献研究、实验方案制定、动物伦理审批</a:t>
            </a:r>
          </a:p>
        </p:txBody>
      </p:sp>
      <p:sp>
        <p:nvSpPr>
          <p:cNvPr id="10" name="流程框_实验动物准备"/>
          <p:cNvSpPr/>
          <p:nvPr/>
        </p:nvSpPr>
        <p:spPr>
          <a:xfrm>
            <a:off x="347472" y="2121408"/>
            <a:ext cx="8961120" cy="1170432"/>
          </a:xfrm>
          <a:gradFill rotWithShape="1">
            <a:gsLst>
              <a:gs pos="0">
                <a:srgbClr val="D6F0FF"/>
              </a:gs>
              <a:gs pos="45000">
                <a:srgbClr val="F5FCFF"/>
              </a:gs>
              <a:gs pos="100000">
                <a:srgbClr val="C6EBFF"/>
              </a:gs>
            </a:gsLst>
            <a:lin ang="0" scaled="1"/>
          </a:gradFill>
          <a:prstGeom prst="roundRect">
            <a:avLst>
              <a:gd name="adj" fmla="val 12500"/>
            </a:avLst>
          </a:prstGeom>
          <a:ln w="20320">
            <a:solidFill>
              <a:srgbClr val="008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标题色带_实验动物准备"/>
          <p:cNvSpPr/>
          <p:nvPr/>
        </p:nvSpPr>
        <p:spPr>
          <a:xfrm>
            <a:off x="1746504" y="2212848"/>
            <a:ext cx="6949440" cy="420624"/>
          </a:xfrm>
          <a:gradFill rotWithShape="1">
            <a:gsLst>
              <a:gs pos="0">
                <a:srgbClr val="91D0F7"/>
              </a:gs>
              <a:gs pos="100000">
                <a:srgbClr val="E5F7FF"/>
              </a:gs>
            </a:gsLst>
            <a:lin ang="0" scaled="1"/>
          </a:gradFill>
          <a:prstGeom prst="roundRect">
            <a:avLst>
              <a:gd name="adj" fmla="val 43478"/>
            </a:avLst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独立插图_rat" descr="r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867" y="2194560"/>
            <a:ext cx="1100824" cy="1024128"/>
          </a:xfrm>
          <a:prstGeom prst="rect">
            <a:avLst/>
          </a:prstGeom>
        </p:spPr>
      </p:pic>
      <p:sp>
        <p:nvSpPr>
          <p:cNvPr id="13" name="实验动物准备"/>
          <p:cNvSpPr txBox="1"/>
          <p:nvPr/>
        </p:nvSpPr>
        <p:spPr>
          <a:xfrm>
            <a:off x="2011680" y="2221992"/>
            <a:ext cx="6803136" cy="4114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20" b="1">
                <a:solidFill>
                  <a:srgbClr val="073679"/>
                </a:solidFill>
                <a:latin typeface="Noto Serif CJK SC"/>
                <a:ea typeface="Noto Serif CJK SC"/>
              </a:rPr>
              <a:t>实验动物准备</a:t>
            </a:r>
          </a:p>
        </p:txBody>
      </p:sp>
      <p:sp>
        <p:nvSpPr>
          <p:cNvPr id="14" name="成年SD大鼠适应性饲养、基线行为学评价及随机分组"/>
          <p:cNvSpPr txBox="1"/>
          <p:nvPr/>
        </p:nvSpPr>
        <p:spPr>
          <a:xfrm>
            <a:off x="2011680" y="2688336"/>
            <a:ext cx="7040880" cy="5394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0242D"/>
                </a:solidFill>
                <a:latin typeface="Noto Sans CJK SC"/>
                <a:ea typeface="Noto Sans CJK SC"/>
              </a:rPr>
              <a:t>成年SD大鼠适应性饲养、基线行为学评价及随机分组</a:t>
            </a:r>
          </a:p>
        </p:txBody>
      </p:sp>
      <p:sp>
        <p:nvSpPr>
          <p:cNvPr id="15" name="流程框_实验分组"/>
          <p:cNvSpPr/>
          <p:nvPr/>
        </p:nvSpPr>
        <p:spPr>
          <a:xfrm>
            <a:off x="347472" y="3447288"/>
            <a:ext cx="8961120" cy="1490472"/>
          </a:xfrm>
          <a:gradFill rotWithShape="1">
            <a:gsLst>
              <a:gs pos="0">
                <a:srgbClr val="D6F0FF"/>
              </a:gs>
              <a:gs pos="45000">
                <a:srgbClr val="F5FCFF"/>
              </a:gs>
              <a:gs pos="100000">
                <a:srgbClr val="C6EBFF"/>
              </a:gs>
            </a:gsLst>
            <a:lin ang="0" scaled="1"/>
          </a:gradFill>
          <a:prstGeom prst="roundRect">
            <a:avLst>
              <a:gd name="adj" fmla="val 9815"/>
            </a:avLst>
          </a:prstGeom>
          <a:ln w="20320">
            <a:solidFill>
              <a:srgbClr val="008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标题色带_实验分组"/>
          <p:cNvSpPr/>
          <p:nvPr/>
        </p:nvSpPr>
        <p:spPr>
          <a:xfrm>
            <a:off x="1746504" y="3538728"/>
            <a:ext cx="6949440" cy="420624"/>
          </a:xfrm>
          <a:gradFill rotWithShape="1">
            <a:gsLst>
              <a:gs pos="0">
                <a:srgbClr val="91D0F7"/>
              </a:gs>
              <a:gs pos="100000">
                <a:srgbClr val="E5F7FF"/>
              </a:gs>
            </a:gsLst>
            <a:lin ang="0" scaled="1"/>
          </a:gradFill>
          <a:prstGeom prst="roundRect">
            <a:avLst>
              <a:gd name="adj" fmla="val 43478"/>
            </a:avLst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独立插图_people" descr="peo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" y="3610704"/>
            <a:ext cx="1152143" cy="1072199"/>
          </a:xfrm>
          <a:prstGeom prst="rect">
            <a:avLst/>
          </a:prstGeom>
        </p:spPr>
      </p:pic>
      <p:sp>
        <p:nvSpPr>
          <p:cNvPr id="18" name="实验分组"/>
          <p:cNvSpPr txBox="1"/>
          <p:nvPr/>
        </p:nvSpPr>
        <p:spPr>
          <a:xfrm>
            <a:off x="2011680" y="3547872"/>
            <a:ext cx="6803136" cy="4114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20" b="1">
                <a:solidFill>
                  <a:srgbClr val="073679"/>
                </a:solidFill>
                <a:latin typeface="Noto Serif CJK SC"/>
                <a:ea typeface="Noto Serif CJK SC"/>
              </a:rPr>
              <a:t>实验分组</a:t>
            </a:r>
          </a:p>
        </p:txBody>
      </p:sp>
      <p:sp>
        <p:nvSpPr>
          <p:cNvPr id="19" name="正常对照组（Control）&#10;CUMS模型组（Model）&#10;逍遥散预防"/>
          <p:cNvSpPr txBox="1"/>
          <p:nvPr/>
        </p:nvSpPr>
        <p:spPr>
          <a:xfrm>
            <a:off x="2020824" y="4005072"/>
            <a:ext cx="3328416" cy="8412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0242D"/>
                </a:solidFill>
                <a:latin typeface="Noto Sans CJK SC"/>
                <a:ea typeface="Noto Sans CJK SC"/>
              </a:rPr>
              <a:t>正常对照组（Control）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0242D"/>
                </a:solidFill>
                <a:latin typeface="Noto Sans CJK SC"/>
                <a:ea typeface="Noto Sans CJK SC"/>
              </a:rPr>
              <a:t>CUMS模型组（Model）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0242D"/>
                </a:solidFill>
                <a:latin typeface="Noto Sans CJK SC"/>
                <a:ea typeface="Noto Sans CJK SC"/>
              </a:rPr>
              <a:t>逍遥散预防性干预组（XYS）</a:t>
            </a:r>
          </a:p>
        </p:txBody>
      </p:sp>
      <p:sp>
        <p:nvSpPr>
          <p:cNvPr id="20" name="流程框_模型建立与药物干预"/>
          <p:cNvSpPr/>
          <p:nvPr/>
        </p:nvSpPr>
        <p:spPr>
          <a:xfrm>
            <a:off x="347472" y="5102352"/>
            <a:ext cx="8961120" cy="1819656"/>
          </a:xfrm>
          <a:gradFill rotWithShape="1">
            <a:gsLst>
              <a:gs pos="0">
                <a:srgbClr val="D6F0FF"/>
              </a:gs>
              <a:gs pos="45000">
                <a:srgbClr val="F5FCFF"/>
              </a:gs>
              <a:gs pos="100000">
                <a:srgbClr val="C6EBFF"/>
              </a:gs>
            </a:gsLst>
            <a:lin ang="0" scaled="1"/>
          </a:gradFill>
          <a:prstGeom prst="roundRect">
            <a:avLst>
              <a:gd name="adj" fmla="val 8040"/>
            </a:avLst>
          </a:prstGeom>
          <a:ln w="20320">
            <a:solidFill>
              <a:srgbClr val="008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标题色带_模型建立与药物干预"/>
          <p:cNvSpPr/>
          <p:nvPr/>
        </p:nvSpPr>
        <p:spPr>
          <a:xfrm>
            <a:off x="1746504" y="5193792"/>
            <a:ext cx="6949440" cy="420624"/>
          </a:xfrm>
          <a:gradFill rotWithShape="1">
            <a:gsLst>
              <a:gs pos="0">
                <a:srgbClr val="91D0F7"/>
              </a:gs>
              <a:gs pos="100000">
                <a:srgbClr val="E5F7FF"/>
              </a:gs>
            </a:gsLst>
            <a:lin ang="0" scaled="1"/>
          </a:gradFill>
          <a:prstGeom prst="roundRect">
            <a:avLst>
              <a:gd name="adj" fmla="val 43478"/>
            </a:avLst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独立插图_medicine" descr="medici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08" y="5265768"/>
            <a:ext cx="1152143" cy="1072199"/>
          </a:xfrm>
          <a:prstGeom prst="rect">
            <a:avLst/>
          </a:prstGeom>
        </p:spPr>
      </p:pic>
      <p:sp>
        <p:nvSpPr>
          <p:cNvPr id="23" name="模型建立与药物干预"/>
          <p:cNvSpPr txBox="1"/>
          <p:nvPr/>
        </p:nvSpPr>
        <p:spPr>
          <a:xfrm>
            <a:off x="2011680" y="5202936"/>
            <a:ext cx="6803136" cy="4114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20" b="1">
                <a:solidFill>
                  <a:srgbClr val="073679"/>
                </a:solidFill>
                <a:latin typeface="Noto Serif CJK SC"/>
                <a:ea typeface="Noto Serif CJK SC"/>
              </a:rPr>
              <a:t>模型建立与药物干预</a:t>
            </a:r>
          </a:p>
        </p:txBody>
      </p:sp>
      <p:sp>
        <p:nvSpPr>
          <p:cNvPr id="24" name="逍遥散预防组提前给药 7 d&#10;建立CUMS模型（拟定4~6周）&#10;逍遥散"/>
          <p:cNvSpPr txBox="1"/>
          <p:nvPr/>
        </p:nvSpPr>
        <p:spPr>
          <a:xfrm>
            <a:off x="2020824" y="5705856"/>
            <a:ext cx="3950208" cy="10972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20242D"/>
                </a:solidFill>
                <a:latin typeface="Noto Sans CJK SC"/>
                <a:ea typeface="Noto Sans CJK SC"/>
              </a:rPr>
              <a:t>逍遥散预防组提前给药 7 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20242D"/>
                </a:solidFill>
                <a:latin typeface="Noto Sans CJK SC"/>
                <a:ea typeface="Noto Sans CJK SC"/>
              </a:rPr>
              <a:t>建立CUMS模型（拟定4~6周）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20242D"/>
                </a:solidFill>
                <a:latin typeface="Noto Sans CJK SC"/>
                <a:ea typeface="Noto Sans CJK SC"/>
              </a:rPr>
              <a:t>逍遥散预防组在造模期间持续给药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20242D"/>
                </a:solidFill>
                <a:latin typeface="Noto Sans CJK SC"/>
                <a:ea typeface="Noto Sans CJK SC"/>
              </a:rPr>
              <a:t>正常对照组与模型组同期给予溶媒处理</a:t>
            </a:r>
          </a:p>
        </p:txBody>
      </p:sp>
      <p:sp>
        <p:nvSpPr>
          <p:cNvPr id="25" name="流程框_行为学评价"/>
          <p:cNvSpPr/>
          <p:nvPr/>
        </p:nvSpPr>
        <p:spPr>
          <a:xfrm>
            <a:off x="347472" y="7040880"/>
            <a:ext cx="8961120" cy="1344168"/>
          </a:xfrm>
          <a:gradFill rotWithShape="1">
            <a:gsLst>
              <a:gs pos="0">
                <a:srgbClr val="D6F0FF"/>
              </a:gs>
              <a:gs pos="45000">
                <a:srgbClr val="F5FCFF"/>
              </a:gs>
              <a:gs pos="100000">
                <a:srgbClr val="C6EBFF"/>
              </a:gs>
            </a:gsLst>
            <a:lin ang="0" scaled="1"/>
          </a:gradFill>
          <a:prstGeom prst="roundRect">
            <a:avLst>
              <a:gd name="adj" fmla="val 10884"/>
            </a:avLst>
          </a:prstGeom>
          <a:ln w="20320">
            <a:solidFill>
              <a:srgbClr val="008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标题色带_行为学评价"/>
          <p:cNvSpPr/>
          <p:nvPr/>
        </p:nvSpPr>
        <p:spPr>
          <a:xfrm>
            <a:off x="1746504" y="7132320"/>
            <a:ext cx="6949440" cy="420624"/>
          </a:xfrm>
          <a:gradFill rotWithShape="1">
            <a:gsLst>
              <a:gs pos="0">
                <a:srgbClr val="91D0F7"/>
              </a:gs>
              <a:gs pos="100000">
                <a:srgbClr val="E5F7FF"/>
              </a:gs>
            </a:gsLst>
            <a:lin ang="0" scaled="1"/>
          </a:gradFill>
          <a:prstGeom prst="roundRect">
            <a:avLst>
              <a:gd name="adj" fmla="val 43478"/>
            </a:avLst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独立插图_arena_icon" descr="arena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1208" y="7195674"/>
            <a:ext cx="1152143" cy="1034578"/>
          </a:xfrm>
          <a:prstGeom prst="rect">
            <a:avLst/>
          </a:prstGeom>
        </p:spPr>
      </p:pic>
      <p:sp>
        <p:nvSpPr>
          <p:cNvPr id="28" name="行为学评价"/>
          <p:cNvSpPr txBox="1"/>
          <p:nvPr/>
        </p:nvSpPr>
        <p:spPr>
          <a:xfrm>
            <a:off x="2011680" y="7141464"/>
            <a:ext cx="6803136" cy="4114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20" b="1">
                <a:solidFill>
                  <a:srgbClr val="073679"/>
                </a:solidFill>
                <a:latin typeface="Noto Serif CJK SC"/>
                <a:ea typeface="Noto Serif CJK SC"/>
              </a:rPr>
              <a:t>行为学评价</a:t>
            </a:r>
          </a:p>
        </p:txBody>
      </p:sp>
      <p:sp>
        <p:nvSpPr>
          <p:cNvPr id="29" name="糖水偏好实验（SPT）&#10;旷场实验（OFT）"/>
          <p:cNvSpPr txBox="1"/>
          <p:nvPr/>
        </p:nvSpPr>
        <p:spPr>
          <a:xfrm>
            <a:off x="2011680" y="7607808"/>
            <a:ext cx="5486400" cy="7132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0242D"/>
                </a:solidFill>
                <a:latin typeface="Noto Sans CJK SC"/>
                <a:ea typeface="Noto Sans CJK SC"/>
              </a:rPr>
              <a:t>糖水偏好实验（SPT）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0242D"/>
                </a:solidFill>
                <a:latin typeface="Noto Sans CJK SC"/>
                <a:ea typeface="Noto Sans CJK SC"/>
              </a:rPr>
              <a:t>旷场实验（OFT）</a:t>
            </a:r>
          </a:p>
        </p:txBody>
      </p:sp>
      <p:sp>
        <p:nvSpPr>
          <p:cNvPr id="30" name="流程框_脑组织取材及样本处理"/>
          <p:cNvSpPr/>
          <p:nvPr/>
        </p:nvSpPr>
        <p:spPr>
          <a:xfrm>
            <a:off x="347472" y="8503920"/>
            <a:ext cx="8961120" cy="1088136"/>
          </a:xfrm>
          <a:gradFill rotWithShape="1">
            <a:gsLst>
              <a:gs pos="0">
                <a:srgbClr val="D6F0FF"/>
              </a:gs>
              <a:gs pos="45000">
                <a:srgbClr val="F5FCFF"/>
              </a:gs>
              <a:gs pos="100000">
                <a:srgbClr val="C6EBFF"/>
              </a:gs>
            </a:gsLst>
            <a:lin ang="0" scaled="1"/>
          </a:gradFill>
          <a:prstGeom prst="roundRect">
            <a:avLst>
              <a:gd name="adj" fmla="val 13445"/>
            </a:avLst>
          </a:prstGeom>
          <a:ln w="20320">
            <a:solidFill>
              <a:srgbClr val="008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标题色带_脑组织取材及样本处理"/>
          <p:cNvSpPr/>
          <p:nvPr/>
        </p:nvSpPr>
        <p:spPr>
          <a:xfrm>
            <a:off x="1746504" y="8595360"/>
            <a:ext cx="6949440" cy="420624"/>
          </a:xfrm>
          <a:gradFill rotWithShape="1">
            <a:gsLst>
              <a:gs pos="0">
                <a:srgbClr val="91D0F7"/>
              </a:gs>
              <a:gs pos="100000">
                <a:srgbClr val="E5F7FF"/>
              </a:gs>
            </a:gsLst>
            <a:lin ang="0" scaled="1"/>
          </a:gradFill>
          <a:prstGeom prst="roundRect">
            <a:avLst>
              <a:gd name="adj" fmla="val 43478"/>
            </a:avLst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独立插图_brain_icon" descr="brain_ic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2850" y="8577072"/>
            <a:ext cx="1048858" cy="941832"/>
          </a:xfrm>
          <a:prstGeom prst="rect">
            <a:avLst/>
          </a:prstGeom>
        </p:spPr>
      </p:pic>
      <p:sp>
        <p:nvSpPr>
          <p:cNvPr id="33" name="脑组织取材及样本处理"/>
          <p:cNvSpPr txBox="1"/>
          <p:nvPr/>
        </p:nvSpPr>
        <p:spPr>
          <a:xfrm>
            <a:off x="2011680" y="8604504"/>
            <a:ext cx="6803136" cy="4114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20" b="1">
                <a:solidFill>
                  <a:srgbClr val="073679"/>
                </a:solidFill>
                <a:latin typeface="Noto Serif CJK SC"/>
                <a:ea typeface="Noto Serif CJK SC"/>
              </a:rPr>
              <a:t>脑组织取材及样本处理</a:t>
            </a:r>
          </a:p>
        </p:txBody>
      </p:sp>
      <p:sp>
        <p:nvSpPr>
          <p:cNvPr id="34" name="统一范围取材、分装、低温保存"/>
          <p:cNvSpPr txBox="1"/>
          <p:nvPr/>
        </p:nvSpPr>
        <p:spPr>
          <a:xfrm>
            <a:off x="2011680" y="9070848"/>
            <a:ext cx="548640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0242D"/>
                </a:solidFill>
                <a:latin typeface="Noto Sans CJK SC"/>
                <a:ea typeface="Noto Sans CJK SC"/>
              </a:rPr>
              <a:t>统一范围取材、分装、低温保存</a:t>
            </a:r>
          </a:p>
        </p:txBody>
      </p:sp>
      <p:sp>
        <p:nvSpPr>
          <p:cNvPr id="35" name="流程框_相关指标检测"/>
          <p:cNvSpPr/>
          <p:nvPr/>
        </p:nvSpPr>
        <p:spPr>
          <a:xfrm>
            <a:off x="347472" y="9710928"/>
            <a:ext cx="8961120" cy="1252728"/>
          </a:xfrm>
          <a:gradFill rotWithShape="1">
            <a:gsLst>
              <a:gs pos="0">
                <a:srgbClr val="D6F0FF"/>
              </a:gs>
              <a:gs pos="45000">
                <a:srgbClr val="F5FCFF"/>
              </a:gs>
              <a:gs pos="100000">
                <a:srgbClr val="C6EBFF"/>
              </a:gs>
            </a:gsLst>
            <a:lin ang="0" scaled="1"/>
          </a:gradFill>
          <a:prstGeom prst="roundRect">
            <a:avLst>
              <a:gd name="adj" fmla="val 11678"/>
            </a:avLst>
          </a:prstGeom>
          <a:ln w="20320">
            <a:solidFill>
              <a:srgbClr val="008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标题色带_相关指标检测"/>
          <p:cNvSpPr/>
          <p:nvPr/>
        </p:nvSpPr>
        <p:spPr>
          <a:xfrm>
            <a:off x="1746504" y="9802368"/>
            <a:ext cx="6949440" cy="420624"/>
          </a:xfrm>
          <a:gradFill rotWithShape="1">
            <a:gsLst>
              <a:gs pos="0">
                <a:srgbClr val="91D0F7"/>
              </a:gs>
              <a:gs pos="100000">
                <a:srgbClr val="E5F7FF"/>
              </a:gs>
            </a:gsLst>
            <a:lin ang="0" scaled="1"/>
          </a:gradFill>
          <a:prstGeom prst="roundRect">
            <a:avLst>
              <a:gd name="adj" fmla="val 43478"/>
            </a:avLst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独立插图_tubes" descr="tube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1208" y="9820002"/>
            <a:ext cx="1152143" cy="1034578"/>
          </a:xfrm>
          <a:prstGeom prst="rect">
            <a:avLst/>
          </a:prstGeom>
        </p:spPr>
      </p:pic>
      <p:sp>
        <p:nvSpPr>
          <p:cNvPr id="38" name="相关指标检测"/>
          <p:cNvSpPr txBox="1"/>
          <p:nvPr/>
        </p:nvSpPr>
        <p:spPr>
          <a:xfrm>
            <a:off x="2011680" y="9811512"/>
            <a:ext cx="6803136" cy="4114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20" b="1">
                <a:solidFill>
                  <a:srgbClr val="073679"/>
                </a:solidFill>
                <a:latin typeface="Noto Serif CJK SC"/>
                <a:ea typeface="Noto Serif CJK SC"/>
              </a:rPr>
              <a:t>相关指标检测</a:t>
            </a:r>
          </a:p>
        </p:txBody>
      </p:sp>
      <p:sp>
        <p:nvSpPr>
          <p:cNvPr id="39" name="Western blot：SIRT1、PGC-1α&#10;生化检测：ATP、"/>
          <p:cNvSpPr txBox="1"/>
          <p:nvPr/>
        </p:nvSpPr>
        <p:spPr>
          <a:xfrm>
            <a:off x="2011680" y="10277856"/>
            <a:ext cx="5486400" cy="6217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0242D"/>
                </a:solidFill>
                <a:latin typeface="Noto Sans CJK SC"/>
                <a:ea typeface="Noto Sans CJK SC"/>
              </a:rPr>
              <a:t>Western blot：SIRT1、PGC-1α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0242D"/>
                </a:solidFill>
                <a:latin typeface="Noto Sans CJK SC"/>
                <a:ea typeface="Noto Sans CJK SC"/>
              </a:rPr>
              <a:t>生化检测：ATP、MDA、SOD</a:t>
            </a:r>
          </a:p>
        </p:txBody>
      </p:sp>
      <p:sp>
        <p:nvSpPr>
          <p:cNvPr id="40" name="流程框_数据统计与综合分析"/>
          <p:cNvSpPr/>
          <p:nvPr/>
        </p:nvSpPr>
        <p:spPr>
          <a:xfrm>
            <a:off x="347472" y="11109960"/>
            <a:ext cx="8961120" cy="1225296"/>
          </a:xfrm>
          <a:gradFill rotWithShape="1">
            <a:gsLst>
              <a:gs pos="0">
                <a:srgbClr val="D6F0FF"/>
              </a:gs>
              <a:gs pos="45000">
                <a:srgbClr val="F5FCFF"/>
              </a:gs>
              <a:gs pos="100000">
                <a:srgbClr val="C6EBFF"/>
              </a:gs>
            </a:gsLst>
            <a:lin ang="0" scaled="1"/>
          </a:gradFill>
          <a:prstGeom prst="roundRect">
            <a:avLst>
              <a:gd name="adj" fmla="val 11940"/>
            </a:avLst>
          </a:prstGeom>
          <a:ln w="20320">
            <a:solidFill>
              <a:srgbClr val="008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标题色带_数据统计与综合分析"/>
          <p:cNvSpPr/>
          <p:nvPr/>
        </p:nvSpPr>
        <p:spPr>
          <a:xfrm>
            <a:off x="1746504" y="11201400"/>
            <a:ext cx="6949440" cy="420624"/>
          </a:xfrm>
          <a:gradFill rotWithShape="1">
            <a:gsLst>
              <a:gs pos="0">
                <a:srgbClr val="91D0F7"/>
              </a:gs>
              <a:gs pos="100000">
                <a:srgbClr val="E5F7FF"/>
              </a:gs>
            </a:gsLst>
            <a:lin ang="0" scaled="1"/>
          </a:gradFill>
          <a:prstGeom prst="roundRect">
            <a:avLst>
              <a:gd name="adj" fmla="val 43478"/>
            </a:avLst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独立插图_bars" descr="bar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1208" y="11205318"/>
            <a:ext cx="1152143" cy="1034578"/>
          </a:xfrm>
          <a:prstGeom prst="rect">
            <a:avLst/>
          </a:prstGeom>
        </p:spPr>
      </p:pic>
      <p:sp>
        <p:nvSpPr>
          <p:cNvPr id="43" name="数据统计与综合分析"/>
          <p:cNvSpPr txBox="1"/>
          <p:nvPr/>
        </p:nvSpPr>
        <p:spPr>
          <a:xfrm>
            <a:off x="2011680" y="11210544"/>
            <a:ext cx="6803136" cy="4114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20" b="1">
                <a:solidFill>
                  <a:srgbClr val="073679"/>
                </a:solidFill>
                <a:latin typeface="Noto Serif CJK SC"/>
                <a:ea typeface="Noto Serif CJK SC"/>
              </a:rPr>
              <a:t>数据统计与综合分析</a:t>
            </a:r>
          </a:p>
        </p:txBody>
      </p:sp>
      <p:sp>
        <p:nvSpPr>
          <p:cNvPr id="44" name="比较各组行为学、蛋白表达及生化指标的差异&#10;分析逍遥散干预后的相关指标变"/>
          <p:cNvSpPr txBox="1"/>
          <p:nvPr/>
        </p:nvSpPr>
        <p:spPr>
          <a:xfrm>
            <a:off x="2020824" y="11704320"/>
            <a:ext cx="4151376" cy="5760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>
                <a:solidFill>
                  <a:srgbClr val="20242D"/>
                </a:solidFill>
                <a:latin typeface="Noto Sans CJK SC"/>
                <a:ea typeface="Noto Sans CJK SC"/>
              </a:rPr>
              <a:t>比较各组行为学、蛋白表达及生化指标的差异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>
                <a:solidFill>
                  <a:srgbClr val="20242D"/>
                </a:solidFill>
                <a:latin typeface="Noto Sans CJK SC"/>
                <a:ea typeface="Noto Sans CJK SC"/>
              </a:rPr>
              <a:t>分析逍遥散干预后的相关指标变化</a:t>
            </a:r>
          </a:p>
        </p:txBody>
      </p:sp>
      <p:sp>
        <p:nvSpPr>
          <p:cNvPr id="45" name="流程框_研究结论"/>
          <p:cNvSpPr/>
          <p:nvPr/>
        </p:nvSpPr>
        <p:spPr>
          <a:xfrm>
            <a:off x="347472" y="12472416"/>
            <a:ext cx="8961120" cy="1097280"/>
          </a:xfrm>
          <a:gradFill rotWithShape="1">
            <a:gsLst>
              <a:gs pos="0">
                <a:srgbClr val="D6F0FF"/>
              </a:gs>
              <a:gs pos="45000">
                <a:srgbClr val="F5FCFF"/>
              </a:gs>
              <a:gs pos="100000">
                <a:srgbClr val="C6EBFF"/>
              </a:gs>
            </a:gsLst>
            <a:lin ang="0" scaled="1"/>
          </a:gradFill>
          <a:prstGeom prst="roundRect">
            <a:avLst>
              <a:gd name="adj" fmla="val 13333"/>
            </a:avLst>
          </a:prstGeom>
          <a:ln w="20320">
            <a:solidFill>
              <a:srgbClr val="008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标题色带_研究结论"/>
          <p:cNvSpPr/>
          <p:nvPr/>
        </p:nvSpPr>
        <p:spPr>
          <a:xfrm>
            <a:off x="1746504" y="12563856"/>
            <a:ext cx="6949440" cy="420624"/>
          </a:xfrm>
          <a:gradFill rotWithShape="1">
            <a:gsLst>
              <a:gs pos="0">
                <a:srgbClr val="91D0F7"/>
              </a:gs>
              <a:gs pos="100000">
                <a:srgbClr val="E5F7FF"/>
              </a:gs>
            </a:gsLst>
            <a:lin ang="0" scaled="1"/>
          </a:gradFill>
          <a:prstGeom prst="roundRect">
            <a:avLst>
              <a:gd name="adj" fmla="val 43478"/>
            </a:avLst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独立插图_bulb" descr="bulb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5134" y="12545568"/>
            <a:ext cx="1084290" cy="950976"/>
          </a:xfrm>
          <a:prstGeom prst="rect">
            <a:avLst/>
          </a:prstGeom>
        </p:spPr>
      </p:pic>
      <p:sp>
        <p:nvSpPr>
          <p:cNvPr id="48" name="研究结论"/>
          <p:cNvSpPr txBox="1"/>
          <p:nvPr/>
        </p:nvSpPr>
        <p:spPr>
          <a:xfrm>
            <a:off x="2011680" y="12573000"/>
            <a:ext cx="6803136" cy="4114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20" b="1">
                <a:solidFill>
                  <a:srgbClr val="073679"/>
                </a:solidFill>
                <a:latin typeface="Noto Serif CJK SC"/>
                <a:ea typeface="Noto Serif CJK SC"/>
              </a:rPr>
              <a:t>研究结论</a:t>
            </a:r>
          </a:p>
        </p:txBody>
      </p:sp>
      <p:sp>
        <p:nvSpPr>
          <p:cNvPr id="49" name="评价逍遥散对CUMS大鼠抑郁样行为的预防性干预作用&#10;初步探讨其与SIR"/>
          <p:cNvSpPr txBox="1"/>
          <p:nvPr/>
        </p:nvSpPr>
        <p:spPr>
          <a:xfrm>
            <a:off x="2039112" y="13011912"/>
            <a:ext cx="708660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61" b="0">
                <a:solidFill>
                  <a:srgbClr val="20242D"/>
                </a:solidFill>
                <a:latin typeface="Noto Sans CJK SC"/>
                <a:ea typeface="Noto Sans CJK SC"/>
              </a:rPr>
              <a:t>评价逍遥散对CUMS大鼠抑郁样行为的预防性干预作用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61" b="0">
                <a:solidFill>
                  <a:srgbClr val="20242D"/>
                </a:solidFill>
                <a:latin typeface="Noto Sans CJK SC"/>
                <a:ea typeface="Noto Sans CJK SC"/>
              </a:rPr>
              <a:t>初步探讨其与SIRT1/PGC-1α相关信号及脑组织能量代谢、氧化应激变化之间的关系</a:t>
            </a:r>
          </a:p>
        </p:txBody>
      </p:sp>
      <p:pic>
        <p:nvPicPr>
          <p:cNvPr id="50" name="独立插图_papers" descr="paper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80226" y="896112"/>
            <a:ext cx="1569563" cy="996696"/>
          </a:xfrm>
          <a:prstGeom prst="rect">
            <a:avLst/>
          </a:prstGeom>
        </p:spPr>
      </p:pic>
      <p:pic>
        <p:nvPicPr>
          <p:cNvPr id="51" name="独立插图_housing" descr="housing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13401" y="2203704"/>
            <a:ext cx="1586677" cy="1005840"/>
          </a:xfrm>
          <a:prstGeom prst="rect">
            <a:avLst/>
          </a:prstGeom>
        </p:spPr>
      </p:pic>
      <p:sp>
        <p:nvSpPr>
          <p:cNvPr id="52" name="分组插图底板_control"/>
          <p:cNvSpPr/>
          <p:nvPr/>
        </p:nvSpPr>
        <p:spPr>
          <a:xfrm>
            <a:off x="5468112" y="3822191"/>
            <a:ext cx="1170432" cy="822960"/>
          </a:xfrm>
          <a:prstGeom prst="roundRect">
            <a:avLst>
              <a:gd name="adj" fmla="val 10000"/>
            </a:avLst>
          </a:prstGeom>
          <a:solidFill>
            <a:srgbClr val="D6E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独立插图_control" descr="control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504688" y="3882270"/>
            <a:ext cx="1097280" cy="711947"/>
          </a:xfrm>
          <a:prstGeom prst="rect">
            <a:avLst/>
          </a:prstGeom>
        </p:spPr>
      </p:pic>
      <p:sp>
        <p:nvSpPr>
          <p:cNvPr id="54" name="分组插图底板_model"/>
          <p:cNvSpPr/>
          <p:nvPr/>
        </p:nvSpPr>
        <p:spPr>
          <a:xfrm>
            <a:off x="6720840" y="3822191"/>
            <a:ext cx="1170432" cy="822960"/>
          </a:xfrm>
          <a:prstGeom prst="roundRect">
            <a:avLst>
              <a:gd name="adj" fmla="val 10000"/>
            </a:avLst>
          </a:prstGeom>
          <a:solidFill>
            <a:srgbClr val="F0E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独立插图_model" descr="model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757416" y="3890413"/>
            <a:ext cx="1097280" cy="695661"/>
          </a:xfrm>
          <a:prstGeom prst="rect">
            <a:avLst/>
          </a:prstGeom>
        </p:spPr>
      </p:pic>
      <p:sp>
        <p:nvSpPr>
          <p:cNvPr id="56" name="分组插图底板_xys"/>
          <p:cNvSpPr/>
          <p:nvPr/>
        </p:nvSpPr>
        <p:spPr>
          <a:xfrm>
            <a:off x="7946136" y="3822191"/>
            <a:ext cx="1170432" cy="822960"/>
          </a:xfrm>
          <a:prstGeom prst="roundRect">
            <a:avLst>
              <a:gd name="adj" fmla="val 10000"/>
            </a:avLst>
          </a:prstGeom>
          <a:solidFill>
            <a:srgbClr val="BDE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独立插图_xys" descr="xys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982712" y="3888780"/>
            <a:ext cx="1097280" cy="698927"/>
          </a:xfrm>
          <a:prstGeom prst="rect">
            <a:avLst/>
          </a:prstGeom>
        </p:spPr>
      </p:pic>
      <p:pic>
        <p:nvPicPr>
          <p:cNvPr id="58" name="独立插图_injection" descr="injection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481828" y="5285232"/>
            <a:ext cx="1389888" cy="905256"/>
          </a:xfrm>
          <a:prstGeom prst="rect">
            <a:avLst/>
          </a:prstGeom>
        </p:spPr>
      </p:pic>
      <p:pic>
        <p:nvPicPr>
          <p:cNvPr id="59" name="独立插图_spt" descr="spt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568696" y="7274142"/>
            <a:ext cx="1399032" cy="914218"/>
          </a:xfrm>
          <a:prstGeom prst="rect">
            <a:avLst/>
          </a:prstGeom>
        </p:spPr>
      </p:pic>
      <p:pic>
        <p:nvPicPr>
          <p:cNvPr id="60" name="独立插图_oft" descr="oft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501711" y="7196328"/>
            <a:ext cx="1556360" cy="1060704"/>
          </a:xfrm>
          <a:prstGeom prst="rect">
            <a:avLst/>
          </a:prstGeom>
        </p:spPr>
      </p:pic>
      <p:pic>
        <p:nvPicPr>
          <p:cNvPr id="61" name="独立插图_sample" descr="sampl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753195" y="8686800"/>
            <a:ext cx="1434904" cy="768096"/>
          </a:xfrm>
          <a:prstGeom prst="rect">
            <a:avLst/>
          </a:prstGeom>
        </p:spPr>
      </p:pic>
      <p:pic>
        <p:nvPicPr>
          <p:cNvPr id="62" name="独立插图_assays" descr="assays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548710" y="9866376"/>
            <a:ext cx="1816443" cy="960120"/>
          </a:xfrm>
          <a:prstGeom prst="rect">
            <a:avLst/>
          </a:prstGeom>
        </p:spPr>
      </p:pic>
      <p:pic>
        <p:nvPicPr>
          <p:cNvPr id="63" name="独立插图_statistics" descr="statistics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565573" y="11164824"/>
            <a:ext cx="2121044" cy="1133856"/>
          </a:xfrm>
          <a:prstGeom prst="rect">
            <a:avLst/>
          </a:prstGeom>
        </p:spPr>
      </p:pic>
      <p:pic>
        <p:nvPicPr>
          <p:cNvPr id="64" name="独立插图_papers" descr="paper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08199" y="12563856"/>
            <a:ext cx="993576" cy="630936"/>
          </a:xfrm>
          <a:prstGeom prst="rect">
            <a:avLst/>
          </a:prstGeom>
        </p:spPr>
      </p:pic>
      <p:pic>
        <p:nvPicPr>
          <p:cNvPr id="65" name="独立插图_brain_icon" descr="brain_ic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13064" y="12658188"/>
            <a:ext cx="594360" cy="533711"/>
          </a:xfrm>
          <a:prstGeom prst="rect">
            <a:avLst/>
          </a:prstGeom>
        </p:spPr>
      </p:pic>
      <p:sp>
        <p:nvSpPr>
          <p:cNvPr id="66" name="给药与造模时间轴"/>
          <p:cNvSpPr/>
          <p:nvPr/>
        </p:nvSpPr>
        <p:spPr>
          <a:xfrm>
            <a:off x="5788152" y="6007608"/>
            <a:ext cx="3337560" cy="274320"/>
          </a:xfrm>
          <a:gradFill rotWithShape="1">
            <a:gsLst>
              <a:gs pos="0">
                <a:srgbClr val="128ADD"/>
              </a:gs>
              <a:gs pos="27000">
                <a:srgbClr val="FFADB5"/>
              </a:gs>
              <a:gs pos="65000">
                <a:srgbClr val="ED7F93"/>
              </a:gs>
              <a:gs pos="100000">
                <a:srgbClr val="007ADB"/>
              </a:gs>
            </a:gsLst>
            <a:lin ang="0" scaled="1"/>
          </a:gradFill>
          <a:prstGeom prst="rightArrow">
            <a:avLst>
              <a:gd name="adj1" fmla="val 45000"/>
              <a:gd name="adj2" fmla="val 80000"/>
            </a:avLst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时间轴节点"/>
          <p:cNvSpPr/>
          <p:nvPr/>
        </p:nvSpPr>
        <p:spPr>
          <a:xfrm>
            <a:off x="5797296" y="6099048"/>
            <a:ext cx="128016" cy="128016"/>
          </a:xfrm>
          <a:prstGeom prst="ellipse">
            <a:avLst/>
          </a:prstGeom>
          <a:solidFill>
            <a:srgbClr val="0A83DA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时间轴节点"/>
          <p:cNvSpPr/>
          <p:nvPr/>
        </p:nvSpPr>
        <p:spPr>
          <a:xfrm>
            <a:off x="6592824" y="6099048"/>
            <a:ext cx="128016" cy="128016"/>
          </a:xfrm>
          <a:prstGeom prst="ellipse">
            <a:avLst/>
          </a:prstGeom>
          <a:solidFill>
            <a:srgbClr val="0A83DA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时间轴节点"/>
          <p:cNvSpPr/>
          <p:nvPr/>
        </p:nvSpPr>
        <p:spPr>
          <a:xfrm>
            <a:off x="7872983" y="6099048"/>
            <a:ext cx="128016" cy="128016"/>
          </a:xfrm>
          <a:prstGeom prst="ellipse">
            <a:avLst/>
          </a:prstGeom>
          <a:solidFill>
            <a:srgbClr val="0A83DA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提前给药&#10;7 d"/>
          <p:cNvSpPr txBox="1"/>
          <p:nvPr/>
        </p:nvSpPr>
        <p:spPr>
          <a:xfrm>
            <a:off x="5742432" y="6263640"/>
            <a:ext cx="1005840" cy="4663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0">
                <a:solidFill>
                  <a:srgbClr val="073679"/>
                </a:solidFill>
                <a:latin typeface="Noto Sans CJK SC"/>
                <a:ea typeface="Noto Sans CJK SC"/>
              </a:rPr>
              <a:t>提前给药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0">
                <a:solidFill>
                  <a:srgbClr val="073679"/>
                </a:solidFill>
                <a:latin typeface="Noto Sans CJK SC"/>
                <a:ea typeface="Noto Sans CJK SC"/>
              </a:rPr>
              <a:t>7 d</a:t>
            </a:r>
          </a:p>
        </p:txBody>
      </p:sp>
      <p:sp>
        <p:nvSpPr>
          <p:cNvPr id="71" name="CUMS造模&#10;4~6周"/>
          <p:cNvSpPr txBox="1"/>
          <p:nvPr/>
        </p:nvSpPr>
        <p:spPr>
          <a:xfrm>
            <a:off x="6867144" y="6263640"/>
            <a:ext cx="1005840" cy="4663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0">
                <a:solidFill>
                  <a:srgbClr val="073679"/>
                </a:solidFill>
                <a:latin typeface="Noto Sans CJK SC"/>
                <a:ea typeface="Noto Sans CJK SC"/>
              </a:rPr>
              <a:t>CUMS造模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0">
                <a:solidFill>
                  <a:srgbClr val="073679"/>
                </a:solidFill>
                <a:latin typeface="Noto Sans CJK SC"/>
                <a:ea typeface="Noto Sans CJK SC"/>
              </a:rPr>
              <a:t>4~6周</a:t>
            </a:r>
          </a:p>
        </p:txBody>
      </p:sp>
      <p:sp>
        <p:nvSpPr>
          <p:cNvPr id="72" name="持续给药"/>
          <p:cNvSpPr txBox="1"/>
          <p:nvPr/>
        </p:nvSpPr>
        <p:spPr>
          <a:xfrm>
            <a:off x="8147304" y="6263640"/>
            <a:ext cx="841248" cy="4663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0">
                <a:solidFill>
                  <a:srgbClr val="073679"/>
                </a:solidFill>
                <a:latin typeface="Noto Sans CJK SC"/>
                <a:ea typeface="Noto Sans CJK SC"/>
              </a:rPr>
              <a:t>持续给药</a:t>
            </a:r>
          </a:p>
        </p:txBody>
      </p:sp>
      <p:sp>
        <p:nvSpPr>
          <p:cNvPr id="73" name="造模阶段标记"/>
          <p:cNvSpPr/>
          <p:nvPr/>
        </p:nvSpPr>
        <p:spPr>
          <a:xfrm>
            <a:off x="7159752" y="5660136"/>
            <a:ext cx="228600" cy="384048"/>
          </a:xfrm>
          <a:prstGeom prst="lightningBolt">
            <a:avLst/>
          </a:prstGeom>
          <a:solidFill>
            <a:srgbClr val="FF7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流程连接箭头"/>
          <p:cNvSpPr/>
          <p:nvPr/>
        </p:nvSpPr>
        <p:spPr>
          <a:xfrm>
            <a:off x="4608576" y="1856231"/>
            <a:ext cx="429768" cy="374904"/>
          </a:xfrm>
          <a:gradFill rotWithShape="1">
            <a:gsLst>
              <a:gs pos="0">
                <a:srgbClr val="20C5FF"/>
              </a:gs>
              <a:gs pos="100000">
                <a:srgbClr val="007DDA"/>
              </a:gs>
            </a:gsLst>
            <a:lin ang="5400000" scaled="1"/>
          </a:gradFill>
          <a:prstGeom prst="downArrow">
            <a:avLst/>
          </a:prstGeom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流程连接箭头"/>
          <p:cNvSpPr/>
          <p:nvPr/>
        </p:nvSpPr>
        <p:spPr>
          <a:xfrm>
            <a:off x="4608576" y="3191256"/>
            <a:ext cx="429768" cy="374904"/>
          </a:xfrm>
          <a:gradFill rotWithShape="1">
            <a:gsLst>
              <a:gs pos="0">
                <a:srgbClr val="20C5FF"/>
              </a:gs>
              <a:gs pos="100000">
                <a:srgbClr val="007DDA"/>
              </a:gs>
            </a:gsLst>
            <a:lin ang="5400000" scaled="1"/>
          </a:gradFill>
          <a:prstGeom prst="downArrow">
            <a:avLst/>
          </a:prstGeom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流程连接箭头"/>
          <p:cNvSpPr/>
          <p:nvPr/>
        </p:nvSpPr>
        <p:spPr>
          <a:xfrm>
            <a:off x="4608576" y="4846320"/>
            <a:ext cx="429768" cy="374904"/>
          </a:xfrm>
          <a:gradFill rotWithShape="1">
            <a:gsLst>
              <a:gs pos="0">
                <a:srgbClr val="20C5FF"/>
              </a:gs>
              <a:gs pos="100000">
                <a:srgbClr val="007DDA"/>
              </a:gs>
            </a:gsLst>
            <a:lin ang="5400000" scaled="1"/>
          </a:gradFill>
          <a:prstGeom prst="downArrow">
            <a:avLst/>
          </a:prstGeom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流程连接箭头"/>
          <p:cNvSpPr/>
          <p:nvPr/>
        </p:nvSpPr>
        <p:spPr>
          <a:xfrm>
            <a:off x="4608576" y="6876288"/>
            <a:ext cx="429768" cy="374904"/>
          </a:xfrm>
          <a:gradFill rotWithShape="1">
            <a:gsLst>
              <a:gs pos="0">
                <a:srgbClr val="20C5FF"/>
              </a:gs>
              <a:gs pos="100000">
                <a:srgbClr val="007DDA"/>
              </a:gs>
            </a:gsLst>
            <a:lin ang="5400000" scaled="1"/>
          </a:gradFill>
          <a:prstGeom prst="downArrow">
            <a:avLst/>
          </a:prstGeom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流程连接箭头"/>
          <p:cNvSpPr/>
          <p:nvPr/>
        </p:nvSpPr>
        <p:spPr>
          <a:xfrm>
            <a:off x="4608576" y="8284464"/>
            <a:ext cx="429768" cy="374904"/>
          </a:xfrm>
          <a:gradFill rotWithShape="1">
            <a:gsLst>
              <a:gs pos="0">
                <a:srgbClr val="20C5FF"/>
              </a:gs>
              <a:gs pos="100000">
                <a:srgbClr val="007DDA"/>
              </a:gs>
            </a:gsLst>
            <a:lin ang="5400000" scaled="1"/>
          </a:gradFill>
          <a:prstGeom prst="downArrow">
            <a:avLst/>
          </a:prstGeom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流程连接箭头"/>
          <p:cNvSpPr/>
          <p:nvPr/>
        </p:nvSpPr>
        <p:spPr>
          <a:xfrm>
            <a:off x="4608576" y="9500616"/>
            <a:ext cx="429768" cy="374904"/>
          </a:xfrm>
          <a:gradFill rotWithShape="1">
            <a:gsLst>
              <a:gs pos="0">
                <a:srgbClr val="20C5FF"/>
              </a:gs>
              <a:gs pos="100000">
                <a:srgbClr val="007DDA"/>
              </a:gs>
            </a:gsLst>
            <a:lin ang="5400000" scaled="1"/>
          </a:gradFill>
          <a:prstGeom prst="downArrow">
            <a:avLst/>
          </a:prstGeom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流程连接箭头"/>
          <p:cNvSpPr/>
          <p:nvPr/>
        </p:nvSpPr>
        <p:spPr>
          <a:xfrm>
            <a:off x="4608576" y="10872216"/>
            <a:ext cx="429768" cy="374904"/>
          </a:xfrm>
          <a:gradFill rotWithShape="1">
            <a:gsLst>
              <a:gs pos="0">
                <a:srgbClr val="20C5FF"/>
              </a:gs>
              <a:gs pos="100000">
                <a:srgbClr val="007DDA"/>
              </a:gs>
            </a:gsLst>
            <a:lin ang="5400000" scaled="1"/>
          </a:gradFill>
          <a:prstGeom prst="downArrow">
            <a:avLst/>
          </a:prstGeom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流程连接箭头"/>
          <p:cNvSpPr/>
          <p:nvPr/>
        </p:nvSpPr>
        <p:spPr>
          <a:xfrm>
            <a:off x="4608576" y="12252960"/>
            <a:ext cx="429768" cy="374904"/>
          </a:xfrm>
          <a:gradFill rotWithShape="1">
            <a:gsLst>
              <a:gs pos="0">
                <a:srgbClr val="20C5FF"/>
              </a:gs>
              <a:gs pos="100000">
                <a:srgbClr val="007DDA"/>
              </a:gs>
            </a:gsLst>
            <a:lin ang="5400000" scaled="1"/>
          </a:gradFill>
          <a:prstGeom prst="downArrow">
            <a:avLst/>
          </a:prstGeom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