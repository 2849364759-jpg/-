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5999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依据用户提供的动物研究技术路线图转录与重建。文字、编号、分组、剂量、检测项目、流程框与箭头为可编辑对象；插画为按参考图重建的独立图片素材。图中的Western blot及统计图仅为实验流程示意，不代表真实数据或实验结果。保留原图5、10、20 g/kg剂量、造模4周、给药4周及干预期不再新增CUMS刺激等设计内容，不构成剂量或方案合理性的独立验证。本地原始图文件不可用，未执行完整editppt prepare/record/finalize流程，不宣称经过该CLI验证。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54864"/>
            <a:ext cx="4498848" cy="630936"/>
          </a:xfrm>
          <a:prstGeom prst="roundRect">
            <a:avLst/>
          </a:prstGeom>
          <a:solidFill>
            <a:srgbClr val="DC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22392" y="77724"/>
            <a:ext cx="44439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4000" b="1">
                <a:solidFill>
                  <a:srgbClr val="073858"/>
                </a:solidFill>
                <a:latin typeface="Noto Sans CJK SC"/>
              </a:defRPr>
            </a:pPr>
            <a:r>
              <a:t>技术路线图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2152" y="749808"/>
            <a:ext cx="8284464" cy="393192"/>
          </a:xfrm>
          <a:prstGeom prst="roundRect">
            <a:avLst/>
          </a:prstGeom>
          <a:solidFill>
            <a:srgbClr val="E7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47872" y="786384"/>
            <a:ext cx="8193024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880" b="1">
                <a:solidFill>
                  <a:srgbClr val="073858"/>
                </a:solidFill>
                <a:latin typeface="Noto Sans CJK SC"/>
              </a:defRPr>
            </a:pPr>
            <a:r>
              <a:t>逍遥散调控SIRT1/PGC-1α通路改善CUMS大鼠抑郁状态的机制研究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" y="1271016"/>
            <a:ext cx="2377440" cy="3145536"/>
          </a:xfrm>
          <a:prstGeom prst="roundRect">
            <a:avLst/>
          </a:prstGeom>
          <a:solidFill>
            <a:srgbClr val="F4FAFD"/>
          </a:solidFill>
          <a:ln w="10160">
            <a:solidFill>
              <a:srgbClr val="A1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" y="1271016"/>
            <a:ext cx="2377440" cy="466344"/>
          </a:xfrm>
          <a:prstGeom prst="roundRect">
            <a:avLst/>
          </a:prstGeom>
          <a:solidFill>
            <a:srgbClr val="E1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" y="1293875"/>
            <a:ext cx="420624" cy="420624"/>
          </a:xfrm>
          <a:prstGeom prst="ellipse">
            <a:avLst/>
          </a:prstGeom>
          <a:solidFill>
            <a:srgbClr val="187EC5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312163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166420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073858"/>
                </a:solidFill>
                <a:latin typeface="Noto Sans CJK SC"/>
              </a:defRPr>
            </a:pPr>
            <a:r>
              <a:t>前期准备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60904" y="1271016"/>
            <a:ext cx="2779776" cy="3145536"/>
          </a:xfrm>
          <a:prstGeom prst="roundRect">
            <a:avLst/>
          </a:prstGeom>
          <a:solidFill>
            <a:srgbClr val="F4FAFD"/>
          </a:solidFill>
          <a:ln w="10160">
            <a:solidFill>
              <a:srgbClr val="A1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60904" y="1271016"/>
            <a:ext cx="2779776" cy="466344"/>
          </a:xfrm>
          <a:prstGeom prst="roundRect">
            <a:avLst/>
          </a:prstGeom>
          <a:solidFill>
            <a:srgbClr val="E1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52344" y="1293875"/>
            <a:ext cx="420624" cy="420624"/>
          </a:xfrm>
          <a:prstGeom prst="ellipse">
            <a:avLst/>
          </a:prstGeom>
          <a:solidFill>
            <a:srgbClr val="187EC5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312163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371600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073858"/>
                </a:solidFill>
                <a:latin typeface="Noto Sans CJK SC"/>
              </a:defRPr>
            </a:pPr>
            <a:r>
              <a:t>动物准备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96128" y="1271016"/>
            <a:ext cx="2761488" cy="3145536"/>
          </a:xfrm>
          <a:prstGeom prst="roundRect">
            <a:avLst/>
          </a:prstGeom>
          <a:solidFill>
            <a:srgbClr val="F4FCF8"/>
          </a:solidFill>
          <a:ln w="10160">
            <a:solidFill>
              <a:srgbClr val="A2E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96128" y="1271016"/>
            <a:ext cx="2761488" cy="466344"/>
          </a:xfrm>
          <a:prstGeom prst="roundRect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1293875"/>
            <a:ext cx="420624" cy="420624"/>
          </a:xfrm>
          <a:prstGeom prst="ellipse">
            <a:avLst/>
          </a:prstGeom>
          <a:solidFill>
            <a:srgbClr val="249E96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312163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371600"/>
            <a:ext cx="20482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80" b="1">
                <a:solidFill>
                  <a:srgbClr val="073858"/>
                </a:solidFill>
                <a:latin typeface="Noto Sans CJK SC"/>
              </a:defRPr>
            </a:pPr>
            <a:r>
              <a:t>CUMS造模（4周）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22208" y="1271016"/>
            <a:ext cx="3685032" cy="3145536"/>
          </a:xfrm>
          <a:prstGeom prst="roundRect">
            <a:avLst/>
          </a:prstGeom>
          <a:solidFill>
            <a:srgbClr val="F4FCF8"/>
          </a:solidFill>
          <a:ln w="10160">
            <a:solidFill>
              <a:srgbClr val="A2E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22208" y="1271016"/>
            <a:ext cx="3685032" cy="466344"/>
          </a:xfrm>
          <a:prstGeom prst="roundRect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13648" y="1293875"/>
            <a:ext cx="420624" cy="420624"/>
          </a:xfrm>
          <a:prstGeom prst="ellipse">
            <a:avLst/>
          </a:prstGeom>
          <a:solidFill>
            <a:srgbClr val="249E96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1312163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371600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073858"/>
                </a:solidFill>
                <a:latin typeface="Noto Sans CJK SC"/>
              </a:defRPr>
            </a:pPr>
            <a:r>
              <a:t>模型评价与分组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90120" y="1271016"/>
            <a:ext cx="2779776" cy="3145536"/>
          </a:xfrm>
          <a:prstGeom prst="roundRect">
            <a:avLst/>
          </a:prstGeom>
          <a:solidFill>
            <a:srgbClr val="F4FAFD"/>
          </a:solidFill>
          <a:ln w="10160">
            <a:solidFill>
              <a:srgbClr val="A1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390120" y="1271016"/>
            <a:ext cx="2779776" cy="466344"/>
          </a:xfrm>
          <a:prstGeom prst="roundRect">
            <a:avLst/>
          </a:prstGeom>
          <a:solidFill>
            <a:srgbClr val="E1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481560" y="1293875"/>
            <a:ext cx="420624" cy="420624"/>
          </a:xfrm>
          <a:prstGeom prst="ellipse">
            <a:avLst/>
          </a:prstGeom>
          <a:solidFill>
            <a:srgbClr val="187EC5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81560" y="1312163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39344" y="1371600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073858"/>
                </a:solidFill>
                <a:latin typeface="Noto Sans CJK SC"/>
              </a:defRPr>
            </a:pPr>
            <a:r>
              <a:t>药物干预（4周）</a:t>
            </a:r>
          </a:p>
        </p:txBody>
      </p:sp>
      <p:pic>
        <p:nvPicPr>
          <p:cNvPr id="31" name="Picture 30" descr="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31" y="1801368"/>
            <a:ext cx="1244009" cy="109728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246888" y="2990088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2916936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0" b="0">
                <a:solidFill>
                  <a:srgbClr val="102B45"/>
                </a:solidFill>
                <a:latin typeface="Noto Sans CJK SC"/>
              </a:defRPr>
            </a:pPr>
            <a:r>
              <a:t>文献查阅与方案完善</a:t>
            </a:r>
          </a:p>
        </p:txBody>
      </p:sp>
      <p:sp>
        <p:nvSpPr>
          <p:cNvPr id="34" name="Oval 33"/>
          <p:cNvSpPr/>
          <p:nvPr/>
        </p:nvSpPr>
        <p:spPr>
          <a:xfrm>
            <a:off x="246888" y="328269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209544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0" b="0">
                <a:solidFill>
                  <a:srgbClr val="102B45"/>
                </a:solidFill>
                <a:latin typeface="Noto Sans CJK SC"/>
              </a:defRPr>
            </a:pPr>
            <a:r>
              <a:t>伦理审批与实验条件落实</a:t>
            </a:r>
          </a:p>
        </p:txBody>
      </p:sp>
      <p:sp>
        <p:nvSpPr>
          <p:cNvPr id="36" name="Oval 35"/>
          <p:cNvSpPr/>
          <p:nvPr/>
        </p:nvSpPr>
        <p:spPr>
          <a:xfrm>
            <a:off x="246888" y="3575304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502152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60" b="0">
                <a:solidFill>
                  <a:srgbClr val="102B45"/>
                </a:solidFill>
                <a:latin typeface="Noto Sans CJK SC"/>
              </a:defRPr>
            </a:pPr>
            <a:r>
              <a:t>逍遥散制备与剂量确定</a:t>
            </a:r>
          </a:p>
        </p:txBody>
      </p:sp>
      <p:pic>
        <p:nvPicPr>
          <p:cNvPr id="38" name="Picture 37" descr="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817" y="1837943"/>
            <a:ext cx="1420805" cy="82296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2852928" y="282549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81528" y="2752344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102B45"/>
                </a:solidFill>
                <a:latin typeface="Noto Sans CJK SC"/>
              </a:defRPr>
            </a:pPr>
            <a:r>
              <a:t>SD大鼠适应性饲养</a:t>
            </a:r>
          </a:p>
        </p:txBody>
      </p:sp>
      <p:sp>
        <p:nvSpPr>
          <p:cNvPr id="41" name="Oval 40"/>
          <p:cNvSpPr/>
          <p:nvPr/>
        </p:nvSpPr>
        <p:spPr>
          <a:xfrm>
            <a:off x="2852928" y="3081528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3008376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102B45"/>
                </a:solidFill>
                <a:latin typeface="Noto Sans CJK SC"/>
              </a:defRPr>
            </a:pPr>
            <a:r>
              <a:t>基线行为学评价</a:t>
            </a:r>
          </a:p>
        </p:txBody>
      </p:sp>
      <p:sp>
        <p:nvSpPr>
          <p:cNvPr id="43" name="Oval 42"/>
          <p:cNvSpPr/>
          <p:nvPr/>
        </p:nvSpPr>
        <p:spPr>
          <a:xfrm>
            <a:off x="2852928" y="3337560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81528" y="3264408"/>
            <a:ext cx="2185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102B45"/>
                </a:solidFill>
                <a:latin typeface="Noto Sans CJK SC"/>
              </a:defRPr>
            </a:pPr>
            <a:r>
              <a:t>SPT、OFT</a:t>
            </a:r>
          </a:p>
        </p:txBody>
      </p:sp>
      <p:pic>
        <p:nvPicPr>
          <p:cNvPr id="45" name="Picture 44" descr="scen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817" y="3575304"/>
            <a:ext cx="922812" cy="53035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008376" y="412394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73858"/>
                </a:solidFill>
                <a:latin typeface="Noto Sans CJK SC"/>
              </a:defRPr>
            </a:pPr>
            <a:r>
              <a:t>SPT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4123944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073858"/>
                </a:solidFill>
                <a:latin typeface="Noto Sans CJK SC"/>
              </a:defRPr>
            </a:pPr>
            <a:r>
              <a:t>OFT</a:t>
            </a:r>
          </a:p>
        </p:txBody>
      </p:sp>
      <p:pic>
        <p:nvPicPr>
          <p:cNvPr id="48" name="Picture 47" descr="scen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181" y="1810512"/>
            <a:ext cx="2099380" cy="1618488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5806440" y="3621024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354787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0" b="0">
                <a:solidFill>
                  <a:srgbClr val="102B45"/>
                </a:solidFill>
                <a:latin typeface="Noto Sans CJK SC"/>
              </a:defRPr>
            </a:pPr>
            <a:r>
              <a:t>慢性不可预见性温和应激</a:t>
            </a:r>
          </a:p>
        </p:txBody>
      </p:sp>
      <p:sp>
        <p:nvSpPr>
          <p:cNvPr id="51" name="Oval 50"/>
          <p:cNvSpPr/>
          <p:nvPr/>
        </p:nvSpPr>
        <p:spPr>
          <a:xfrm>
            <a:off x="5806440" y="3886200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38130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0" b="0">
                <a:solidFill>
                  <a:srgbClr val="102B45"/>
                </a:solidFill>
                <a:latin typeface="Noto Sans CJK SC"/>
              </a:defRPr>
            </a:pPr>
            <a:r>
              <a:t>随机温和应激刺激</a:t>
            </a:r>
          </a:p>
        </p:txBody>
      </p:sp>
      <p:sp>
        <p:nvSpPr>
          <p:cNvPr id="53" name="Oval 52"/>
          <p:cNvSpPr/>
          <p:nvPr/>
        </p:nvSpPr>
        <p:spPr>
          <a:xfrm>
            <a:off x="5806440" y="4151376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078224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10" b="0">
                <a:solidFill>
                  <a:srgbClr val="102B45"/>
                </a:solidFill>
                <a:latin typeface="Noto Sans CJK SC"/>
              </a:defRPr>
            </a:pPr>
            <a:r>
              <a:t>诱导抑郁样行为</a:t>
            </a:r>
          </a:p>
        </p:txBody>
      </p:sp>
      <p:pic>
        <p:nvPicPr>
          <p:cNvPr id="55" name="Picture 54" descr="scen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285" y="1810512"/>
            <a:ext cx="1622877" cy="93268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125712" y="2660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3858"/>
                </a:solidFill>
                <a:latin typeface="Noto Sans CJK SC"/>
              </a:defRPr>
            </a:pPr>
            <a:r>
              <a:t>SPT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80192" y="2660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3858"/>
                </a:solidFill>
                <a:latin typeface="Noto Sans CJK SC"/>
              </a:defRPr>
            </a:pPr>
            <a:r>
              <a:t>OFT</a:t>
            </a:r>
          </a:p>
        </p:txBody>
      </p:sp>
      <p:sp>
        <p:nvSpPr>
          <p:cNvPr id="58" name="Oval 57"/>
          <p:cNvSpPr/>
          <p:nvPr/>
        </p:nvSpPr>
        <p:spPr>
          <a:xfrm>
            <a:off x="8705088" y="2971800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33688" y="28986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102B45"/>
                </a:solidFill>
                <a:latin typeface="Noto Sans CJK SC"/>
              </a:defRPr>
            </a:pPr>
            <a:r>
              <a:t>SPT、OFT评价造模效果</a:t>
            </a:r>
          </a:p>
        </p:txBody>
      </p:sp>
      <p:sp>
        <p:nvSpPr>
          <p:cNvPr id="60" name="Oval 59"/>
          <p:cNvSpPr/>
          <p:nvPr/>
        </p:nvSpPr>
        <p:spPr>
          <a:xfrm>
            <a:off x="8705088" y="3255264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33688" y="31821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102B45"/>
                </a:solidFill>
                <a:latin typeface="Noto Sans CJK SC"/>
              </a:defRPr>
            </a:pPr>
            <a:r>
              <a:t>随机均衡分组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04504" y="3511296"/>
            <a:ext cx="658368" cy="795528"/>
          </a:xfrm>
          <a:prstGeom prst="roundRect">
            <a:avLst/>
          </a:prstGeom>
          <a:solidFill>
            <a:srgbClr val="DDF3E6"/>
          </a:solidFill>
          <a:ln w="10160">
            <a:solidFill>
              <a:srgbClr val="8CC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27364" y="3602736"/>
            <a:ext cx="612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正常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对照组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18650" y="3511296"/>
            <a:ext cx="658368" cy="795528"/>
          </a:xfrm>
          <a:prstGeom prst="roundRect">
            <a:avLst/>
          </a:prstGeom>
          <a:solidFill>
            <a:srgbClr val="FCE8E8"/>
          </a:solidFill>
          <a:ln w="10160">
            <a:solidFill>
              <a:srgbClr val="E59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41510" y="3602736"/>
            <a:ext cx="612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模型组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32796" y="3511296"/>
            <a:ext cx="658368" cy="795528"/>
          </a:xfrm>
          <a:prstGeom prst="roundRect">
            <a:avLst/>
          </a:prstGeom>
          <a:solidFill>
            <a:srgbClr val="DDF0FE"/>
          </a:solidFill>
          <a:ln w="10160">
            <a:solidFill>
              <a:srgbClr val="8AC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5656" y="3602736"/>
            <a:ext cx="612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逍遥散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低剂量组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5 g/kg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746943" y="3511296"/>
            <a:ext cx="658368" cy="795528"/>
          </a:xfrm>
          <a:prstGeom prst="roundRect">
            <a:avLst/>
          </a:prstGeom>
          <a:solidFill>
            <a:srgbClr val="FFF0DA"/>
          </a:solidFill>
          <a:ln w="10160">
            <a:solidFill>
              <a:srgbClr val="E8C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69803" y="3602736"/>
            <a:ext cx="612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逍遥散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中剂量组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10 g/kg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61089" y="3511296"/>
            <a:ext cx="658368" cy="795528"/>
          </a:xfrm>
          <a:prstGeom prst="roundRect">
            <a:avLst/>
          </a:prstGeom>
          <a:solidFill>
            <a:srgbClr val="EEE6FB"/>
          </a:solidFill>
          <a:ln w="10160">
            <a:solidFill>
              <a:srgbClr val="BEA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83949" y="3602736"/>
            <a:ext cx="612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逍遥散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高剂量组</a:t>
            </a:r>
          </a:p>
          <a:p>
            <a:pPr algn="ctr">
              <a:spcAft>
                <a:spcPts val="200"/>
              </a:spcAft>
              <a:defRPr sz="1110" b="1">
                <a:solidFill>
                  <a:srgbClr val="073858"/>
                </a:solidFill>
                <a:latin typeface="Noto Sans CJK SC"/>
              </a:defRPr>
            </a:pPr>
            <a:r>
              <a:t>20 g/kg</a:t>
            </a:r>
          </a:p>
        </p:txBody>
      </p:sp>
      <p:pic>
        <p:nvPicPr>
          <p:cNvPr id="72" name="Picture 71" descr="scene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5318" y="1810512"/>
            <a:ext cx="1769378" cy="1353312"/>
          </a:xfrm>
          <a:prstGeom prst="rect">
            <a:avLst/>
          </a:prstGeom>
        </p:spPr>
      </p:pic>
      <p:sp>
        <p:nvSpPr>
          <p:cNvPr id="73" name="Oval 72"/>
          <p:cNvSpPr/>
          <p:nvPr/>
        </p:nvSpPr>
        <p:spPr>
          <a:xfrm>
            <a:off x="12545568" y="3319272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774168" y="3246120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每日灌胃1次</a:t>
            </a:r>
          </a:p>
        </p:txBody>
      </p:sp>
      <p:sp>
        <p:nvSpPr>
          <p:cNvPr id="75" name="Oval 74"/>
          <p:cNvSpPr/>
          <p:nvPr/>
        </p:nvSpPr>
        <p:spPr>
          <a:xfrm>
            <a:off x="12545568" y="3584448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774168" y="3511296"/>
            <a:ext cx="22585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102B45"/>
                </a:solidFill>
                <a:latin typeface="Noto Sans CJK SC"/>
              </a:defRPr>
            </a:pPr>
            <a:r>
              <a:t>正常对照组、模型组：生理盐水</a:t>
            </a:r>
          </a:p>
        </p:txBody>
      </p:sp>
      <p:sp>
        <p:nvSpPr>
          <p:cNvPr id="77" name="Oval 76"/>
          <p:cNvSpPr/>
          <p:nvPr/>
        </p:nvSpPr>
        <p:spPr>
          <a:xfrm>
            <a:off x="12545568" y="3849624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774168" y="3776472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102B45"/>
                </a:solidFill>
                <a:latin typeface="Noto Sans CJK SC"/>
              </a:defRPr>
            </a:pPr>
            <a:r>
              <a:t>低/中/高剂量组：逍遥散药液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2481560" y="4105656"/>
            <a:ext cx="2587752" cy="228600"/>
          </a:xfrm>
          <a:prstGeom prst="roundRect">
            <a:avLst/>
          </a:prstGeom>
          <a:solidFill>
            <a:srgbClr val="FFF2F1"/>
          </a:solidFill>
          <a:ln w="10160">
            <a:solidFill>
              <a:srgbClr val="F1A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518136" y="4133087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080" b="1">
                <a:solidFill>
                  <a:srgbClr val="BD2828"/>
                </a:solidFill>
                <a:latin typeface="Noto Sans CJK SC"/>
              </a:defRPr>
            </a:pPr>
            <a:r>
              <a:t>干预阶段不再施加新的CUMS刺激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2441448" y="2505456"/>
            <a:ext cx="338328" cy="274320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5376672" y="2505456"/>
            <a:ext cx="338328" cy="274320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ight Arrow 82"/>
          <p:cNvSpPr/>
          <p:nvPr/>
        </p:nvSpPr>
        <p:spPr>
          <a:xfrm>
            <a:off x="8293608" y="2505456"/>
            <a:ext cx="338328" cy="274320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ight Arrow 83"/>
          <p:cNvSpPr/>
          <p:nvPr/>
        </p:nvSpPr>
        <p:spPr>
          <a:xfrm>
            <a:off x="12143232" y="2505456"/>
            <a:ext cx="338328" cy="274320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3807440" y="4453128"/>
            <a:ext cx="0" cy="146304"/>
          </a:xfrm>
          <a:prstGeom prst="line">
            <a:avLst/>
          </a:prstGeom>
          <a:ln w="20320">
            <a:solidFill>
              <a:srgbClr val="187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444752" y="4599432"/>
            <a:ext cx="12362688" cy="0"/>
          </a:xfrm>
          <a:prstGeom prst="line">
            <a:avLst/>
          </a:prstGeom>
          <a:ln w="20320">
            <a:solidFill>
              <a:srgbClr val="187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444752" y="4599432"/>
            <a:ext cx="0" cy="146304"/>
          </a:xfrm>
          <a:prstGeom prst="line">
            <a:avLst/>
          </a:prstGeom>
          <a:ln w="20320">
            <a:solidFill>
              <a:srgbClr val="187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Down Arrow 87"/>
          <p:cNvSpPr/>
          <p:nvPr/>
        </p:nvSpPr>
        <p:spPr>
          <a:xfrm>
            <a:off x="1325880" y="4681728"/>
            <a:ext cx="246888" cy="201168"/>
          </a:xfrm>
          <a:prstGeom prst="down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28016" y="4910328"/>
            <a:ext cx="3867912" cy="2542032"/>
          </a:xfrm>
          <a:prstGeom prst="roundRect">
            <a:avLst/>
          </a:prstGeom>
          <a:solidFill>
            <a:srgbClr val="F4FAFD"/>
          </a:solidFill>
          <a:ln w="10160">
            <a:solidFill>
              <a:srgbClr val="A1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28016" y="4910328"/>
            <a:ext cx="3867912" cy="466344"/>
          </a:xfrm>
          <a:prstGeom prst="roundRect">
            <a:avLst/>
          </a:prstGeom>
          <a:solidFill>
            <a:srgbClr val="E1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19456" y="4933188"/>
            <a:ext cx="420624" cy="420624"/>
          </a:xfrm>
          <a:prstGeom prst="ellipse">
            <a:avLst/>
          </a:prstGeom>
          <a:solidFill>
            <a:srgbClr val="187EC5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9456" y="4951476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" y="501091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073858"/>
                </a:solidFill>
                <a:latin typeface="Noto Sans CJK SC"/>
              </a:defRPr>
            </a:pPr>
            <a:r>
              <a:t>行为学复测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97096" y="4910328"/>
            <a:ext cx="7443216" cy="2542032"/>
          </a:xfrm>
          <a:prstGeom prst="roundRect">
            <a:avLst/>
          </a:prstGeom>
          <a:solidFill>
            <a:srgbClr val="F4FCF8"/>
          </a:solidFill>
          <a:ln w="10160">
            <a:solidFill>
              <a:srgbClr val="A2E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197096" y="4910328"/>
            <a:ext cx="7443216" cy="466344"/>
          </a:xfrm>
          <a:prstGeom prst="roundRect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288536" y="4933188"/>
            <a:ext cx="420624" cy="420624"/>
          </a:xfrm>
          <a:prstGeom prst="ellipse">
            <a:avLst/>
          </a:prstGeom>
          <a:solidFill>
            <a:srgbClr val="249E96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88536" y="4951476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0" y="5010912"/>
            <a:ext cx="6729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073858"/>
                </a:solidFill>
                <a:latin typeface="Noto Sans CJK SC"/>
              </a:defRPr>
            </a:pPr>
            <a:r>
              <a:t>脑组织取材与检测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868912" y="4910328"/>
            <a:ext cx="3310128" cy="2542032"/>
          </a:xfrm>
          <a:prstGeom prst="roundRect">
            <a:avLst/>
          </a:prstGeom>
          <a:solidFill>
            <a:srgbClr val="F4FAFD"/>
          </a:solidFill>
          <a:ln w="10160">
            <a:solidFill>
              <a:srgbClr val="A1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1868912" y="4910328"/>
            <a:ext cx="3310128" cy="466344"/>
          </a:xfrm>
          <a:prstGeom prst="roundRect">
            <a:avLst/>
          </a:prstGeom>
          <a:solidFill>
            <a:srgbClr val="E1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960352" y="4933188"/>
            <a:ext cx="420624" cy="420624"/>
          </a:xfrm>
          <a:prstGeom prst="ellipse">
            <a:avLst/>
          </a:prstGeom>
          <a:solidFill>
            <a:srgbClr val="187EC5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960352" y="4951476"/>
            <a:ext cx="4206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518136" y="5010912"/>
            <a:ext cx="259689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920" b="1">
                <a:solidFill>
                  <a:srgbClr val="073858"/>
                </a:solidFill>
                <a:latin typeface="Noto Sans CJK SC"/>
              </a:defRPr>
            </a:pPr>
            <a:r>
              <a:t>数据统计与综合分析</a:t>
            </a:r>
          </a:p>
        </p:txBody>
      </p:sp>
      <p:pic>
        <p:nvPicPr>
          <p:cNvPr id="104" name="Picture 103" descr="scen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477256"/>
            <a:ext cx="1591056" cy="9144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03504" y="637336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3858"/>
                </a:solidFill>
                <a:latin typeface="Noto Sans CJK SC"/>
              </a:defRPr>
            </a:pPr>
            <a:r>
              <a:t>SPT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48840" y="637336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73858"/>
                </a:solidFill>
                <a:latin typeface="Noto Sans CJK SC"/>
              </a:defRPr>
            </a:pPr>
            <a:r>
              <a:t>OFT</a:t>
            </a:r>
          </a:p>
        </p:txBody>
      </p:sp>
      <p:sp>
        <p:nvSpPr>
          <p:cNvPr id="107" name="Oval 106"/>
          <p:cNvSpPr/>
          <p:nvPr/>
        </p:nvSpPr>
        <p:spPr>
          <a:xfrm>
            <a:off x="310896" y="6702552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9496" y="6629400"/>
            <a:ext cx="32644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0" b="0">
                <a:solidFill>
                  <a:srgbClr val="102B45"/>
                </a:solidFill>
                <a:latin typeface="Noto Sans CJK SC"/>
              </a:defRPr>
            </a:pPr>
            <a:r>
              <a:t>蔗糖偏好实验（SPT）</a:t>
            </a:r>
          </a:p>
        </p:txBody>
      </p:sp>
      <p:sp>
        <p:nvSpPr>
          <p:cNvPr id="109" name="Oval 108"/>
          <p:cNvSpPr/>
          <p:nvPr/>
        </p:nvSpPr>
        <p:spPr>
          <a:xfrm>
            <a:off x="310896" y="6976872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9496" y="6903720"/>
            <a:ext cx="32644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0" b="0">
                <a:solidFill>
                  <a:srgbClr val="102B45"/>
                </a:solidFill>
                <a:latin typeface="Noto Sans CJK SC"/>
              </a:defRPr>
            </a:pPr>
            <a:r>
              <a:t>旷场实验（OFT）</a:t>
            </a:r>
          </a:p>
        </p:txBody>
      </p:sp>
      <p:sp>
        <p:nvSpPr>
          <p:cNvPr id="111" name="Oval 110"/>
          <p:cNvSpPr/>
          <p:nvPr/>
        </p:nvSpPr>
        <p:spPr>
          <a:xfrm>
            <a:off x="310896" y="7251192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9496" y="7178040"/>
            <a:ext cx="326440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0" b="0">
                <a:solidFill>
                  <a:srgbClr val="102B45"/>
                </a:solidFill>
                <a:latin typeface="Noto Sans CJK SC"/>
              </a:defRPr>
            </a:pPr>
            <a:r>
              <a:t>评价快感缺失、自主活动与探索行为</a:t>
            </a:r>
          </a:p>
        </p:txBody>
      </p:sp>
      <p:pic>
        <p:nvPicPr>
          <p:cNvPr id="113" name="Picture 112" descr="scene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552" y="5583438"/>
            <a:ext cx="1956816" cy="1497563"/>
          </a:xfrm>
          <a:prstGeom prst="rect">
            <a:avLst/>
          </a:prstGeom>
        </p:spPr>
      </p:pic>
      <p:sp>
        <p:nvSpPr>
          <p:cNvPr id="114" name="Right Arrow 113"/>
          <p:cNvSpPr/>
          <p:nvPr/>
        </p:nvSpPr>
        <p:spPr>
          <a:xfrm>
            <a:off x="6318504" y="6089904"/>
            <a:ext cx="438912" cy="146304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839712" y="5449824"/>
            <a:ext cx="2286000" cy="1856231"/>
          </a:xfrm>
          <a:prstGeom prst="roundRect">
            <a:avLst/>
          </a:prstGeom>
          <a:solidFill>
            <a:srgbClr val="F3FAFF"/>
          </a:solidFill>
          <a:ln w="10160">
            <a:solidFill>
              <a:srgbClr val="A1D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839712" y="5449824"/>
            <a:ext cx="2286000" cy="310896"/>
          </a:xfrm>
          <a:prstGeom prst="roundRect">
            <a:avLst/>
          </a:prstGeom>
          <a:solidFill>
            <a:srgbClr val="D5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903720" y="5490972"/>
            <a:ext cx="215798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73858"/>
                </a:solidFill>
                <a:latin typeface="Noto Sans CJK SC"/>
              </a:defRPr>
            </a:pPr>
            <a:r>
              <a:t>蛋白表达检测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235440" y="5449824"/>
            <a:ext cx="2276856" cy="1856231"/>
          </a:xfrm>
          <a:prstGeom prst="roundRect">
            <a:avLst/>
          </a:prstGeom>
          <a:solidFill>
            <a:srgbClr val="F2FCF5"/>
          </a:solidFill>
          <a:ln w="10160">
            <a:solidFill>
              <a:srgbClr val="9F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235440" y="5449824"/>
            <a:ext cx="2276856" cy="310896"/>
          </a:xfrm>
          <a:prstGeom prst="roundRect">
            <a:avLst/>
          </a:prstGeom>
          <a:solidFill>
            <a:srgbClr val="D8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299448" y="5490972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73858"/>
                </a:solidFill>
                <a:latin typeface="Noto Sans CJK SC"/>
              </a:defRPr>
            </a:pPr>
            <a:r>
              <a:t>生化指标检测</a:t>
            </a:r>
          </a:p>
        </p:txBody>
      </p:sp>
      <p:sp>
        <p:nvSpPr>
          <p:cNvPr id="121" name="Oval 120"/>
          <p:cNvSpPr/>
          <p:nvPr/>
        </p:nvSpPr>
        <p:spPr>
          <a:xfrm>
            <a:off x="6986016" y="588873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214616" y="5815584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Western blot</a:t>
            </a:r>
          </a:p>
        </p:txBody>
      </p:sp>
      <p:sp>
        <p:nvSpPr>
          <p:cNvPr id="123" name="Oval 122"/>
          <p:cNvSpPr/>
          <p:nvPr/>
        </p:nvSpPr>
        <p:spPr>
          <a:xfrm>
            <a:off x="6986016" y="6126480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14616" y="6053328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SIRT1</a:t>
            </a:r>
          </a:p>
        </p:txBody>
      </p:sp>
      <p:sp>
        <p:nvSpPr>
          <p:cNvPr id="125" name="Oval 124"/>
          <p:cNvSpPr/>
          <p:nvPr/>
        </p:nvSpPr>
        <p:spPr>
          <a:xfrm>
            <a:off x="6986016" y="6364224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214616" y="6291072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PGC-1α</a:t>
            </a:r>
          </a:p>
        </p:txBody>
      </p:sp>
      <p:sp>
        <p:nvSpPr>
          <p:cNvPr id="127" name="Oval 126"/>
          <p:cNvSpPr/>
          <p:nvPr/>
        </p:nvSpPr>
        <p:spPr>
          <a:xfrm>
            <a:off x="9390888" y="5888736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19488" y="5815584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ATP含量</a:t>
            </a:r>
          </a:p>
        </p:txBody>
      </p:sp>
      <p:sp>
        <p:nvSpPr>
          <p:cNvPr id="129" name="Oval 128"/>
          <p:cNvSpPr/>
          <p:nvPr/>
        </p:nvSpPr>
        <p:spPr>
          <a:xfrm>
            <a:off x="9390888" y="6126480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19488" y="6053328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MDA水平</a:t>
            </a:r>
          </a:p>
        </p:txBody>
      </p:sp>
      <p:sp>
        <p:nvSpPr>
          <p:cNvPr id="131" name="Oval 130"/>
          <p:cNvSpPr/>
          <p:nvPr/>
        </p:nvSpPr>
        <p:spPr>
          <a:xfrm>
            <a:off x="9390888" y="6364224"/>
            <a:ext cx="109728" cy="109728"/>
          </a:xfrm>
          <a:prstGeom prst="ellipse">
            <a:avLst/>
          </a:prstGeom>
          <a:solidFill>
            <a:srgbClr val="24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19488" y="6291072"/>
            <a:ext cx="1746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102B45"/>
                </a:solidFill>
                <a:latin typeface="Noto Sans CJK SC"/>
              </a:defRPr>
            </a:pPr>
            <a:r>
              <a:t>SOD活性</a:t>
            </a:r>
          </a:p>
        </p:txBody>
      </p:sp>
      <p:pic>
        <p:nvPicPr>
          <p:cNvPr id="133" name="Picture 132" descr="scene_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7523" y="6583680"/>
            <a:ext cx="1220024" cy="630936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8476488" y="6647688"/>
            <a:ext cx="59436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60" b="0">
                <a:solidFill>
                  <a:srgbClr val="073858"/>
                </a:solidFill>
                <a:latin typeface="Noto Sans CJK SC"/>
              </a:defRPr>
            </a:pPr>
            <a:r>
              <a:t>SIRT1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76488" y="6830568"/>
            <a:ext cx="59436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60" b="0">
                <a:solidFill>
                  <a:srgbClr val="073858"/>
                </a:solidFill>
                <a:latin typeface="Noto Sans CJK SC"/>
              </a:defRPr>
            </a:pPr>
            <a:r>
              <a:t>PGC-1α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76488" y="7013448"/>
            <a:ext cx="59436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860" b="0">
                <a:solidFill>
                  <a:srgbClr val="073858"/>
                </a:solidFill>
                <a:latin typeface="Noto Sans CJK SC"/>
              </a:defRPr>
            </a:pPr>
            <a:r>
              <a:t>β-actin</a:t>
            </a:r>
          </a:p>
        </p:txBody>
      </p:sp>
      <p:pic>
        <p:nvPicPr>
          <p:cNvPr id="137" name="Picture 136" descr="scene_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6067" y="6583680"/>
            <a:ext cx="1586457" cy="630936"/>
          </a:xfrm>
          <a:prstGeom prst="rect">
            <a:avLst/>
          </a:prstGeom>
        </p:spPr>
      </p:pic>
      <p:sp>
        <p:nvSpPr>
          <p:cNvPr id="138" name="Right Arrow 137"/>
          <p:cNvSpPr/>
          <p:nvPr/>
        </p:nvSpPr>
        <p:spPr>
          <a:xfrm>
            <a:off x="3922776" y="5980176"/>
            <a:ext cx="347472" cy="256032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ight Arrow 138"/>
          <p:cNvSpPr/>
          <p:nvPr/>
        </p:nvSpPr>
        <p:spPr>
          <a:xfrm>
            <a:off x="11576304" y="5980176"/>
            <a:ext cx="347472" cy="256032"/>
          </a:xfrm>
          <a:prstGeom prst="right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scene_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96928" y="5628330"/>
            <a:ext cx="1508760" cy="1234043"/>
          </a:xfrm>
          <a:prstGeom prst="rect">
            <a:avLst/>
          </a:prstGeom>
        </p:spPr>
      </p:pic>
      <p:sp>
        <p:nvSpPr>
          <p:cNvPr id="141" name="Oval 140"/>
          <p:cNvSpPr/>
          <p:nvPr/>
        </p:nvSpPr>
        <p:spPr>
          <a:xfrm>
            <a:off x="13633704" y="579729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862304" y="5724144"/>
            <a:ext cx="1197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0" b="0">
                <a:solidFill>
                  <a:srgbClr val="102B45"/>
                </a:solidFill>
                <a:latin typeface="Noto Sans CJK SC"/>
              </a:defRPr>
            </a:pPr>
            <a:r>
              <a:t>行为学指标比较</a:t>
            </a:r>
          </a:p>
        </p:txBody>
      </p:sp>
      <p:sp>
        <p:nvSpPr>
          <p:cNvPr id="143" name="Oval 142"/>
          <p:cNvSpPr/>
          <p:nvPr/>
        </p:nvSpPr>
        <p:spPr>
          <a:xfrm>
            <a:off x="13633704" y="611733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3862304" y="6044184"/>
            <a:ext cx="1197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0" b="0">
                <a:solidFill>
                  <a:srgbClr val="102B45"/>
                </a:solidFill>
                <a:latin typeface="Noto Sans CJK SC"/>
              </a:defRPr>
            </a:pPr>
            <a:r>
              <a:t>蛋白表达分析</a:t>
            </a:r>
          </a:p>
        </p:txBody>
      </p:sp>
      <p:sp>
        <p:nvSpPr>
          <p:cNvPr id="145" name="Oval 144"/>
          <p:cNvSpPr/>
          <p:nvPr/>
        </p:nvSpPr>
        <p:spPr>
          <a:xfrm>
            <a:off x="13633704" y="643737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3862304" y="6364224"/>
            <a:ext cx="1197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0" b="0">
                <a:solidFill>
                  <a:srgbClr val="102B45"/>
                </a:solidFill>
                <a:latin typeface="Noto Sans CJK SC"/>
              </a:defRPr>
            </a:pPr>
            <a:r>
              <a:t>生化指标分析</a:t>
            </a:r>
          </a:p>
        </p:txBody>
      </p:sp>
      <p:sp>
        <p:nvSpPr>
          <p:cNvPr id="147" name="Oval 146"/>
          <p:cNvSpPr/>
          <p:nvPr/>
        </p:nvSpPr>
        <p:spPr>
          <a:xfrm>
            <a:off x="13633704" y="6757416"/>
            <a:ext cx="109728" cy="109728"/>
          </a:xfrm>
          <a:prstGeom prst="ellipse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862304" y="6684264"/>
            <a:ext cx="119786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30" b="0">
                <a:solidFill>
                  <a:srgbClr val="102B45"/>
                </a:solidFill>
                <a:latin typeface="Noto Sans CJK SC"/>
              </a:defRPr>
            </a:pPr>
            <a:r>
              <a:t>相关性与剂量</a:t>
            </a:r>
          </a:p>
          <a:p>
            <a:pPr algn="l">
              <a:spcAft>
                <a:spcPts val="200"/>
              </a:spcAft>
              <a:defRPr sz="1230" b="0">
                <a:solidFill>
                  <a:srgbClr val="102B45"/>
                </a:solidFill>
                <a:latin typeface="Noto Sans CJK SC"/>
              </a:defRPr>
            </a:pPr>
            <a:r>
              <a:t>效应评价</a:t>
            </a:r>
          </a:p>
        </p:txBody>
      </p:sp>
      <p:sp>
        <p:nvSpPr>
          <p:cNvPr id="149" name="Down Arrow 148"/>
          <p:cNvSpPr/>
          <p:nvPr/>
        </p:nvSpPr>
        <p:spPr>
          <a:xfrm>
            <a:off x="7516368" y="7452360"/>
            <a:ext cx="274320" cy="201168"/>
          </a:xfrm>
          <a:prstGeom prst="downArrow">
            <a:avLst/>
          </a:prstGeom>
          <a:solidFill>
            <a:srgbClr val="187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2907792" y="7717536"/>
            <a:ext cx="9491472" cy="822960"/>
          </a:xfrm>
          <a:prstGeom prst="roundRect">
            <a:avLst/>
          </a:prstGeom>
          <a:solidFill>
            <a:srgbClr val="E7F5EE"/>
          </a:solidFill>
          <a:ln w="10160">
            <a:solidFill>
              <a:srgbClr val="A7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227832" y="7845552"/>
            <a:ext cx="365760" cy="393192"/>
          </a:xfrm>
          <a:prstGeom prst="ellipse">
            <a:avLst/>
          </a:prstGeom>
          <a:solidFill>
            <a:srgbClr val="FFE49A"/>
          </a:solidFill>
          <a:ln w="10160">
            <a:solidFill>
              <a:srgbClr val="E8B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3328416" y="8220456"/>
            <a:ext cx="164592" cy="100584"/>
          </a:xfrm>
          <a:prstGeom prst="roundRect">
            <a:avLst/>
          </a:prstGeom>
          <a:solidFill>
            <a:srgbClr val="71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803904" y="7863840"/>
            <a:ext cx="83027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850" b="1">
                <a:solidFill>
                  <a:srgbClr val="073858"/>
                </a:solidFill>
                <a:latin typeface="Noto Sans CJK SC"/>
              </a:defRPr>
            </a:pPr>
            <a:r>
              <a:t>初步探讨逍遥散改善CUMS大鼠抑郁状态与SIRT1/PGC-1α相关信号、</a:t>
            </a:r>
          </a:p>
          <a:p>
            <a:pPr algn="ctr">
              <a:spcAft>
                <a:spcPts val="200"/>
              </a:spcAft>
              <a:defRPr sz="1850" b="1">
                <a:solidFill>
                  <a:srgbClr val="073858"/>
                </a:solidFill>
                <a:latin typeface="Noto Sans CJK SC"/>
              </a:defRPr>
            </a:pPr>
            <a:r>
              <a:t>能量状态及氧化应激变化之间的关系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