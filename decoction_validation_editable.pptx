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30384" cy="12819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依据用户提供的大补肾汤多味药概念验证流程图逐项重建。全部文字、图标、边框和流程箭头均为PowerPoint原生可编辑对象；保持原图纵向三部分结构。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graphic"/>
          <p:cNvSpPr/>
          <p:nvPr/>
        </p:nvSpPr>
        <p:spPr>
          <a:xfrm>
            <a:off x="1353312" y="45720"/>
            <a:ext cx="7223760" cy="585216"/>
          </a:xfrm>
          <a:prstGeom prst="roundRect">
            <a:avLst>
              <a:gd name="adj" fmla="val 6250"/>
            </a:avLst>
          </a:prstGeom>
          <a:solidFill>
            <a:srgbClr val="D8F1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方证依据与现代研究线索"/>
          <p:cNvSpPr txBox="1"/>
          <p:nvPr/>
        </p:nvSpPr>
        <p:spPr>
          <a:xfrm>
            <a:off x="3154680" y="73152"/>
            <a:ext cx="366674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000000"/>
                </a:solidFill>
                <a:latin typeface="Noto Serif CJK SC"/>
                <a:ea typeface="Noto Serif CJK SC"/>
              </a:rPr>
              <a:t>方证依据与现代研究线索</a:t>
            </a:r>
          </a:p>
        </p:txBody>
      </p:sp>
      <p:sp>
        <p:nvSpPr>
          <p:cNvPr id="4" name="Text: 处方渊源 · 肾主骨理论 · 软骨细胞损伤证据"/>
          <p:cNvSpPr txBox="1"/>
          <p:nvPr/>
        </p:nvSpPr>
        <p:spPr>
          <a:xfrm>
            <a:off x="2560320" y="347472"/>
            <a:ext cx="486460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000000"/>
                </a:solidFill>
                <a:latin typeface="Noto Serif CJK SC"/>
                <a:ea typeface="Noto Serif CJK SC"/>
              </a:rPr>
              <a:t>处方渊源 · 肾主骨理论 · 软骨细胞损伤证据</a:t>
            </a:r>
          </a:p>
        </p:txBody>
      </p:sp>
      <p:sp>
        <p:nvSpPr>
          <p:cNvPr id="5" name="Editable graphic"/>
          <p:cNvSpPr/>
          <p:nvPr/>
        </p:nvSpPr>
        <p:spPr>
          <a:xfrm>
            <a:off x="4837176" y="603504"/>
            <a:ext cx="320040" cy="265176"/>
          </a:xfrm>
          <a:prstGeom prst="downArrow">
            <a:avLst/>
          </a:prstGeom>
          <a:ln>
            <a:noFill/>
          </a:ln>
          <a:gradFill>
            <a:gsLst>
              <a:gs pos="0">
                <a:srgbClr val="67CAE8"/>
              </a:gs>
              <a:gs pos="100000">
                <a:srgbClr val="258AB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graphic"/>
          <p:cNvSpPr/>
          <p:nvPr/>
        </p:nvSpPr>
        <p:spPr>
          <a:xfrm>
            <a:off x="91440" y="731520"/>
            <a:ext cx="9756648" cy="4370832"/>
          </a:xfrm>
          <a:prstGeom prst="roundRect">
            <a:avLst>
              <a:gd name="adj" fmla="val 3974"/>
            </a:avLst>
          </a:prstGeom>
          <a:noFill/>
          <a:ln w="27940">
            <a:solidFill>
              <a:srgbClr val="36A9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graphic"/>
          <p:cNvSpPr/>
          <p:nvPr/>
        </p:nvSpPr>
        <p:spPr>
          <a:xfrm>
            <a:off x="164592" y="813816"/>
            <a:ext cx="9601200" cy="4206240"/>
          </a:xfrm>
          <a:prstGeom prst="roundRect">
            <a:avLst>
              <a:gd name="adj" fmla="val 3478"/>
            </a:avLst>
          </a:prstGeom>
          <a:solidFill>
            <a:srgbClr val="DCF2FB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graphic"/>
          <p:cNvSpPr/>
          <p:nvPr/>
        </p:nvSpPr>
        <p:spPr>
          <a:xfrm>
            <a:off x="173736" y="822960"/>
            <a:ext cx="557784" cy="4187952"/>
          </a:xfrm>
          <a:prstGeom prst="roundRect">
            <a:avLst>
              <a:gd name="adj" fmla="val 21311"/>
            </a:avLst>
          </a:prstGeom>
          <a:ln>
            <a:noFill/>
          </a:ln>
          <a:gradFill>
            <a:gsLst>
              <a:gs pos="0">
                <a:srgbClr val="36A9D4"/>
              </a:gs>
              <a:gs pos="100000">
                <a:srgbClr val="2E8FBA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graphic"/>
          <p:cNvSpPr/>
          <p:nvPr/>
        </p:nvSpPr>
        <p:spPr>
          <a:xfrm>
            <a:off x="448056" y="822960"/>
            <a:ext cx="274320" cy="4187952"/>
          </a:xfrm>
          <a:prstGeom prst="rect">
            <a:avLst/>
          </a:prstGeom>
          <a:ln>
            <a:noFill/>
          </a:ln>
          <a:gradFill>
            <a:gsLst>
              <a:gs pos="0">
                <a:srgbClr val="36A9D4"/>
              </a:gs>
              <a:gs pos="100000">
                <a:srgbClr val="2E8FBA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研 / 究 / 内 / 容 / 一"/>
          <p:cNvSpPr txBox="1"/>
          <p:nvPr/>
        </p:nvSpPr>
        <p:spPr>
          <a:xfrm>
            <a:off x="219456" y="2071116"/>
            <a:ext cx="457200" cy="1691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研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究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内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容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一</a:t>
            </a:r>
          </a:p>
        </p:txBody>
      </p:sp>
      <p:sp>
        <p:nvSpPr>
          <p:cNvPr id="11" name="Editable graphic"/>
          <p:cNvSpPr/>
          <p:nvPr/>
        </p:nvSpPr>
        <p:spPr>
          <a:xfrm>
            <a:off x="91440" y="5221224"/>
            <a:ext cx="9756648" cy="2203704"/>
          </a:xfrm>
          <a:prstGeom prst="roundRect">
            <a:avLst>
              <a:gd name="adj" fmla="val 7883"/>
            </a:avLst>
          </a:prstGeom>
          <a:noFill/>
          <a:ln w="27940">
            <a:solidFill>
              <a:srgbClr val="DE5C9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graphic"/>
          <p:cNvSpPr/>
          <p:nvPr/>
        </p:nvSpPr>
        <p:spPr>
          <a:xfrm>
            <a:off x="164592" y="5303520"/>
            <a:ext cx="9601200" cy="2039112"/>
          </a:xfrm>
          <a:prstGeom prst="roundRect">
            <a:avLst>
              <a:gd name="adj" fmla="val 7174"/>
            </a:avLst>
          </a:prstGeom>
          <a:solidFill>
            <a:srgbClr val="FBEAF2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graphic"/>
          <p:cNvSpPr/>
          <p:nvPr/>
        </p:nvSpPr>
        <p:spPr>
          <a:xfrm>
            <a:off x="173736" y="5312664"/>
            <a:ext cx="557784" cy="2020824"/>
          </a:xfrm>
          <a:prstGeom prst="roundRect">
            <a:avLst>
              <a:gd name="adj" fmla="val 21311"/>
            </a:avLst>
          </a:prstGeom>
          <a:ln>
            <a:noFill/>
          </a:ln>
          <a:gradFill>
            <a:gsLst>
              <a:gs pos="0">
                <a:srgbClr val="DE5C9B"/>
              </a:gs>
              <a:gs pos="100000">
                <a:srgbClr val="DA8EA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graphic"/>
          <p:cNvSpPr/>
          <p:nvPr/>
        </p:nvSpPr>
        <p:spPr>
          <a:xfrm>
            <a:off x="448056" y="5312664"/>
            <a:ext cx="274320" cy="2020824"/>
          </a:xfrm>
          <a:prstGeom prst="rect">
            <a:avLst/>
          </a:prstGeom>
          <a:ln>
            <a:noFill/>
          </a:ln>
          <a:gradFill>
            <a:gsLst>
              <a:gs pos="0">
                <a:srgbClr val="DE5C9B"/>
              </a:gs>
              <a:gs pos="100000">
                <a:srgbClr val="DA8EA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研 / 究 / 内 / 容 / 二"/>
          <p:cNvSpPr txBox="1"/>
          <p:nvPr/>
        </p:nvSpPr>
        <p:spPr>
          <a:xfrm>
            <a:off x="219456" y="5477256"/>
            <a:ext cx="457200" cy="1691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研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究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内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容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二</a:t>
            </a:r>
          </a:p>
        </p:txBody>
      </p:sp>
      <p:sp>
        <p:nvSpPr>
          <p:cNvPr id="16" name="Editable graphic"/>
          <p:cNvSpPr/>
          <p:nvPr/>
        </p:nvSpPr>
        <p:spPr>
          <a:xfrm>
            <a:off x="91440" y="7516368"/>
            <a:ext cx="9756648" cy="5248656"/>
          </a:xfrm>
          <a:prstGeom prst="roundRect">
            <a:avLst>
              <a:gd name="adj" fmla="val 3310"/>
            </a:avLst>
          </a:prstGeom>
          <a:noFill/>
          <a:ln w="27940">
            <a:solidFill>
              <a:srgbClr val="36A9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graphic"/>
          <p:cNvSpPr/>
          <p:nvPr/>
        </p:nvSpPr>
        <p:spPr>
          <a:xfrm>
            <a:off x="164592" y="7598664"/>
            <a:ext cx="9601200" cy="5084064"/>
          </a:xfrm>
          <a:prstGeom prst="roundRect">
            <a:avLst>
              <a:gd name="adj" fmla="val 2877"/>
            </a:avLst>
          </a:prstGeom>
          <a:solidFill>
            <a:srgbClr val="FCEAF1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graphic"/>
          <p:cNvSpPr/>
          <p:nvPr/>
        </p:nvSpPr>
        <p:spPr>
          <a:xfrm>
            <a:off x="173736" y="7607808"/>
            <a:ext cx="557784" cy="5065776"/>
          </a:xfrm>
          <a:prstGeom prst="roundRect">
            <a:avLst>
              <a:gd name="adj" fmla="val 21311"/>
            </a:avLst>
          </a:prstGeom>
          <a:ln>
            <a:noFill/>
          </a:ln>
          <a:gradFill>
            <a:gsLst>
              <a:gs pos="0">
                <a:srgbClr val="D577A4"/>
              </a:gs>
              <a:gs pos="100000">
                <a:srgbClr val="DD9BB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graphic"/>
          <p:cNvSpPr/>
          <p:nvPr/>
        </p:nvSpPr>
        <p:spPr>
          <a:xfrm>
            <a:off x="448056" y="7607808"/>
            <a:ext cx="274320" cy="5065776"/>
          </a:xfrm>
          <a:prstGeom prst="rect">
            <a:avLst/>
          </a:prstGeom>
          <a:ln>
            <a:noFill/>
          </a:ln>
          <a:gradFill>
            <a:gsLst>
              <a:gs pos="0">
                <a:srgbClr val="D577A4"/>
              </a:gs>
              <a:gs pos="100000">
                <a:srgbClr val="DD9BB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研 / 究 / 内 / 容 / 三"/>
          <p:cNvSpPr txBox="1"/>
          <p:nvPr/>
        </p:nvSpPr>
        <p:spPr>
          <a:xfrm>
            <a:off x="219456" y="9006840"/>
            <a:ext cx="457200" cy="1691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研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究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内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容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>
                <a:solidFill>
                  <a:srgbClr val="FFFFFF"/>
                </a:solidFill>
                <a:latin typeface="Noto Serif CJK SC"/>
                <a:ea typeface="Noto Serif CJK SC"/>
              </a:rPr>
              <a:t>三</a:t>
            </a:r>
          </a:p>
        </p:txBody>
      </p:sp>
      <p:sp>
        <p:nvSpPr>
          <p:cNvPr id="21" name="Text: 中药复方多味药概念验证算法"/>
          <p:cNvSpPr txBox="1"/>
          <p:nvPr/>
        </p:nvSpPr>
        <p:spPr>
          <a:xfrm>
            <a:off x="2569464" y="850392"/>
            <a:ext cx="53949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00000"/>
                </a:solidFill>
                <a:latin typeface="Noto Serif CJK SC"/>
                <a:ea typeface="Noto Serif CJK SC"/>
              </a:rPr>
              <a:t>中药复方多味药概念验证算法</a:t>
            </a:r>
          </a:p>
        </p:txBody>
      </p:sp>
      <p:sp>
        <p:nvSpPr>
          <p:cNvPr id="22" name="Text: 大补肾汤成分演变、潜在暴露及靶点分析"/>
          <p:cNvSpPr txBox="1"/>
          <p:nvPr/>
        </p:nvSpPr>
        <p:spPr>
          <a:xfrm>
            <a:off x="1828800" y="1170432"/>
            <a:ext cx="68854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Noto Serif CJK SC"/>
                <a:ea typeface="Noto Serif CJK SC"/>
              </a:rPr>
              <a:t>大补肾汤成分演变、潜在暴露及靶点分析</a:t>
            </a:r>
          </a:p>
        </p:txBody>
      </p:sp>
      <p:sp>
        <p:nvSpPr>
          <p:cNvPr id="23" name="Editable graphic"/>
          <p:cNvSpPr/>
          <p:nvPr/>
        </p:nvSpPr>
        <p:spPr>
          <a:xfrm>
            <a:off x="832104" y="1499616"/>
            <a:ext cx="4343400" cy="795528"/>
          </a:xfrm>
          <a:prstGeom prst="roundRect">
            <a:avLst>
              <a:gd name="adj" fmla="val 6896"/>
            </a:avLst>
          </a:prstGeom>
          <a:solidFill>
            <a:srgbClr val="FAFEFF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graphic"/>
          <p:cNvSpPr/>
          <p:nvPr/>
        </p:nvSpPr>
        <p:spPr>
          <a:xfrm>
            <a:off x="5312664" y="1499616"/>
            <a:ext cx="4370832" cy="795528"/>
          </a:xfrm>
          <a:prstGeom prst="roundRect">
            <a:avLst>
              <a:gd name="adj" fmla="val 6896"/>
            </a:avLst>
          </a:prstGeom>
          <a:solidFill>
            <a:srgbClr val="FAFEFF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icon"/>
          <p:cNvSpPr/>
          <p:nvPr/>
        </p:nvSpPr>
        <p:spPr>
          <a:xfrm>
            <a:off x="1152144" y="1865376"/>
            <a:ext cx="438912" cy="283464"/>
          </a:xfrm>
          <a:custGeom>
            <a:avLst/>
            <a:gdLst/>
            <a:ahLst/>
            <a:cxnLst/>
            <a:rect l="l" t="t" r="r" b="b"/>
            <a:pathLst>
              <a:path w="48" h="31">
                <a:moveTo>
                  <a:pt x="0" y="0"/>
                </a:moveTo>
                <a:lnTo>
                  <a:pt x="48" y="0"/>
                </a:lnTo>
                <a:lnTo>
                  <a:pt x="44" y="16"/>
                </a:lnTo>
                <a:lnTo>
                  <a:pt x="36" y="28"/>
                </a:lnTo>
                <a:lnTo>
                  <a:pt x="25" y="31"/>
                </a:lnTo>
                <a:lnTo>
                  <a:pt x="15" y="28"/>
                </a:lnTo>
                <a:lnTo>
                  <a:pt x="5" y="16"/>
                </a:lnTo>
                <a:lnTo>
                  <a:pt x="0" y="0"/>
                </a:lnTo>
                <a:close/>
              </a:path>
            </a:pathLst>
          </a:custGeom>
          <a:solidFill>
            <a:srgbClr val="F1F5D6"/>
          </a:solidFill>
          <a:ln w="17780">
            <a:solidFill>
              <a:srgbClr val="4B7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275405" y="2168408"/>
            <a:ext cx="199705" cy="0"/>
          </a:xfrm>
          <a:prstGeom prst="line">
            <a:avLst/>
          </a:prstGeom>
          <a:ln w="16510">
            <a:solidFill>
              <a:srgbClr val="4B78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88059" y="1646834"/>
            <a:ext cx="128016" cy="232440"/>
          </a:xfrm>
          <a:prstGeom prst="line">
            <a:avLst/>
          </a:prstGeom>
          <a:ln w="63500">
            <a:solidFill>
              <a:srgbClr val="826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able graphic"/>
          <p:cNvSpPr/>
          <p:nvPr/>
        </p:nvSpPr>
        <p:spPr>
          <a:xfrm>
            <a:off x="1469989" y="1618488"/>
            <a:ext cx="87050" cy="96377"/>
          </a:xfrm>
          <a:prstGeom prst="ellipse">
            <a:avLst/>
          </a:prstGeom>
          <a:solidFill>
            <a:srgbClr val="826745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icon"/>
          <p:cNvSpPr/>
          <p:nvPr/>
        </p:nvSpPr>
        <p:spPr>
          <a:xfrm>
            <a:off x="1170432" y="1709928"/>
            <a:ext cx="210312" cy="201168"/>
          </a:xfrm>
          <a:custGeom>
            <a:avLst/>
            <a:gdLst/>
            <a:ahLst/>
            <a:cxnLst/>
            <a:rect l="l" t="t" r="r" b="b"/>
            <a:pathLst>
              <a:path w="23" h="22">
                <a:moveTo>
                  <a:pt x="23" y="22"/>
                </a:moveTo>
                <a:lnTo>
                  <a:pt x="11" y="17"/>
                </a:lnTo>
                <a:lnTo>
                  <a:pt x="1" y="11"/>
                </a:lnTo>
                <a:lnTo>
                  <a:pt x="0" y="0"/>
                </a:lnTo>
                <a:lnTo>
                  <a:pt x="13" y="4"/>
                </a:lnTo>
                <a:lnTo>
                  <a:pt x="22" y="12"/>
                </a:lnTo>
                <a:lnTo>
                  <a:pt x="23" y="22"/>
                </a:lnTo>
                <a:close/>
              </a:path>
            </a:pathLst>
          </a:custGeom>
          <a:solidFill>
            <a:srgbClr val="5C9C3A"/>
          </a:solidFill>
          <a:ln w="11430">
            <a:solidFill>
              <a:srgbClr val="4B7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198595" y="1743212"/>
            <a:ext cx="168981" cy="158740"/>
          </a:xfrm>
          <a:prstGeom prst="line">
            <a:avLst/>
          </a:prstGeom>
          <a:ln w="12700">
            <a:solidFill>
              <a:srgbClr val="C8E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: 处方核对与成分资料"/>
          <p:cNvSpPr txBox="1"/>
          <p:nvPr/>
        </p:nvSpPr>
        <p:spPr>
          <a:xfrm>
            <a:off x="2212848" y="1545336"/>
            <a:ext cx="280720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处方核对与成分资料</a:t>
            </a:r>
          </a:p>
        </p:txBody>
      </p:sp>
      <p:sp>
        <p:nvSpPr>
          <p:cNvPr id="32" name="Text: 七味药 · 比例3：3：3：1：1：1：1"/>
          <p:cNvSpPr txBox="1"/>
          <p:nvPr/>
        </p:nvSpPr>
        <p:spPr>
          <a:xfrm>
            <a:off x="1737360" y="1828800"/>
            <a:ext cx="328269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Noto Serif CJK SC"/>
                <a:ea typeface="Noto Serif CJK SC"/>
              </a:rPr>
              <a:t>七味药 · 比例3：3：3：1：1：1：1</a:t>
            </a:r>
          </a:p>
        </p:txBody>
      </p:sp>
      <p:sp>
        <p:nvSpPr>
          <p:cNvPr id="33" name="Text: ETCM、HERB、LOTUS、NPASS及原始文献"/>
          <p:cNvSpPr txBox="1"/>
          <p:nvPr/>
        </p:nvSpPr>
        <p:spPr>
          <a:xfrm>
            <a:off x="1691640" y="2029968"/>
            <a:ext cx="3374136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00000"/>
                </a:solidFill>
                <a:latin typeface="Noto Serif CJK SC"/>
                <a:ea typeface="Noto Serif CJK SC"/>
              </a:rPr>
              <a:t>ETCM、HERB、LOTUS、NPASS及原始文献</a:t>
            </a:r>
          </a:p>
        </p:txBody>
      </p:sp>
      <p:sp>
        <p:nvSpPr>
          <p:cNvPr id="34" name="Editable vector icon"/>
          <p:cNvSpPr/>
          <p:nvPr/>
        </p:nvSpPr>
        <p:spPr>
          <a:xfrm>
            <a:off x="5742432" y="1645920"/>
            <a:ext cx="356616" cy="493776"/>
          </a:xfrm>
          <a:custGeom>
            <a:avLst/>
            <a:gdLst/>
            <a:ahLst/>
            <a:cxnLst/>
            <a:rect l="l" t="t" r="r" b="b"/>
            <a:pathLst>
              <a:path w="39" h="54">
                <a:moveTo>
                  <a:pt x="0" y="0"/>
                </a:moveTo>
                <a:lnTo>
                  <a:pt x="29" y="0"/>
                </a:lnTo>
                <a:lnTo>
                  <a:pt x="39" y="13"/>
                </a:lnTo>
                <a:lnTo>
                  <a:pt x="39" y="54"/>
                </a:lnTo>
                <a:lnTo>
                  <a:pt x="0" y="54"/>
                </a:lnTo>
                <a:lnTo>
                  <a:pt x="0" y="0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icon"/>
          <p:cNvSpPr/>
          <p:nvPr/>
        </p:nvSpPr>
        <p:spPr>
          <a:xfrm>
            <a:off x="6007608" y="1645920"/>
            <a:ext cx="91440" cy="118872"/>
          </a:xfrm>
          <a:custGeom>
            <a:avLst/>
            <a:gdLst/>
            <a:ahLst/>
            <a:cxnLst/>
            <a:rect l="l" t="t" r="r" b="b"/>
            <a:pathLst>
              <a:path w="10" h="13">
                <a:moveTo>
                  <a:pt x="0" y="0"/>
                </a:moveTo>
                <a:lnTo>
                  <a:pt x="0" y="13"/>
                </a:lnTo>
                <a:lnTo>
                  <a:pt x="10" y="13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814852" y="1829165"/>
            <a:ext cx="219456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14852" y="1914022"/>
            <a:ext cx="219456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14852" y="1998878"/>
            <a:ext cx="219456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14852" y="2073127"/>
            <a:ext cx="219456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: 参数来源与质量标记"/>
          <p:cNvSpPr txBox="1"/>
          <p:nvPr/>
        </p:nvSpPr>
        <p:spPr>
          <a:xfrm>
            <a:off x="6912864" y="1545336"/>
            <a:ext cx="262432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参数来源与质量标记</a:t>
            </a:r>
          </a:p>
        </p:txBody>
      </p:sp>
      <p:sp>
        <p:nvSpPr>
          <p:cNvPr id="41" name="Text: 文献、推算、估计、默认及机器学习"/>
          <p:cNvSpPr txBox="1"/>
          <p:nvPr/>
        </p:nvSpPr>
        <p:spPr>
          <a:xfrm>
            <a:off x="6400800" y="1819656"/>
            <a:ext cx="313639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00000"/>
                </a:solidFill>
                <a:latin typeface="Noto Serif CJK SC"/>
                <a:ea typeface="Noto Serif CJK SC"/>
              </a:rPr>
              <a:t>文献、推算、估计、默认及机器学习</a:t>
            </a:r>
          </a:p>
        </p:txBody>
      </p:sp>
      <p:sp>
        <p:nvSpPr>
          <p:cNvPr id="42" name="Text: 实测值单独记录"/>
          <p:cNvSpPr txBox="1"/>
          <p:nvPr/>
        </p:nvSpPr>
        <p:spPr>
          <a:xfrm>
            <a:off x="6775704" y="2029968"/>
            <a:ext cx="241401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000000"/>
                </a:solidFill>
                <a:latin typeface="Noto Serif CJK SC"/>
                <a:ea typeface="Noto Serif CJK SC"/>
              </a:rPr>
              <a:t>实测值单独记录</a:t>
            </a:r>
          </a:p>
        </p:txBody>
      </p:sp>
      <p:sp>
        <p:nvSpPr>
          <p:cNvPr id="43" name="Editable graphic"/>
          <p:cNvSpPr/>
          <p:nvPr/>
        </p:nvSpPr>
        <p:spPr>
          <a:xfrm>
            <a:off x="868680" y="2468880"/>
            <a:ext cx="1563624" cy="402336"/>
          </a:xfrm>
          <a:prstGeom prst="roundRect">
            <a:avLst>
              <a:gd name="adj" fmla="val 18181"/>
            </a:avLst>
          </a:prstGeom>
          <a:solidFill>
            <a:srgbClr val="DB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药材投料"/>
          <p:cNvSpPr txBox="1"/>
          <p:nvPr/>
        </p:nvSpPr>
        <p:spPr>
          <a:xfrm>
            <a:off x="914400" y="2487168"/>
            <a:ext cx="1472184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药材投料</a:t>
            </a:r>
          </a:p>
        </p:txBody>
      </p:sp>
      <p:sp>
        <p:nvSpPr>
          <p:cNvPr id="45" name="Editable graphic"/>
          <p:cNvSpPr/>
          <p:nvPr/>
        </p:nvSpPr>
        <p:spPr>
          <a:xfrm>
            <a:off x="2715768" y="2468880"/>
            <a:ext cx="1353312" cy="402336"/>
          </a:xfrm>
          <a:prstGeom prst="roundRect">
            <a:avLst>
              <a:gd name="adj" fmla="val 18181"/>
            </a:avLst>
          </a:prstGeom>
          <a:solidFill>
            <a:srgbClr val="DB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共煎"/>
          <p:cNvSpPr txBox="1"/>
          <p:nvPr/>
        </p:nvSpPr>
        <p:spPr>
          <a:xfrm>
            <a:off x="2761488" y="2487168"/>
            <a:ext cx="126187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共煎</a:t>
            </a:r>
          </a:p>
        </p:txBody>
      </p:sp>
      <p:sp>
        <p:nvSpPr>
          <p:cNvPr id="47" name="Editable graphic"/>
          <p:cNvSpPr/>
          <p:nvPr/>
        </p:nvSpPr>
        <p:spPr>
          <a:xfrm>
            <a:off x="4343400" y="2468880"/>
            <a:ext cx="1481328" cy="402336"/>
          </a:xfrm>
          <a:prstGeom prst="roundRect">
            <a:avLst>
              <a:gd name="adj" fmla="val 18181"/>
            </a:avLst>
          </a:prstGeom>
          <a:solidFill>
            <a:srgbClr val="DB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胃肠环境"/>
          <p:cNvSpPr txBox="1"/>
          <p:nvPr/>
        </p:nvSpPr>
        <p:spPr>
          <a:xfrm>
            <a:off x="4389120" y="2487168"/>
            <a:ext cx="1389888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胃肠环境</a:t>
            </a:r>
          </a:p>
        </p:txBody>
      </p:sp>
      <p:sp>
        <p:nvSpPr>
          <p:cNvPr id="49" name="Editable graphic"/>
          <p:cNvSpPr/>
          <p:nvPr/>
        </p:nvSpPr>
        <p:spPr>
          <a:xfrm>
            <a:off x="6099048" y="2468880"/>
            <a:ext cx="1600200" cy="402336"/>
          </a:xfrm>
          <a:prstGeom prst="roundRect">
            <a:avLst>
              <a:gd name="adj" fmla="val 18181"/>
            </a:avLst>
          </a:prstGeom>
          <a:solidFill>
            <a:srgbClr val="DB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菌群转化"/>
          <p:cNvSpPr txBox="1"/>
          <p:nvPr/>
        </p:nvSpPr>
        <p:spPr>
          <a:xfrm>
            <a:off x="6144768" y="2487168"/>
            <a:ext cx="1508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菌群转化</a:t>
            </a:r>
          </a:p>
        </p:txBody>
      </p:sp>
      <p:sp>
        <p:nvSpPr>
          <p:cNvPr id="51" name="Editable graphic"/>
          <p:cNvSpPr/>
          <p:nvPr/>
        </p:nvSpPr>
        <p:spPr>
          <a:xfrm>
            <a:off x="7982712" y="2468880"/>
            <a:ext cx="1627632" cy="402336"/>
          </a:xfrm>
          <a:prstGeom prst="roundRect">
            <a:avLst>
              <a:gd name="adj" fmla="val 18181"/>
            </a:avLst>
          </a:prstGeom>
          <a:solidFill>
            <a:srgbClr val="DB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潜在入血"/>
          <p:cNvSpPr txBox="1"/>
          <p:nvPr/>
        </p:nvSpPr>
        <p:spPr>
          <a:xfrm>
            <a:off x="8028431" y="2487168"/>
            <a:ext cx="15361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潜在入血</a:t>
            </a:r>
          </a:p>
        </p:txBody>
      </p:sp>
      <p:sp>
        <p:nvSpPr>
          <p:cNvPr id="53" name="Editable graphic"/>
          <p:cNvSpPr/>
          <p:nvPr/>
        </p:nvSpPr>
        <p:spPr>
          <a:xfrm>
            <a:off x="2441448" y="2606040"/>
            <a:ext cx="256032" cy="128016"/>
          </a:xfrm>
          <a:prstGeom prst="right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graphic"/>
          <p:cNvSpPr/>
          <p:nvPr/>
        </p:nvSpPr>
        <p:spPr>
          <a:xfrm>
            <a:off x="4087368" y="2606040"/>
            <a:ext cx="237744" cy="128016"/>
          </a:xfrm>
          <a:prstGeom prst="right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graphic"/>
          <p:cNvSpPr/>
          <p:nvPr/>
        </p:nvSpPr>
        <p:spPr>
          <a:xfrm>
            <a:off x="5852160" y="2606040"/>
            <a:ext cx="228600" cy="128016"/>
          </a:xfrm>
          <a:prstGeom prst="right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graphic"/>
          <p:cNvSpPr/>
          <p:nvPr/>
        </p:nvSpPr>
        <p:spPr>
          <a:xfrm>
            <a:off x="7726679" y="2606040"/>
            <a:ext cx="237744" cy="128016"/>
          </a:xfrm>
          <a:prstGeom prst="right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093208" y="2295144"/>
            <a:ext cx="0" cy="128016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ditable graphic"/>
          <p:cNvSpPr/>
          <p:nvPr/>
        </p:nvSpPr>
        <p:spPr>
          <a:xfrm>
            <a:off x="5038344" y="2359152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719072" y="2871216"/>
            <a:ext cx="0" cy="118872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19072" y="2990088"/>
            <a:ext cx="7077456" cy="0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796528" y="2871216"/>
            <a:ext cx="0" cy="118872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322576" y="2990088"/>
            <a:ext cx="0" cy="118872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ditable graphic"/>
          <p:cNvSpPr/>
          <p:nvPr/>
        </p:nvSpPr>
        <p:spPr>
          <a:xfrm>
            <a:off x="2267712" y="3044952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5093208" y="2990088"/>
            <a:ext cx="0" cy="118872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ditable graphic"/>
          <p:cNvSpPr/>
          <p:nvPr/>
        </p:nvSpPr>
        <p:spPr>
          <a:xfrm>
            <a:off x="5038344" y="3044952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8183879" y="2990088"/>
            <a:ext cx="0" cy="118872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Editable graphic"/>
          <p:cNvSpPr/>
          <p:nvPr/>
        </p:nvSpPr>
        <p:spPr>
          <a:xfrm>
            <a:off x="8129016" y="3044952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graphic"/>
          <p:cNvSpPr/>
          <p:nvPr/>
        </p:nvSpPr>
        <p:spPr>
          <a:xfrm>
            <a:off x="832104" y="3154680"/>
            <a:ext cx="2816352" cy="594360"/>
          </a:xfrm>
          <a:prstGeom prst="roundRect">
            <a:avLst>
              <a:gd name="adj" fmla="val 9230"/>
            </a:avLst>
          </a:prstGeom>
          <a:solidFill>
            <a:srgbClr val="FAFEFF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graphic"/>
          <p:cNvSpPr/>
          <p:nvPr/>
        </p:nvSpPr>
        <p:spPr>
          <a:xfrm>
            <a:off x="3776472" y="3154680"/>
            <a:ext cx="2651760" cy="594360"/>
          </a:xfrm>
          <a:prstGeom prst="roundRect">
            <a:avLst>
              <a:gd name="adj" fmla="val 9230"/>
            </a:avLst>
          </a:prstGeom>
          <a:solidFill>
            <a:srgbClr val="FAFEFF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graphic"/>
          <p:cNvSpPr/>
          <p:nvPr/>
        </p:nvSpPr>
        <p:spPr>
          <a:xfrm>
            <a:off x="6565392" y="3154680"/>
            <a:ext cx="3118104" cy="594360"/>
          </a:xfrm>
          <a:prstGeom prst="roundRect">
            <a:avLst>
              <a:gd name="adj" fmla="val 9230"/>
            </a:avLst>
          </a:prstGeom>
          <a:solidFill>
            <a:srgbClr val="FAFEFF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graphic"/>
          <p:cNvSpPr/>
          <p:nvPr/>
        </p:nvSpPr>
        <p:spPr>
          <a:xfrm>
            <a:off x="1005382" y="3550066"/>
            <a:ext cx="49926" cy="107533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graphic"/>
          <p:cNvSpPr/>
          <p:nvPr/>
        </p:nvSpPr>
        <p:spPr>
          <a:xfrm>
            <a:off x="1090970" y="3473256"/>
            <a:ext cx="49926" cy="184343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graphic"/>
          <p:cNvSpPr/>
          <p:nvPr/>
        </p:nvSpPr>
        <p:spPr>
          <a:xfrm>
            <a:off x="1176558" y="3373404"/>
            <a:ext cx="49926" cy="284195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graphic"/>
          <p:cNvSpPr/>
          <p:nvPr/>
        </p:nvSpPr>
        <p:spPr>
          <a:xfrm>
            <a:off x="1262146" y="3273552"/>
            <a:ext cx="49926" cy="384048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graphic"/>
          <p:cNvSpPr/>
          <p:nvPr/>
        </p:nvSpPr>
        <p:spPr>
          <a:xfrm>
            <a:off x="3922776" y="3264408"/>
            <a:ext cx="393192" cy="393192"/>
          </a:xfrm>
          <a:prstGeom prst="gear6">
            <a:avLst>
              <a:gd name="adj1" fmla="val 20000"/>
              <a:gd name="adj2" fmla="val 3526"/>
            </a:avLst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graphic"/>
          <p:cNvSpPr/>
          <p:nvPr/>
        </p:nvSpPr>
        <p:spPr>
          <a:xfrm>
            <a:off x="4044665" y="3386297"/>
            <a:ext cx="149412" cy="149412"/>
          </a:xfrm>
          <a:prstGeom prst="ellipse">
            <a:avLst/>
          </a:prstGeom>
          <a:solidFill>
            <a:srgbClr val="F8FE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graphic"/>
          <p:cNvSpPr/>
          <p:nvPr/>
        </p:nvSpPr>
        <p:spPr>
          <a:xfrm>
            <a:off x="6732270" y="3257550"/>
            <a:ext cx="416052" cy="416052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graphic"/>
          <p:cNvSpPr/>
          <p:nvPr/>
        </p:nvSpPr>
        <p:spPr>
          <a:xfrm>
            <a:off x="6789420" y="3314700"/>
            <a:ext cx="301752" cy="301752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graphic"/>
          <p:cNvSpPr/>
          <p:nvPr/>
        </p:nvSpPr>
        <p:spPr>
          <a:xfrm>
            <a:off x="6848856" y="3374136"/>
            <a:ext cx="182880" cy="182880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6940296" y="3278124"/>
            <a:ext cx="182880" cy="196596"/>
          </a:xfrm>
          <a:prstGeom prst="line">
            <a:avLst/>
          </a:prstGeom>
          <a:ln w="29209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Editable vector icon"/>
          <p:cNvSpPr/>
          <p:nvPr/>
        </p:nvSpPr>
        <p:spPr>
          <a:xfrm>
            <a:off x="7068312" y="3246120"/>
            <a:ext cx="100584" cy="100584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6"/>
                </a:moveTo>
                <a:lnTo>
                  <a:pt x="1" y="0"/>
                </a:lnTo>
                <a:lnTo>
                  <a:pt x="11" y="0"/>
                </a:lnTo>
                <a:lnTo>
                  <a:pt x="9" y="9"/>
                </a:lnTo>
                <a:lnTo>
                  <a:pt x="4" y="11"/>
                </a:lnTo>
                <a:close/>
              </a:path>
            </a:pathLst>
          </a:custGeom>
          <a:solidFill>
            <a:srgbClr val="0876B8"/>
          </a:solidFill>
          <a:ln w="63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潜在暴露分析"/>
          <p:cNvSpPr txBox="1"/>
          <p:nvPr/>
        </p:nvSpPr>
        <p:spPr>
          <a:xfrm>
            <a:off x="1673352" y="3182112"/>
            <a:ext cx="1856231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潜在暴露分析</a:t>
            </a:r>
          </a:p>
        </p:txBody>
      </p:sp>
      <p:sp>
        <p:nvSpPr>
          <p:cNvPr id="83" name="Text: 机器学习补参 · 条件适用时PBPK"/>
          <p:cNvSpPr txBox="1"/>
          <p:nvPr/>
        </p:nvSpPr>
        <p:spPr>
          <a:xfrm>
            <a:off x="1362456" y="3483864"/>
            <a:ext cx="2203704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000000"/>
                </a:solidFill>
                <a:latin typeface="Noto Serif CJK SC"/>
                <a:ea typeface="Noto Serif CJK SC"/>
              </a:rPr>
              <a:t>机器学习补参 · 条件适用时PBPK</a:t>
            </a:r>
          </a:p>
        </p:txBody>
      </p:sp>
      <p:sp>
        <p:nvSpPr>
          <p:cNvPr id="84" name="Text: 稳定性检验"/>
          <p:cNvSpPr txBox="1"/>
          <p:nvPr/>
        </p:nvSpPr>
        <p:spPr>
          <a:xfrm>
            <a:off x="4599432" y="3182112"/>
            <a:ext cx="1655064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稳定性检验</a:t>
            </a:r>
          </a:p>
        </p:txBody>
      </p:sp>
      <p:sp>
        <p:nvSpPr>
          <p:cNvPr id="85" name="Text: 蒙特卡洛抽样 · 参数敏感性"/>
          <p:cNvSpPr txBox="1"/>
          <p:nvPr/>
        </p:nvSpPr>
        <p:spPr>
          <a:xfrm>
            <a:off x="4398264" y="3483864"/>
            <a:ext cx="19659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000000"/>
                </a:solidFill>
                <a:latin typeface="Noto Serif CJK SC"/>
                <a:ea typeface="Noto Serif CJK SC"/>
              </a:rPr>
              <a:t>蒙特卡洛抽样 · 参数敏感性</a:t>
            </a:r>
          </a:p>
        </p:txBody>
      </p:sp>
      <p:sp>
        <p:nvSpPr>
          <p:cNvPr id="86" name="Text: 候选靶点与通路"/>
          <p:cNvSpPr txBox="1"/>
          <p:nvPr/>
        </p:nvSpPr>
        <p:spPr>
          <a:xfrm>
            <a:off x="7269480" y="3182112"/>
            <a:ext cx="2304288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候选靶点与通路</a:t>
            </a:r>
          </a:p>
        </p:txBody>
      </p:sp>
      <p:sp>
        <p:nvSpPr>
          <p:cNvPr id="87" name="Text: AICD/KOA证据复核 · PPI · GO/KEGG"/>
          <p:cNvSpPr txBox="1"/>
          <p:nvPr/>
        </p:nvSpPr>
        <p:spPr>
          <a:xfrm>
            <a:off x="7178040" y="3483864"/>
            <a:ext cx="2432304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>
                <a:solidFill>
                  <a:srgbClr val="000000"/>
                </a:solidFill>
                <a:latin typeface="Noto Serif CJK SC"/>
                <a:ea typeface="Noto Serif CJK SC"/>
              </a:rPr>
              <a:t>AICD/KOA证据复核 · PPI · GO/KEGG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468880" y="3749039"/>
            <a:ext cx="0" cy="82297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68880" y="3831336"/>
            <a:ext cx="5385816" cy="0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54696" y="3749039"/>
            <a:ext cx="0" cy="82297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093208" y="3749039"/>
            <a:ext cx="0" cy="146305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Editable graphic"/>
          <p:cNvSpPr/>
          <p:nvPr/>
        </p:nvSpPr>
        <p:spPr>
          <a:xfrm>
            <a:off x="5038344" y="3831336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graphic"/>
          <p:cNvSpPr/>
          <p:nvPr/>
        </p:nvSpPr>
        <p:spPr>
          <a:xfrm>
            <a:off x="2642616" y="3941063"/>
            <a:ext cx="4928616" cy="384048"/>
          </a:xfrm>
          <a:prstGeom prst="roundRect">
            <a:avLst>
              <a:gd name="adj" fmla="val 16666"/>
            </a:avLst>
          </a:prstGeom>
          <a:solidFill>
            <a:srgbClr val="DCF2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graphic"/>
          <p:cNvSpPr/>
          <p:nvPr/>
        </p:nvSpPr>
        <p:spPr>
          <a:xfrm>
            <a:off x="3045317" y="4007723"/>
            <a:ext cx="267370" cy="182971"/>
          </a:xfrm>
          <a:prstGeom prst="rect">
            <a:avLst/>
          </a:pr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3160349" y="4195998"/>
            <a:ext cx="0" cy="55687"/>
          </a:xfrm>
          <a:prstGeom prst="line">
            <a:avLst/>
          </a:prstGeom>
          <a:ln w="2540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88843" y="4259640"/>
            <a:ext cx="161666" cy="0"/>
          </a:xfrm>
          <a:prstGeom prst="line">
            <a:avLst/>
          </a:prstGeom>
          <a:ln w="2540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45317" y="4156222"/>
            <a:ext cx="267371" cy="0"/>
          </a:xfrm>
          <a:prstGeom prst="line">
            <a:avLst/>
          </a:prstGeom>
          <a:ln w="1905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Editable vector icon"/>
          <p:cNvSpPr/>
          <p:nvPr/>
        </p:nvSpPr>
        <p:spPr>
          <a:xfrm>
            <a:off x="3081528" y="4050792"/>
            <a:ext cx="192024" cy="73152"/>
          </a:xfrm>
          <a:custGeom>
            <a:avLst/>
            <a:gdLst/>
            <a:ahLst/>
            <a:cxnLst/>
            <a:rect l="l" t="t" r="r" b="b"/>
            <a:pathLst>
              <a:path w="21" h="8">
                <a:moveTo>
                  <a:pt x="0" y="8"/>
                </a:moveTo>
                <a:lnTo>
                  <a:pt x="7" y="4"/>
                </a:lnTo>
                <a:lnTo>
                  <a:pt x="13" y="6"/>
                </a:lnTo>
                <a:lnTo>
                  <a:pt x="21" y="0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: HPLC煎液质控与部分成分、代谢物质谱核对"/>
          <p:cNvSpPr txBox="1"/>
          <p:nvPr/>
        </p:nvSpPr>
        <p:spPr>
          <a:xfrm>
            <a:off x="3474720" y="3968496"/>
            <a:ext cx="398678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12" b="1">
                <a:solidFill>
                  <a:srgbClr val="000000"/>
                </a:solidFill>
                <a:latin typeface="Noto Serif CJK SC"/>
                <a:ea typeface="Noto Serif CJK SC"/>
              </a:rPr>
              <a:t>HPLC煎液质控与部分成分、代谢物质谱核对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093208" y="4325112"/>
            <a:ext cx="0" cy="36576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Editable graphic"/>
          <p:cNvSpPr/>
          <p:nvPr/>
        </p:nvSpPr>
        <p:spPr>
          <a:xfrm>
            <a:off x="5038344" y="4297680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graphic"/>
          <p:cNvSpPr/>
          <p:nvPr/>
        </p:nvSpPr>
        <p:spPr>
          <a:xfrm>
            <a:off x="1435608" y="4407408"/>
            <a:ext cx="7598664" cy="566928"/>
          </a:xfrm>
          <a:prstGeom prst="roundRect">
            <a:avLst>
              <a:gd name="adj" fmla="val 11290"/>
            </a:avLst>
          </a:prstGeom>
          <a:solidFill>
            <a:srgbClr val="E5F6FC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graphic"/>
          <p:cNvSpPr/>
          <p:nvPr/>
        </p:nvSpPr>
        <p:spPr>
          <a:xfrm>
            <a:off x="2658160" y="4491990"/>
            <a:ext cx="339516" cy="98755"/>
          </a:xfrm>
          <a:prstGeom prst="ellipse">
            <a:avLst/>
          </a:prstGeom>
          <a:solidFill>
            <a:srgbClr val="F8FDFF"/>
          </a:solidFill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658160" y="4545482"/>
            <a:ext cx="0" cy="263347"/>
          </a:xfrm>
          <a:prstGeom prst="line">
            <a:avLst/>
          </a:prstGeom>
          <a:ln w="2159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997677" y="4545482"/>
            <a:ext cx="0" cy="263347"/>
          </a:xfrm>
          <a:prstGeom prst="line">
            <a:avLst/>
          </a:prstGeom>
          <a:ln w="2159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Editable vector icon"/>
          <p:cNvSpPr/>
          <p:nvPr/>
        </p:nvSpPr>
        <p:spPr>
          <a:xfrm>
            <a:off x="2660904" y="4590288"/>
            <a:ext cx="338328" cy="45720"/>
          </a:xfrm>
          <a:custGeom>
            <a:avLst/>
            <a:gdLst/>
            <a:ahLst/>
            <a:cxnLst/>
            <a:rect l="l" t="t" r="r" b="b"/>
            <a:pathLst>
              <a:path w="37" h="5">
                <a:moveTo>
                  <a:pt x="0" y="0"/>
                </a:moveTo>
                <a:lnTo>
                  <a:pt x="5" y="4"/>
                </a:lnTo>
                <a:lnTo>
                  <a:pt x="18" y="5"/>
                </a:lnTo>
                <a:lnTo>
                  <a:pt x="30" y="4"/>
                </a:lnTo>
                <a:lnTo>
                  <a:pt x="37" y="0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icon"/>
          <p:cNvSpPr/>
          <p:nvPr/>
        </p:nvSpPr>
        <p:spPr>
          <a:xfrm>
            <a:off x="2660904" y="4672584"/>
            <a:ext cx="338328" cy="54864"/>
          </a:xfrm>
          <a:custGeom>
            <a:avLst/>
            <a:gdLst/>
            <a:ahLst/>
            <a:cxnLst/>
            <a:rect l="l" t="t" r="r" b="b"/>
            <a:pathLst>
              <a:path w="37" h="6">
                <a:moveTo>
                  <a:pt x="0" y="0"/>
                </a:moveTo>
                <a:lnTo>
                  <a:pt x="5" y="4"/>
                </a:lnTo>
                <a:lnTo>
                  <a:pt x="18" y="6"/>
                </a:lnTo>
                <a:lnTo>
                  <a:pt x="30" y="4"/>
                </a:lnTo>
                <a:lnTo>
                  <a:pt x="37" y="0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icon"/>
          <p:cNvSpPr/>
          <p:nvPr/>
        </p:nvSpPr>
        <p:spPr>
          <a:xfrm>
            <a:off x="2660904" y="4764024"/>
            <a:ext cx="338328" cy="54864"/>
          </a:xfrm>
          <a:custGeom>
            <a:avLst/>
            <a:gdLst/>
            <a:ahLst/>
            <a:cxnLst/>
            <a:rect l="l" t="t" r="r" b="b"/>
            <a:pathLst>
              <a:path w="37" h="6">
                <a:moveTo>
                  <a:pt x="0" y="0"/>
                </a:moveTo>
                <a:lnTo>
                  <a:pt x="5" y="4"/>
                </a:lnTo>
                <a:lnTo>
                  <a:pt x="18" y="6"/>
                </a:lnTo>
                <a:lnTo>
                  <a:pt x="30" y="4"/>
                </a:lnTo>
                <a:lnTo>
                  <a:pt x="37" y="0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icon"/>
          <p:cNvSpPr/>
          <p:nvPr/>
        </p:nvSpPr>
        <p:spPr>
          <a:xfrm>
            <a:off x="2660904" y="4809744"/>
            <a:ext cx="338328" cy="64008"/>
          </a:xfrm>
          <a:custGeom>
            <a:avLst/>
            <a:gdLst/>
            <a:ahLst/>
            <a:cxnLst/>
            <a:rect l="l" t="t" r="r" b="b"/>
            <a:pathLst>
              <a:path w="37" h="7">
                <a:moveTo>
                  <a:pt x="0" y="0"/>
                </a:moveTo>
                <a:lnTo>
                  <a:pt x="5" y="5"/>
                </a:lnTo>
                <a:lnTo>
                  <a:pt x="18" y="7"/>
                </a:lnTo>
                <a:lnTo>
                  <a:pt x="30" y="5"/>
                </a:lnTo>
                <a:lnTo>
                  <a:pt x="37" y="0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: 形成成分—代谢物—潜在靶点资料，筛选优先验证节点"/>
          <p:cNvSpPr txBox="1"/>
          <p:nvPr/>
        </p:nvSpPr>
        <p:spPr>
          <a:xfrm>
            <a:off x="3172968" y="4453128"/>
            <a:ext cx="573328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00000"/>
                </a:solidFill>
                <a:latin typeface="Noto Serif CJK SC"/>
                <a:ea typeface="Noto Serif CJK SC"/>
              </a:rPr>
              <a:t>形成成分—代谢物—潜在靶点资料，筛选优先验证节点</a:t>
            </a:r>
          </a:p>
        </p:txBody>
      </p:sp>
      <p:sp>
        <p:nvSpPr>
          <p:cNvPr id="111" name="Text: 预测暴露不等同实测血药浓度；药材贡献不证明配伍协同"/>
          <p:cNvSpPr txBox="1"/>
          <p:nvPr/>
        </p:nvSpPr>
        <p:spPr>
          <a:xfrm>
            <a:off x="3291840" y="4718304"/>
            <a:ext cx="5577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预测暴露不等同实测血药浓度；药材贡献不证明配伍协同</a:t>
            </a:r>
          </a:p>
        </p:txBody>
      </p:sp>
      <p:sp>
        <p:nvSpPr>
          <p:cNvPr id="112" name="Editable graphic"/>
          <p:cNvSpPr/>
          <p:nvPr/>
        </p:nvSpPr>
        <p:spPr>
          <a:xfrm>
            <a:off x="4837176" y="5029200"/>
            <a:ext cx="320040" cy="265176"/>
          </a:xfrm>
          <a:prstGeom prst="downArrow">
            <a:avLst/>
          </a:prstGeom>
          <a:ln>
            <a:noFill/>
          </a:ln>
          <a:gradFill>
            <a:gsLst>
              <a:gs pos="0">
                <a:srgbClr val="78B9CD"/>
              </a:gs>
              <a:gs pos="100000">
                <a:srgbClr val="D87A9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: 潜在暴露成分及代谢物与AICD候选靶点的分子对接"/>
          <p:cNvSpPr txBox="1"/>
          <p:nvPr/>
        </p:nvSpPr>
        <p:spPr>
          <a:xfrm>
            <a:off x="1600200" y="5349240"/>
            <a:ext cx="784555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00000"/>
                </a:solidFill>
                <a:latin typeface="Noto Serif CJK SC"/>
                <a:ea typeface="Noto Serif CJK SC"/>
              </a:rPr>
              <a:t>潜在暴露成分及代谢物与AICD候选靶点的分子对接</a:t>
            </a:r>
          </a:p>
        </p:txBody>
      </p:sp>
      <p:sp>
        <p:nvSpPr>
          <p:cNvPr id="114" name="Editable graphic"/>
          <p:cNvSpPr/>
          <p:nvPr/>
        </p:nvSpPr>
        <p:spPr>
          <a:xfrm>
            <a:off x="832104" y="5769864"/>
            <a:ext cx="2816352" cy="777240"/>
          </a:xfrm>
          <a:prstGeom prst="roundRect">
            <a:avLst>
              <a:gd name="adj" fmla="val 7058"/>
            </a:avLst>
          </a:prstGeom>
          <a:solidFill>
            <a:srgbClr val="FFFAFD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graphic"/>
          <p:cNvSpPr/>
          <p:nvPr/>
        </p:nvSpPr>
        <p:spPr>
          <a:xfrm>
            <a:off x="4050791" y="5769864"/>
            <a:ext cx="2651760" cy="777240"/>
          </a:xfrm>
          <a:prstGeom prst="roundRect">
            <a:avLst>
              <a:gd name="adj" fmla="val 7058"/>
            </a:avLst>
          </a:prstGeom>
          <a:solidFill>
            <a:srgbClr val="FFFAFD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graphic"/>
          <p:cNvSpPr/>
          <p:nvPr/>
        </p:nvSpPr>
        <p:spPr>
          <a:xfrm>
            <a:off x="7104888" y="5769864"/>
            <a:ext cx="2578608" cy="777240"/>
          </a:xfrm>
          <a:prstGeom prst="roundRect">
            <a:avLst>
              <a:gd name="adj" fmla="val 7058"/>
            </a:avLst>
          </a:prstGeom>
          <a:solidFill>
            <a:srgbClr val="FFFAFD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graphic"/>
          <p:cNvSpPr/>
          <p:nvPr/>
        </p:nvSpPr>
        <p:spPr>
          <a:xfrm>
            <a:off x="1070396" y="5930066"/>
            <a:ext cx="401055" cy="328086"/>
          </a:xfrm>
          <a:prstGeom prst="rect">
            <a:avLst/>
          </a:pr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242943" y="6267663"/>
            <a:ext cx="0" cy="99852"/>
          </a:xfrm>
          <a:prstGeom prst="line">
            <a:avLst/>
          </a:prstGeom>
          <a:ln w="2540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135684" y="6381780"/>
            <a:ext cx="242499" cy="0"/>
          </a:xfrm>
          <a:prstGeom prst="line">
            <a:avLst/>
          </a:prstGeom>
          <a:ln w="2540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70396" y="6196340"/>
            <a:ext cx="401056" cy="0"/>
          </a:xfrm>
          <a:prstGeom prst="line">
            <a:avLst/>
          </a:prstGeom>
          <a:ln w="1905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Editable vector icon"/>
          <p:cNvSpPr/>
          <p:nvPr/>
        </p:nvSpPr>
        <p:spPr>
          <a:xfrm>
            <a:off x="4270248" y="6053328"/>
            <a:ext cx="265176" cy="274320"/>
          </a:xfrm>
          <a:custGeom>
            <a:avLst/>
            <a:gdLst/>
            <a:ahLst/>
            <a:cxnLst/>
            <a:rect l="l" t="t" r="r" b="b"/>
            <a:pathLst>
              <a:path w="29" h="30">
                <a:moveTo>
                  <a:pt x="0" y="6"/>
                </a:moveTo>
                <a:lnTo>
                  <a:pt x="13" y="0"/>
                </a:lnTo>
                <a:lnTo>
                  <a:pt x="26" y="6"/>
                </a:lnTo>
                <a:lnTo>
                  <a:pt x="29" y="21"/>
                </a:lnTo>
                <a:lnTo>
                  <a:pt x="18" y="30"/>
                </a:lnTo>
                <a:lnTo>
                  <a:pt x="3" y="24"/>
                </a:lnTo>
                <a:lnTo>
                  <a:pt x="0" y="6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graphic"/>
          <p:cNvSpPr/>
          <p:nvPr/>
        </p:nvSpPr>
        <p:spPr>
          <a:xfrm>
            <a:off x="4253925" y="6086475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graphic"/>
          <p:cNvSpPr/>
          <p:nvPr/>
        </p:nvSpPr>
        <p:spPr>
          <a:xfrm>
            <a:off x="4370237" y="6031153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graphic"/>
          <p:cNvSpPr/>
          <p:nvPr/>
        </p:nvSpPr>
        <p:spPr>
          <a:xfrm>
            <a:off x="4491395" y="6091504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graphic"/>
          <p:cNvSpPr/>
          <p:nvPr/>
        </p:nvSpPr>
        <p:spPr>
          <a:xfrm>
            <a:off x="4515627" y="6227292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graphic"/>
          <p:cNvSpPr/>
          <p:nvPr/>
        </p:nvSpPr>
        <p:spPr>
          <a:xfrm>
            <a:off x="4413854" y="6307759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graphic"/>
          <p:cNvSpPr/>
          <p:nvPr/>
        </p:nvSpPr>
        <p:spPr>
          <a:xfrm>
            <a:off x="4278157" y="6257467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 flipH="1" flipV="1">
            <a:off x="4198193" y="6003493"/>
            <a:ext cx="72695" cy="100584"/>
          </a:xfrm>
          <a:prstGeom prst="line">
            <a:avLst/>
          </a:prstGeom>
          <a:ln w="177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Editable graphic"/>
          <p:cNvSpPr/>
          <p:nvPr/>
        </p:nvSpPr>
        <p:spPr>
          <a:xfrm>
            <a:off x="4181231" y="5985891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4387199" y="5907938"/>
            <a:ext cx="19386" cy="140818"/>
          </a:xfrm>
          <a:prstGeom prst="line">
            <a:avLst/>
          </a:prstGeom>
          <a:ln w="177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Editable graphic"/>
          <p:cNvSpPr/>
          <p:nvPr/>
        </p:nvSpPr>
        <p:spPr>
          <a:xfrm>
            <a:off x="4389622" y="5890336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 flipV="1">
            <a:off x="4508357" y="6043726"/>
            <a:ext cx="106619" cy="65380"/>
          </a:xfrm>
          <a:prstGeom prst="line">
            <a:avLst/>
          </a:prstGeom>
          <a:ln w="177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Editable graphic"/>
          <p:cNvSpPr/>
          <p:nvPr/>
        </p:nvSpPr>
        <p:spPr>
          <a:xfrm>
            <a:off x="4598014" y="6026124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4532589" y="6244894"/>
            <a:ext cx="111465" cy="85497"/>
          </a:xfrm>
          <a:prstGeom prst="line">
            <a:avLst/>
          </a:prstGeom>
          <a:ln w="177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Editable graphic"/>
          <p:cNvSpPr/>
          <p:nvPr/>
        </p:nvSpPr>
        <p:spPr>
          <a:xfrm>
            <a:off x="4627092" y="6312789"/>
            <a:ext cx="33924" cy="35204"/>
          </a:xfrm>
          <a:prstGeom prst="ellipse">
            <a:avLst/>
          </a:prstGeom>
          <a:solidFill>
            <a:srgbClr val="EAF8FF"/>
          </a:solidFill>
          <a:ln w="1397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graphic"/>
          <p:cNvSpPr/>
          <p:nvPr/>
        </p:nvSpPr>
        <p:spPr>
          <a:xfrm>
            <a:off x="7280910" y="6250472"/>
            <a:ext cx="57607" cy="122895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graphic"/>
          <p:cNvSpPr/>
          <p:nvPr/>
        </p:nvSpPr>
        <p:spPr>
          <a:xfrm>
            <a:off x="7379665" y="6162690"/>
            <a:ext cx="57607" cy="210677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graphic"/>
          <p:cNvSpPr/>
          <p:nvPr/>
        </p:nvSpPr>
        <p:spPr>
          <a:xfrm>
            <a:off x="7478420" y="6048573"/>
            <a:ext cx="57607" cy="324794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graphic"/>
          <p:cNvSpPr/>
          <p:nvPr/>
        </p:nvSpPr>
        <p:spPr>
          <a:xfrm>
            <a:off x="7577175" y="5934456"/>
            <a:ext cx="57607" cy="438912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: 组合与结构选择"/>
          <p:cNvSpPr txBox="1"/>
          <p:nvPr/>
        </p:nvSpPr>
        <p:spPr>
          <a:xfrm>
            <a:off x="1618488" y="5833872"/>
            <a:ext cx="1911095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组合与结构选择</a:t>
            </a:r>
          </a:p>
        </p:txBody>
      </p:sp>
      <p:sp>
        <p:nvSpPr>
          <p:cNvPr id="141" name="Text: 来源、结构及暴露线索"/>
          <p:cNvSpPr txBox="1"/>
          <p:nvPr/>
        </p:nvSpPr>
        <p:spPr>
          <a:xfrm>
            <a:off x="1600200" y="609904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54" b="0">
                <a:solidFill>
                  <a:srgbClr val="000000"/>
                </a:solidFill>
                <a:latin typeface="Noto Serif CJK SC"/>
                <a:ea typeface="Noto Serif CJK SC"/>
              </a:rPr>
              <a:t>来源、结构及暴露线索</a:t>
            </a:r>
          </a:p>
        </p:txBody>
      </p:sp>
      <p:sp>
        <p:nvSpPr>
          <p:cNvPr id="142" name="Text: PubChem · PDB"/>
          <p:cNvSpPr txBox="1"/>
          <p:nvPr/>
        </p:nvSpPr>
        <p:spPr>
          <a:xfrm>
            <a:off x="1892807" y="6300216"/>
            <a:ext cx="157276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000000"/>
                </a:solidFill>
                <a:latin typeface="Noto Serif CJK SC"/>
                <a:ea typeface="Noto Serif CJK SC"/>
              </a:rPr>
              <a:t>PubChem · PDB</a:t>
            </a:r>
          </a:p>
        </p:txBody>
      </p:sp>
      <p:sp>
        <p:nvSpPr>
          <p:cNvPr id="143" name="Text: 位点核对与对接"/>
          <p:cNvSpPr txBox="1"/>
          <p:nvPr/>
        </p:nvSpPr>
        <p:spPr>
          <a:xfrm>
            <a:off x="4754880" y="5824728"/>
            <a:ext cx="1847088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位点核对与对接</a:t>
            </a:r>
          </a:p>
        </p:txBody>
      </p:sp>
      <p:sp>
        <p:nvSpPr>
          <p:cNvPr id="144" name="Text: AutoDock Vina"/>
          <p:cNvSpPr txBox="1"/>
          <p:nvPr/>
        </p:nvSpPr>
        <p:spPr>
          <a:xfrm>
            <a:off x="5010912" y="6099048"/>
            <a:ext cx="152704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000000"/>
                </a:solidFill>
                <a:latin typeface="Noto Serif CJK SC"/>
                <a:ea typeface="Noto Serif CJK SC"/>
              </a:rPr>
              <a:t>AutoDock Vina</a:t>
            </a:r>
          </a:p>
        </p:txBody>
      </p:sp>
      <p:sp>
        <p:nvSpPr>
          <p:cNvPr id="145" name="Text: 共晶重对接 · 已知配体参照"/>
          <p:cNvSpPr txBox="1"/>
          <p:nvPr/>
        </p:nvSpPr>
        <p:spPr>
          <a:xfrm>
            <a:off x="4690872" y="6309360"/>
            <a:ext cx="192938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38" b="0">
                <a:solidFill>
                  <a:srgbClr val="000000"/>
                </a:solidFill>
                <a:latin typeface="Noto Serif CJK SC"/>
                <a:ea typeface="Noto Serif CJK SC"/>
              </a:rPr>
              <a:t>共晶重对接 · 已知配体参照</a:t>
            </a:r>
          </a:p>
        </p:txBody>
      </p:sp>
      <p:sp>
        <p:nvSpPr>
          <p:cNvPr id="146" name="Text: 构象与残基分析"/>
          <p:cNvSpPr txBox="1"/>
          <p:nvPr/>
        </p:nvSpPr>
        <p:spPr>
          <a:xfrm>
            <a:off x="7708392" y="5843016"/>
            <a:ext cx="1874519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构象与残基分析</a:t>
            </a:r>
          </a:p>
        </p:txBody>
      </p:sp>
      <p:sp>
        <p:nvSpPr>
          <p:cNvPr id="147" name="Text: 同一靶点、相同设置比较"/>
          <p:cNvSpPr txBox="1"/>
          <p:nvPr/>
        </p:nvSpPr>
        <p:spPr>
          <a:xfrm>
            <a:off x="7717536" y="6153912"/>
            <a:ext cx="18653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4" b="0">
                <a:solidFill>
                  <a:srgbClr val="000000"/>
                </a:solidFill>
                <a:latin typeface="Noto Serif CJK SC"/>
                <a:ea typeface="Noto Serif CJK SC"/>
              </a:rPr>
              <a:t>同一靶点、相同设置比较</a:t>
            </a:r>
          </a:p>
        </p:txBody>
      </p:sp>
      <p:sp>
        <p:nvSpPr>
          <p:cNvPr id="148" name="Editable graphic"/>
          <p:cNvSpPr/>
          <p:nvPr/>
        </p:nvSpPr>
        <p:spPr>
          <a:xfrm>
            <a:off x="3675887" y="6099048"/>
            <a:ext cx="329184" cy="128016"/>
          </a:xfrm>
          <a:prstGeom prst="right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graphic"/>
          <p:cNvSpPr/>
          <p:nvPr/>
        </p:nvSpPr>
        <p:spPr>
          <a:xfrm>
            <a:off x="6729984" y="6099048"/>
            <a:ext cx="338328" cy="128016"/>
          </a:xfrm>
          <a:prstGeom prst="right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5102352" y="6547104"/>
            <a:ext cx="0" cy="155448"/>
          </a:xfrm>
          <a:prstGeom prst="line">
            <a:avLst/>
          </a:prstGeom>
          <a:ln w="13970">
            <a:solidFill>
              <a:srgbClr val="E75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Editable graphic"/>
          <p:cNvSpPr/>
          <p:nvPr/>
        </p:nvSpPr>
        <p:spPr>
          <a:xfrm>
            <a:off x="5047488" y="6638544"/>
            <a:ext cx="109728" cy="109728"/>
          </a:xfrm>
          <a:prstGeom prst="down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graphic"/>
          <p:cNvSpPr/>
          <p:nvPr/>
        </p:nvSpPr>
        <p:spPr>
          <a:xfrm>
            <a:off x="1691640" y="6748272"/>
            <a:ext cx="7086600" cy="521207"/>
          </a:xfrm>
          <a:prstGeom prst="roundRect">
            <a:avLst>
              <a:gd name="adj" fmla="val 10526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icon"/>
          <p:cNvSpPr/>
          <p:nvPr/>
        </p:nvSpPr>
        <p:spPr>
          <a:xfrm>
            <a:off x="2560320" y="6830568"/>
            <a:ext cx="274320" cy="374904"/>
          </a:xfrm>
          <a:custGeom>
            <a:avLst/>
            <a:gdLst/>
            <a:ahLst/>
            <a:cxnLst/>
            <a:rect l="l" t="t" r="r" b="b"/>
            <a:pathLst>
              <a:path w="30" h="41">
                <a:moveTo>
                  <a:pt x="0" y="0"/>
                </a:moveTo>
                <a:lnTo>
                  <a:pt x="22" y="0"/>
                </a:lnTo>
                <a:lnTo>
                  <a:pt x="30" y="10"/>
                </a:lnTo>
                <a:lnTo>
                  <a:pt x="30" y="41"/>
                </a:lnTo>
                <a:lnTo>
                  <a:pt x="0" y="41"/>
                </a:lnTo>
                <a:lnTo>
                  <a:pt x="0" y="0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icon"/>
          <p:cNvSpPr/>
          <p:nvPr/>
        </p:nvSpPr>
        <p:spPr>
          <a:xfrm>
            <a:off x="2761488" y="6830568"/>
            <a:ext cx="73152" cy="9144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0" y="0"/>
                </a:moveTo>
                <a:lnTo>
                  <a:pt x="0" y="10"/>
                </a:lnTo>
                <a:lnTo>
                  <a:pt x="8" y="10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2619207" y="6970836"/>
            <a:ext cx="164592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619207" y="7033747"/>
            <a:ext cx="164592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619207" y="7096658"/>
            <a:ext cx="164592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619207" y="7151705"/>
            <a:ext cx="164592" cy="0"/>
          </a:xfrm>
          <a:prstGeom prst="line">
            <a:avLst/>
          </a:prstGeom>
          <a:ln w="1651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: 优先实体—靶点组合，为整方机制实验提供辅助线索"/>
          <p:cNvSpPr txBox="1"/>
          <p:nvPr/>
        </p:nvSpPr>
        <p:spPr>
          <a:xfrm>
            <a:off x="3191256" y="6784848"/>
            <a:ext cx="544982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优先实体—靶点组合，为整方机制实验提供辅助线索</a:t>
            </a:r>
          </a:p>
        </p:txBody>
      </p:sp>
      <p:sp>
        <p:nvSpPr>
          <p:cNvPr id="160" name="Text: 对接不证明靶点抑制或整方作用；功能验证以整方为对象"/>
          <p:cNvSpPr txBox="1"/>
          <p:nvPr/>
        </p:nvSpPr>
        <p:spPr>
          <a:xfrm>
            <a:off x="3246120" y="7040880"/>
            <a:ext cx="5394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对接不证明靶点抑制或整方作用；功能验证以整方为对象</a:t>
            </a:r>
          </a:p>
        </p:txBody>
      </p:sp>
      <p:sp>
        <p:nvSpPr>
          <p:cNvPr id="161" name="Editable graphic"/>
          <p:cNvSpPr/>
          <p:nvPr/>
        </p:nvSpPr>
        <p:spPr>
          <a:xfrm>
            <a:off x="4837176" y="7315200"/>
            <a:ext cx="320040" cy="265176"/>
          </a:xfrm>
          <a:prstGeom prst="downArrow">
            <a:avLst/>
          </a:prstGeom>
          <a:ln>
            <a:noFill/>
          </a:ln>
          <a:gradFill>
            <a:gsLst>
              <a:gs pos="0">
                <a:srgbClr val="F0BDD4"/>
              </a:gs>
              <a:gs pos="100000">
                <a:srgbClr val="E35299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: AICD相关软骨细胞损伤及大补肾汤整方功能验证"/>
          <p:cNvSpPr txBox="1"/>
          <p:nvPr/>
        </p:nvSpPr>
        <p:spPr>
          <a:xfrm>
            <a:off x="1591056" y="7607808"/>
            <a:ext cx="790041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000000"/>
                </a:solidFill>
                <a:latin typeface="Noto Serif CJK SC"/>
                <a:ea typeface="Noto Serif CJK SC"/>
              </a:rPr>
              <a:t>AICD相关软骨细胞损伤及大补肾汤整方功能验证</a:t>
            </a:r>
          </a:p>
        </p:txBody>
      </p:sp>
      <p:sp>
        <p:nvSpPr>
          <p:cNvPr id="163" name="Editable graphic"/>
          <p:cNvSpPr/>
          <p:nvPr/>
        </p:nvSpPr>
        <p:spPr>
          <a:xfrm>
            <a:off x="832104" y="8001000"/>
            <a:ext cx="4343400" cy="676656"/>
          </a:xfrm>
          <a:prstGeom prst="roundRect">
            <a:avLst>
              <a:gd name="adj" fmla="val 8108"/>
            </a:avLst>
          </a:prstGeom>
          <a:solidFill>
            <a:srgbClr val="FFFBFD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graphic"/>
          <p:cNvSpPr/>
          <p:nvPr/>
        </p:nvSpPr>
        <p:spPr>
          <a:xfrm>
            <a:off x="5376672" y="8001000"/>
            <a:ext cx="4315968" cy="676656"/>
          </a:xfrm>
          <a:prstGeom prst="roundRect">
            <a:avLst>
              <a:gd name="adj" fmla="val 8108"/>
            </a:avLst>
          </a:prstGeom>
          <a:solidFill>
            <a:srgbClr val="FFFBFD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graphic"/>
          <p:cNvSpPr/>
          <p:nvPr/>
        </p:nvSpPr>
        <p:spPr>
          <a:xfrm>
            <a:off x="1083015" y="8161934"/>
            <a:ext cx="518739" cy="230428"/>
          </a:xfrm>
          <a:prstGeom prst="ellipse">
            <a:avLst/>
          </a:prstGeom>
          <a:solidFill>
            <a:srgbClr val="EDF9FF"/>
          </a:solidFill>
          <a:ln w="2032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graphic"/>
          <p:cNvSpPr/>
          <p:nvPr/>
        </p:nvSpPr>
        <p:spPr>
          <a:xfrm>
            <a:off x="1094171" y="8264347"/>
            <a:ext cx="496427" cy="237744"/>
          </a:xfrm>
          <a:prstGeom prst="ellipse">
            <a:avLst/>
          </a:prstGeom>
          <a:solidFill>
            <a:srgbClr val="D2F0FF"/>
          </a:solidFill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graphic"/>
          <p:cNvSpPr/>
          <p:nvPr/>
        </p:nvSpPr>
        <p:spPr>
          <a:xfrm>
            <a:off x="1094171" y="8216798"/>
            <a:ext cx="496427" cy="226771"/>
          </a:xfrm>
          <a:prstGeom prst="ellipse">
            <a:avLst/>
          </a:prstGeom>
          <a:solidFill>
            <a:srgbClr val="BCE8FF"/>
          </a:solidFill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graphic"/>
          <p:cNvSpPr/>
          <p:nvPr/>
        </p:nvSpPr>
        <p:spPr>
          <a:xfrm>
            <a:off x="1228039" y="8297265"/>
            <a:ext cx="25100" cy="16459"/>
          </a:xfrm>
          <a:prstGeom prst="ellipse">
            <a:avLst/>
          </a:prstGeom>
          <a:solidFill>
            <a:srgbClr val="318EC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graphic"/>
          <p:cNvSpPr/>
          <p:nvPr/>
        </p:nvSpPr>
        <p:spPr>
          <a:xfrm>
            <a:off x="1322862" y="8359444"/>
            <a:ext cx="25100" cy="16459"/>
          </a:xfrm>
          <a:prstGeom prst="ellipse">
            <a:avLst/>
          </a:prstGeom>
          <a:solidFill>
            <a:srgbClr val="318EC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graphic"/>
          <p:cNvSpPr/>
          <p:nvPr/>
        </p:nvSpPr>
        <p:spPr>
          <a:xfrm>
            <a:off x="1439997" y="8319211"/>
            <a:ext cx="25100" cy="16459"/>
          </a:xfrm>
          <a:prstGeom prst="ellipse">
            <a:avLst/>
          </a:prstGeom>
          <a:solidFill>
            <a:srgbClr val="318EC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graphic"/>
          <p:cNvSpPr/>
          <p:nvPr/>
        </p:nvSpPr>
        <p:spPr>
          <a:xfrm>
            <a:off x="1378640" y="8282635"/>
            <a:ext cx="25100" cy="16459"/>
          </a:xfrm>
          <a:prstGeom prst="ellipse">
            <a:avLst/>
          </a:prstGeom>
          <a:solidFill>
            <a:srgbClr val="318EC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graphic"/>
          <p:cNvSpPr/>
          <p:nvPr/>
        </p:nvSpPr>
        <p:spPr>
          <a:xfrm rot="1500000">
            <a:off x="5672937" y="8118500"/>
            <a:ext cx="427939" cy="458663"/>
          </a:xfrm>
          <a:prstGeom prst="ellipse">
            <a:avLst/>
          </a:prstGeom>
          <a:solidFill>
            <a:srgbClr val="D9F3FF"/>
          </a:solidFill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graphic"/>
          <p:cNvSpPr/>
          <p:nvPr/>
        </p:nvSpPr>
        <p:spPr>
          <a:xfrm>
            <a:off x="5804611" y="8248802"/>
            <a:ext cx="170078" cy="203271"/>
          </a:xfrm>
          <a:prstGeom prst="ellipse">
            <a:avLst/>
          </a:prstGeom>
          <a:solidFill>
            <a:srgbClr val="8BCDFA"/>
          </a:solidFill>
          <a:ln w="127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graphic"/>
          <p:cNvSpPr/>
          <p:nvPr/>
        </p:nvSpPr>
        <p:spPr>
          <a:xfrm>
            <a:off x="5859475" y="8300923"/>
            <a:ext cx="60350" cy="72969"/>
          </a:xfrm>
          <a:prstGeom prst="ellipse">
            <a:avLst/>
          </a:prstGeom>
          <a:solidFill>
            <a:srgbClr val="3395C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graphic"/>
          <p:cNvSpPr/>
          <p:nvPr/>
        </p:nvSpPr>
        <p:spPr>
          <a:xfrm>
            <a:off x="5766206" y="8186257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graphic"/>
          <p:cNvSpPr/>
          <p:nvPr/>
        </p:nvSpPr>
        <p:spPr>
          <a:xfrm>
            <a:off x="5930798" y="8181045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graphic"/>
          <p:cNvSpPr/>
          <p:nvPr/>
        </p:nvSpPr>
        <p:spPr>
          <a:xfrm>
            <a:off x="5996635" y="8254014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graphic"/>
          <p:cNvSpPr/>
          <p:nvPr/>
        </p:nvSpPr>
        <p:spPr>
          <a:xfrm>
            <a:off x="6002121" y="8415588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graphic"/>
          <p:cNvSpPr/>
          <p:nvPr/>
        </p:nvSpPr>
        <p:spPr>
          <a:xfrm>
            <a:off x="5897880" y="8504194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graphic"/>
          <p:cNvSpPr/>
          <p:nvPr/>
        </p:nvSpPr>
        <p:spPr>
          <a:xfrm>
            <a:off x="5755233" y="8467709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graphic"/>
          <p:cNvSpPr/>
          <p:nvPr/>
        </p:nvSpPr>
        <p:spPr>
          <a:xfrm>
            <a:off x="5727801" y="8316559"/>
            <a:ext cx="24688" cy="23454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: 大补肾汤整方含药血清"/>
          <p:cNvSpPr txBox="1"/>
          <p:nvPr/>
        </p:nvSpPr>
        <p:spPr>
          <a:xfrm>
            <a:off x="2103120" y="8037575"/>
            <a:ext cx="292608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大补肾汤整方含药血清</a:t>
            </a:r>
          </a:p>
        </p:txBody>
      </p:sp>
      <p:sp>
        <p:nvSpPr>
          <p:cNvPr id="183" name="Text: 合煎标准化 · HPLC质控 · ≥3个独立批次"/>
          <p:cNvSpPr txBox="1"/>
          <p:nvPr/>
        </p:nvSpPr>
        <p:spPr>
          <a:xfrm>
            <a:off x="1828800" y="8247888"/>
            <a:ext cx="321868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合煎标准化 · HPLC质控 · ≥3个独立批次</a:t>
            </a:r>
          </a:p>
        </p:txBody>
      </p:sp>
      <p:sp>
        <p:nvSpPr>
          <p:cNvPr id="184" name="Text: 含药血清2.5%、5%、10%；动物总血清统一10%"/>
          <p:cNvSpPr txBox="1"/>
          <p:nvPr/>
        </p:nvSpPr>
        <p:spPr>
          <a:xfrm>
            <a:off x="1664208" y="8439912"/>
            <a:ext cx="338328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93" b="0">
                <a:solidFill>
                  <a:srgbClr val="000000"/>
                </a:solidFill>
                <a:latin typeface="Noto Serif CJK SC"/>
                <a:ea typeface="Noto Serif CJK SC"/>
              </a:rPr>
              <a:t>含药血清2.5%、5%、10%；动物总血清统一10%</a:t>
            </a:r>
          </a:p>
        </p:txBody>
      </p:sp>
      <p:sp>
        <p:nvSpPr>
          <p:cNvPr id="185" name="Text: 人原代关节软骨细胞"/>
          <p:cNvSpPr txBox="1"/>
          <p:nvPr/>
        </p:nvSpPr>
        <p:spPr>
          <a:xfrm>
            <a:off x="6757416" y="8037575"/>
            <a:ext cx="280720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000000"/>
                </a:solidFill>
                <a:latin typeface="Noto Serif CJK SC"/>
                <a:ea typeface="Noto Serif CJK SC"/>
              </a:rPr>
              <a:t>人原代关节软骨细胞</a:t>
            </a:r>
          </a:p>
        </p:txBody>
      </p:sp>
      <p:sp>
        <p:nvSpPr>
          <p:cNvPr id="186" name="Text: P2—P3 · 表型复核 · 支原体检测"/>
          <p:cNvSpPr txBox="1"/>
          <p:nvPr/>
        </p:nvSpPr>
        <p:spPr>
          <a:xfrm>
            <a:off x="6409944" y="8247888"/>
            <a:ext cx="3163824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P2—P3 · 表型复核 · 支原体检测</a:t>
            </a:r>
          </a:p>
        </p:txBody>
      </p:sp>
      <p:sp>
        <p:nvSpPr>
          <p:cNvPr id="187" name="Text: 预实验≥3个独立供者，正式样本量据效应估算"/>
          <p:cNvSpPr txBox="1"/>
          <p:nvPr/>
        </p:nvSpPr>
        <p:spPr>
          <a:xfrm>
            <a:off x="6327648" y="8439912"/>
            <a:ext cx="324612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9" b="0">
                <a:solidFill>
                  <a:srgbClr val="000000"/>
                </a:solidFill>
                <a:latin typeface="Noto Serif CJK SC"/>
                <a:ea typeface="Noto Serif CJK SC"/>
              </a:rPr>
              <a:t>预实验≥3个独立供者，正式样本量据效应估算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266944" y="8677656"/>
            <a:ext cx="0" cy="82296"/>
          </a:xfrm>
          <a:prstGeom prst="line">
            <a:avLst/>
          </a:prstGeom>
          <a:ln w="13970">
            <a:solidFill>
              <a:srgbClr val="E75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Editable graphic"/>
          <p:cNvSpPr/>
          <p:nvPr/>
        </p:nvSpPr>
        <p:spPr>
          <a:xfrm>
            <a:off x="5212080" y="8695944"/>
            <a:ext cx="109728" cy="109728"/>
          </a:xfrm>
          <a:prstGeom prst="down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graphic"/>
          <p:cNvSpPr/>
          <p:nvPr/>
        </p:nvSpPr>
        <p:spPr>
          <a:xfrm>
            <a:off x="1325880" y="8805672"/>
            <a:ext cx="7836408" cy="502920"/>
          </a:xfrm>
          <a:prstGeom prst="roundRect">
            <a:avLst>
              <a:gd name="adj" fmla="val 10909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graphic"/>
          <p:cNvSpPr/>
          <p:nvPr/>
        </p:nvSpPr>
        <p:spPr>
          <a:xfrm>
            <a:off x="2843784" y="8860536"/>
            <a:ext cx="237744" cy="374904"/>
          </a:xfrm>
          <a:prstGeom prst="lightningBolt">
            <a:avLst/>
          </a:prstGeom>
          <a:solidFill>
            <a:srgbClr val="D62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: LPS预激联合ATP刺激：分阶段预实验"/>
          <p:cNvSpPr txBox="1"/>
          <p:nvPr/>
        </p:nvSpPr>
        <p:spPr>
          <a:xfrm>
            <a:off x="3639312" y="8823960"/>
            <a:ext cx="538581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00000"/>
                </a:solidFill>
                <a:latin typeface="Noto Serif CJK SC"/>
                <a:ea typeface="Noto Serif CJK SC"/>
              </a:rPr>
              <a:t>LPS预激联合ATP刺激：分阶段预实验</a:t>
            </a:r>
          </a:p>
        </p:txBody>
      </p:sp>
      <p:sp>
        <p:nvSpPr>
          <p:cNvPr id="193" name="Text: LPS：0、100、500 ng/mL；ATP：0、1、3、5 mmol/L；30、60 min"/>
          <p:cNvSpPr txBox="1"/>
          <p:nvPr/>
        </p:nvSpPr>
        <p:spPr>
          <a:xfrm>
            <a:off x="3200400" y="9061704"/>
            <a:ext cx="582472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000000"/>
                </a:solidFill>
                <a:latin typeface="Noto Serif CJK SC"/>
                <a:ea typeface="Noto Serif CJK SC"/>
              </a:rPr>
              <a:t>LPS：0、100、500 ng/mL；ATP：0、1、3、5 mmol/L；30、60 min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5266944" y="9308592"/>
            <a:ext cx="0" cy="36576"/>
          </a:xfrm>
          <a:prstGeom prst="line">
            <a:avLst/>
          </a:prstGeom>
          <a:ln w="13970">
            <a:solidFill>
              <a:srgbClr val="E75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Editable graphic"/>
          <p:cNvSpPr/>
          <p:nvPr/>
        </p:nvSpPr>
        <p:spPr>
          <a:xfrm>
            <a:off x="5212080" y="9281160"/>
            <a:ext cx="109728" cy="109728"/>
          </a:xfrm>
          <a:prstGeom prst="down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graphic"/>
          <p:cNvSpPr/>
          <p:nvPr/>
        </p:nvSpPr>
        <p:spPr>
          <a:xfrm>
            <a:off x="2176272" y="9390888"/>
            <a:ext cx="6144768" cy="283464"/>
          </a:xfrm>
          <a:prstGeom prst="roundRect">
            <a:avLst>
              <a:gd name="adj" fmla="val 19354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graphic"/>
          <p:cNvSpPr/>
          <p:nvPr/>
        </p:nvSpPr>
        <p:spPr>
          <a:xfrm>
            <a:off x="2761853" y="9447580"/>
            <a:ext cx="142646" cy="131673"/>
          </a:xfrm>
          <a:prstGeom prst="ellipse">
            <a:avLst/>
          </a:pr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>
            <a:off x="2885480" y="9572670"/>
            <a:ext cx="83211" cy="70226"/>
          </a:xfrm>
          <a:prstGeom prst="line">
            <a:avLst/>
          </a:prstGeom>
          <a:ln w="304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: 模型确认：正常、LPS、ATP、LPS+ATP，检验ATP额外损伤"/>
          <p:cNvSpPr txBox="1"/>
          <p:nvPr/>
        </p:nvSpPr>
        <p:spPr>
          <a:xfrm>
            <a:off x="3136392" y="9400032"/>
            <a:ext cx="50657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Noto Serif CJK SC"/>
                <a:ea typeface="Noto Serif CJK SC"/>
              </a:rPr>
              <a:t>模型确认：正常、LPS、ATP、LPS+ATP，检验ATP额外损伤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5266944" y="9674352"/>
            <a:ext cx="0" cy="18288"/>
          </a:xfrm>
          <a:prstGeom prst="line">
            <a:avLst/>
          </a:prstGeom>
          <a:ln w="13970">
            <a:solidFill>
              <a:srgbClr val="E75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Editable graphic"/>
          <p:cNvSpPr/>
          <p:nvPr/>
        </p:nvSpPr>
        <p:spPr>
          <a:xfrm>
            <a:off x="5212080" y="9628632"/>
            <a:ext cx="109728" cy="109728"/>
          </a:xfrm>
          <a:prstGeom prst="downArrow">
            <a:avLst/>
          </a:prstGeom>
          <a:solidFill>
            <a:srgbClr val="E7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graphic"/>
          <p:cNvSpPr/>
          <p:nvPr/>
        </p:nvSpPr>
        <p:spPr>
          <a:xfrm>
            <a:off x="1325880" y="9738360"/>
            <a:ext cx="7836408" cy="320040"/>
          </a:xfrm>
          <a:prstGeom prst="roundRect">
            <a:avLst>
              <a:gd name="adj" fmla="val 17142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icon"/>
          <p:cNvSpPr/>
          <p:nvPr/>
        </p:nvSpPr>
        <p:spPr>
          <a:xfrm>
            <a:off x="1956816" y="9793224"/>
            <a:ext cx="201168" cy="219456"/>
          </a:xfrm>
          <a:custGeom>
            <a:avLst/>
            <a:gdLst/>
            <a:ahLst/>
            <a:cxnLst/>
            <a:rect l="l" t="t" r="r" b="b"/>
            <a:pathLst>
              <a:path w="22" h="24">
                <a:moveTo>
                  <a:pt x="0" y="0"/>
                </a:moveTo>
                <a:lnTo>
                  <a:pt x="16" y="0"/>
                </a:lnTo>
                <a:lnTo>
                  <a:pt x="22" y="6"/>
                </a:lnTo>
                <a:lnTo>
                  <a:pt x="22" y="24"/>
                </a:lnTo>
                <a:lnTo>
                  <a:pt x="0" y="24"/>
                </a:lnTo>
                <a:lnTo>
                  <a:pt x="0" y="0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icon"/>
          <p:cNvSpPr/>
          <p:nvPr/>
        </p:nvSpPr>
        <p:spPr>
          <a:xfrm>
            <a:off x="2103120" y="9793224"/>
            <a:ext cx="54864" cy="54864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0" y="0"/>
                </a:moveTo>
                <a:lnTo>
                  <a:pt x="0" y="6"/>
                </a:lnTo>
                <a:lnTo>
                  <a:pt x="6" y="6"/>
                </a:lnTo>
              </a:path>
            </a:pathLst>
          </a:custGeom>
          <a:noFill/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icon"/>
          <p:cNvSpPr/>
          <p:nvPr/>
        </p:nvSpPr>
        <p:spPr>
          <a:xfrm>
            <a:off x="2002536" y="9875520"/>
            <a:ext cx="118872" cy="91440"/>
          </a:xfrm>
          <a:custGeom>
            <a:avLst/>
            <a:gdLst/>
            <a:ahLst/>
            <a:cxnLst/>
            <a:rect l="l" t="t" r="r" b="b"/>
            <a:pathLst>
              <a:path w="13" h="10">
                <a:moveTo>
                  <a:pt x="0" y="6"/>
                </a:moveTo>
                <a:lnTo>
                  <a:pt x="4" y="10"/>
                </a:lnTo>
                <a:lnTo>
                  <a:pt x="13" y="0"/>
                </a:lnTo>
              </a:path>
            </a:pathLst>
          </a:cu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: 损伤与死亡执行判定：LDH为主，PI及形态支持；caspase-1、GSDMD-N、裂解caspase-3"/>
          <p:cNvSpPr txBox="1"/>
          <p:nvPr/>
        </p:nvSpPr>
        <p:spPr>
          <a:xfrm>
            <a:off x="2322576" y="9756648"/>
            <a:ext cx="672084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9" b="1">
                <a:solidFill>
                  <a:srgbClr val="000000"/>
                </a:solidFill>
                <a:latin typeface="Noto Serif CJK SC"/>
                <a:ea typeface="Noto Serif CJK SC"/>
              </a:rPr>
              <a:t>损伤与死亡执行判定：LDH为主，PI及形态支持；caspase-1、GSDMD-N、裂解caspase-3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3172968" y="10058400"/>
            <a:ext cx="0" cy="64008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Editable graphic"/>
          <p:cNvSpPr/>
          <p:nvPr/>
        </p:nvSpPr>
        <p:spPr>
          <a:xfrm>
            <a:off x="3118104" y="10058400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9" name="Connector 208"/>
          <p:cNvCxnSpPr/>
          <p:nvPr/>
        </p:nvCxnSpPr>
        <p:spPr>
          <a:xfrm>
            <a:off x="7516368" y="10058400"/>
            <a:ext cx="0" cy="64008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Editable graphic"/>
          <p:cNvSpPr/>
          <p:nvPr/>
        </p:nvSpPr>
        <p:spPr>
          <a:xfrm>
            <a:off x="7461504" y="10058400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graphic"/>
          <p:cNvSpPr/>
          <p:nvPr/>
        </p:nvSpPr>
        <p:spPr>
          <a:xfrm>
            <a:off x="832104" y="10168128"/>
            <a:ext cx="4416552" cy="612648"/>
          </a:xfrm>
          <a:prstGeom prst="roundRect">
            <a:avLst>
              <a:gd name="adj" fmla="val 8955"/>
            </a:avLst>
          </a:prstGeom>
          <a:solidFill>
            <a:srgbClr val="FFFD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graphic"/>
          <p:cNvSpPr/>
          <p:nvPr/>
        </p:nvSpPr>
        <p:spPr>
          <a:xfrm>
            <a:off x="5376672" y="10168128"/>
            <a:ext cx="4306824" cy="612648"/>
          </a:xfrm>
          <a:prstGeom prst="roundRect">
            <a:avLst>
              <a:gd name="adj" fmla="val 8955"/>
            </a:avLst>
          </a:prstGeom>
          <a:solidFill>
            <a:srgbClr val="FFFD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icon"/>
          <p:cNvSpPr/>
          <p:nvPr/>
        </p:nvSpPr>
        <p:spPr>
          <a:xfrm>
            <a:off x="1325880" y="10241280"/>
            <a:ext cx="329184" cy="448056"/>
          </a:xfrm>
          <a:custGeom>
            <a:avLst/>
            <a:gdLst/>
            <a:ahLst/>
            <a:cxnLst/>
            <a:rect l="l" t="t" r="r" b="b"/>
            <a:pathLst>
              <a:path w="36" h="49">
                <a:moveTo>
                  <a:pt x="18" y="0"/>
                </a:moveTo>
                <a:lnTo>
                  <a:pt x="36" y="11"/>
                </a:lnTo>
                <a:lnTo>
                  <a:pt x="34" y="30"/>
                </a:lnTo>
                <a:lnTo>
                  <a:pt x="28" y="42"/>
                </a:lnTo>
                <a:lnTo>
                  <a:pt x="18" y="49"/>
                </a:lnTo>
                <a:lnTo>
                  <a:pt x="8" y="42"/>
                </a:lnTo>
                <a:lnTo>
                  <a:pt x="2" y="30"/>
                </a:lnTo>
                <a:lnTo>
                  <a:pt x="0" y="11"/>
                </a:lnTo>
                <a:lnTo>
                  <a:pt x="18" y="0"/>
                </a:lnTo>
              </a:path>
            </a:pathLst>
          </a:cu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icon"/>
          <p:cNvSpPr/>
          <p:nvPr/>
        </p:nvSpPr>
        <p:spPr>
          <a:xfrm>
            <a:off x="1408176" y="10405872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7"/>
                </a:moveTo>
                <a:lnTo>
                  <a:pt x="7" y="15"/>
                </a:lnTo>
                <a:lnTo>
                  <a:pt x="18" y="0"/>
                </a:lnTo>
              </a:path>
            </a:pathLst>
          </a:custGeom>
          <a:noFill/>
          <a:ln w="2794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graphic"/>
          <p:cNvSpPr/>
          <p:nvPr/>
        </p:nvSpPr>
        <p:spPr>
          <a:xfrm>
            <a:off x="5816635" y="10252710"/>
            <a:ext cx="391088" cy="416052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graphic"/>
          <p:cNvSpPr/>
          <p:nvPr/>
        </p:nvSpPr>
        <p:spPr>
          <a:xfrm>
            <a:off x="5870356" y="10309860"/>
            <a:ext cx="283646" cy="301752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graphic"/>
          <p:cNvSpPr/>
          <p:nvPr/>
        </p:nvSpPr>
        <p:spPr>
          <a:xfrm>
            <a:off x="5926226" y="10369296"/>
            <a:ext cx="171907" cy="182880"/>
          </a:xfrm>
          <a:prstGeom prst="ellipse">
            <a:avLst/>
          </a:prstGeom>
          <a:noFill/>
          <a:ln w="2413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V="1">
            <a:off x="6012180" y="10273284"/>
            <a:ext cx="171907" cy="196596"/>
          </a:xfrm>
          <a:prstGeom prst="line">
            <a:avLst/>
          </a:prstGeom>
          <a:ln w="29209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Editable vector icon"/>
          <p:cNvSpPr/>
          <p:nvPr/>
        </p:nvSpPr>
        <p:spPr>
          <a:xfrm>
            <a:off x="6135624" y="10241280"/>
            <a:ext cx="91440" cy="100584"/>
          </a:xfrm>
          <a:custGeom>
            <a:avLst/>
            <a:gdLst/>
            <a:ahLst/>
            <a:cxnLst/>
            <a:rect l="l" t="t" r="r" b="b"/>
            <a:pathLst>
              <a:path w="10" h="11">
                <a:moveTo>
                  <a:pt x="0" y="6"/>
                </a:moveTo>
                <a:lnTo>
                  <a:pt x="0" y="0"/>
                </a:lnTo>
                <a:lnTo>
                  <a:pt x="10" y="0"/>
                </a:lnTo>
                <a:lnTo>
                  <a:pt x="9" y="10"/>
                </a:lnTo>
                <a:lnTo>
                  <a:pt x="3" y="11"/>
                </a:lnTo>
                <a:close/>
              </a:path>
            </a:pathLst>
          </a:custGeom>
          <a:solidFill>
            <a:srgbClr val="0876B8"/>
          </a:solidFill>
          <a:ln w="63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: 整方保护效应评价"/>
          <p:cNvSpPr txBox="1"/>
          <p:nvPr/>
        </p:nvSpPr>
        <p:spPr>
          <a:xfrm>
            <a:off x="2084831" y="10195560"/>
            <a:ext cx="302666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整方保护效应评价</a:t>
            </a:r>
          </a:p>
        </p:txBody>
      </p:sp>
      <p:sp>
        <p:nvSpPr>
          <p:cNvPr id="221" name="Text: 正常 · 模型 · 整方低/中/高 · P2X7R阻断 · 整方单独"/>
          <p:cNvSpPr txBox="1"/>
          <p:nvPr/>
        </p:nvSpPr>
        <p:spPr>
          <a:xfrm>
            <a:off x="1737360" y="10424160"/>
            <a:ext cx="341071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>
                <a:solidFill>
                  <a:srgbClr val="000000"/>
                </a:solidFill>
                <a:latin typeface="Noto Serif CJK SC"/>
                <a:ea typeface="Noto Serif CJK SC"/>
              </a:rPr>
              <a:t>正常 · 模型 · 整方低/中/高 · P2X7R阻断 · 整方单独</a:t>
            </a:r>
          </a:p>
        </p:txBody>
      </p:sp>
      <p:sp>
        <p:nvSpPr>
          <p:cNvPr id="222" name="Text: LPS预激后、ATP刺激前干预"/>
          <p:cNvSpPr txBox="1"/>
          <p:nvPr/>
        </p:nvSpPr>
        <p:spPr>
          <a:xfrm>
            <a:off x="2386584" y="10597896"/>
            <a:ext cx="272491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Noto Serif CJK SC"/>
                <a:ea typeface="Noto Serif CJK SC"/>
              </a:rPr>
              <a:t>LPS预激后、ATP刺激前干预</a:t>
            </a:r>
          </a:p>
        </p:txBody>
      </p:sp>
      <p:sp>
        <p:nvSpPr>
          <p:cNvPr id="223" name="Text: 优先节点功能验证"/>
          <p:cNvSpPr txBox="1"/>
          <p:nvPr/>
        </p:nvSpPr>
        <p:spPr>
          <a:xfrm>
            <a:off x="6775704" y="10195560"/>
            <a:ext cx="279806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优先节点功能验证</a:t>
            </a:r>
          </a:p>
        </p:txBody>
      </p:sp>
      <p:sp>
        <p:nvSpPr>
          <p:cNvPr id="224" name="Text: 优先P2X7R，选择一个下游节点"/>
          <p:cNvSpPr txBox="1"/>
          <p:nvPr/>
        </p:nvSpPr>
        <p:spPr>
          <a:xfrm>
            <a:off x="6720840" y="10415016"/>
            <a:ext cx="2852928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优先P2X7R，选择一个下游节点</a:t>
            </a:r>
          </a:p>
        </p:txBody>
      </p:sp>
      <p:sp>
        <p:nvSpPr>
          <p:cNvPr id="225" name="Text: 阴性对照/靶点siRNA ± 整方；必要时救援"/>
          <p:cNvSpPr txBox="1"/>
          <p:nvPr/>
        </p:nvSpPr>
        <p:spPr>
          <a:xfrm>
            <a:off x="6309360" y="10597896"/>
            <a:ext cx="3264408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Noto Serif CJK SC"/>
                <a:ea typeface="Noto Serif CJK SC"/>
              </a:rPr>
              <a:t>阴性对照/靶点siRNA ± 整方；必要时救援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3172968" y="10780776"/>
            <a:ext cx="0" cy="64008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7516368" y="10780776"/>
            <a:ext cx="0" cy="64008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47088" y="10844784"/>
            <a:ext cx="6611112" cy="0"/>
          </a:xfrm>
          <a:prstGeom prst="line">
            <a:avLst/>
          </a:prstGeom>
          <a:ln w="1524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847088" y="10844784"/>
            <a:ext cx="0" cy="45720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Editable graphic"/>
          <p:cNvSpPr/>
          <p:nvPr/>
        </p:nvSpPr>
        <p:spPr>
          <a:xfrm>
            <a:off x="1792224" y="10826496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4224528" y="10844784"/>
            <a:ext cx="0" cy="45720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Editable graphic"/>
          <p:cNvSpPr/>
          <p:nvPr/>
        </p:nvSpPr>
        <p:spPr>
          <a:xfrm>
            <a:off x="4169663" y="10826496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6227064" y="10844784"/>
            <a:ext cx="0" cy="45720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Editable graphic"/>
          <p:cNvSpPr/>
          <p:nvPr/>
        </p:nvSpPr>
        <p:spPr>
          <a:xfrm>
            <a:off x="6172200" y="10826496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8458200" y="10844784"/>
            <a:ext cx="0" cy="45720"/>
          </a:xfrm>
          <a:prstGeom prst="line">
            <a:avLst/>
          </a:prstGeom>
          <a:ln w="13970">
            <a:solidFill>
              <a:srgbClr val="002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Editable graphic"/>
          <p:cNvSpPr/>
          <p:nvPr/>
        </p:nvSpPr>
        <p:spPr>
          <a:xfrm>
            <a:off x="8403336" y="10826496"/>
            <a:ext cx="109728" cy="109728"/>
          </a:xfrm>
          <a:prstGeom prst="downArrow">
            <a:avLst/>
          </a:prstGeom>
          <a:solidFill>
            <a:srgbClr val="00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graphic"/>
          <p:cNvSpPr/>
          <p:nvPr/>
        </p:nvSpPr>
        <p:spPr>
          <a:xfrm>
            <a:off x="832104" y="10936224"/>
            <a:ext cx="2048256" cy="521207"/>
          </a:xfrm>
          <a:prstGeom prst="roundRect">
            <a:avLst>
              <a:gd name="adj" fmla="val 10526"/>
            </a:avLst>
          </a:prstGeom>
          <a:solidFill>
            <a:srgbClr val="FFFC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graphic"/>
          <p:cNvSpPr/>
          <p:nvPr/>
        </p:nvSpPr>
        <p:spPr>
          <a:xfrm>
            <a:off x="2990088" y="10936224"/>
            <a:ext cx="2286000" cy="521207"/>
          </a:xfrm>
          <a:prstGeom prst="roundRect">
            <a:avLst>
              <a:gd name="adj" fmla="val 10526"/>
            </a:avLst>
          </a:prstGeom>
          <a:solidFill>
            <a:srgbClr val="FFFC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graphic"/>
          <p:cNvSpPr/>
          <p:nvPr/>
        </p:nvSpPr>
        <p:spPr>
          <a:xfrm>
            <a:off x="5376672" y="10936224"/>
            <a:ext cx="1828800" cy="521207"/>
          </a:xfrm>
          <a:prstGeom prst="roundRect">
            <a:avLst>
              <a:gd name="adj" fmla="val 10526"/>
            </a:avLst>
          </a:prstGeom>
          <a:solidFill>
            <a:srgbClr val="FFFC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graphic"/>
          <p:cNvSpPr/>
          <p:nvPr/>
        </p:nvSpPr>
        <p:spPr>
          <a:xfrm>
            <a:off x="7306056" y="10936224"/>
            <a:ext cx="2377440" cy="521207"/>
          </a:xfrm>
          <a:prstGeom prst="roundRect">
            <a:avLst>
              <a:gd name="adj" fmla="val 10526"/>
            </a:avLst>
          </a:prstGeom>
          <a:solidFill>
            <a:srgbClr val="FFFCFE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graphic"/>
          <p:cNvSpPr/>
          <p:nvPr/>
        </p:nvSpPr>
        <p:spPr>
          <a:xfrm>
            <a:off x="993495" y="11276380"/>
            <a:ext cx="42245" cy="89611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graphic"/>
          <p:cNvSpPr/>
          <p:nvPr/>
        </p:nvSpPr>
        <p:spPr>
          <a:xfrm>
            <a:off x="1065916" y="11212372"/>
            <a:ext cx="42245" cy="153619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graphic"/>
          <p:cNvSpPr/>
          <p:nvPr/>
        </p:nvSpPr>
        <p:spPr>
          <a:xfrm>
            <a:off x="1138336" y="11129162"/>
            <a:ext cx="42245" cy="236829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graphic"/>
          <p:cNvSpPr/>
          <p:nvPr/>
        </p:nvSpPr>
        <p:spPr>
          <a:xfrm>
            <a:off x="1210757" y="11045952"/>
            <a:ext cx="42245" cy="320040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icon"/>
          <p:cNvSpPr/>
          <p:nvPr/>
        </p:nvSpPr>
        <p:spPr>
          <a:xfrm>
            <a:off x="3154680" y="10981944"/>
            <a:ext cx="265176" cy="402336"/>
          </a:xfrm>
          <a:custGeom>
            <a:avLst/>
            <a:gdLst/>
            <a:ahLst/>
            <a:cxnLst/>
            <a:rect l="l" t="t" r="r" b="b"/>
            <a:pathLst>
              <a:path w="29" h="44">
                <a:moveTo>
                  <a:pt x="12" y="0"/>
                </a:moveTo>
                <a:lnTo>
                  <a:pt x="20" y="9"/>
                </a:lnTo>
                <a:lnTo>
                  <a:pt x="18" y="16"/>
                </a:lnTo>
                <a:lnTo>
                  <a:pt x="27" y="26"/>
                </a:lnTo>
                <a:lnTo>
                  <a:pt x="29" y="33"/>
                </a:lnTo>
                <a:lnTo>
                  <a:pt x="26" y="40"/>
                </a:lnTo>
                <a:lnTo>
                  <a:pt x="19" y="44"/>
                </a:lnTo>
                <a:lnTo>
                  <a:pt x="10" y="43"/>
                </a:lnTo>
                <a:lnTo>
                  <a:pt x="2" y="38"/>
                </a:lnTo>
                <a:lnTo>
                  <a:pt x="0" y="29"/>
                </a:lnTo>
                <a:lnTo>
                  <a:pt x="4" y="19"/>
                </a:lnTo>
                <a:lnTo>
                  <a:pt x="5" y="27"/>
                </a:lnTo>
                <a:lnTo>
                  <a:pt x="10" y="19"/>
                </a:lnTo>
                <a:lnTo>
                  <a:pt x="10" y="10"/>
                </a:lnTo>
                <a:close/>
              </a:path>
            </a:pathLst>
          </a:custGeom>
          <a:solidFill>
            <a:srgbClr val="F68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icon"/>
          <p:cNvSpPr/>
          <p:nvPr/>
        </p:nvSpPr>
        <p:spPr>
          <a:xfrm>
            <a:off x="3209544" y="11109960"/>
            <a:ext cx="146304" cy="265176"/>
          </a:xfrm>
          <a:custGeom>
            <a:avLst/>
            <a:gdLst/>
            <a:ahLst/>
            <a:cxnLst/>
            <a:rect l="l" t="t" r="r" b="b"/>
            <a:pathLst>
              <a:path w="16" h="29">
                <a:moveTo>
                  <a:pt x="10" y="0"/>
                </a:moveTo>
                <a:lnTo>
                  <a:pt x="13" y="11"/>
                </a:lnTo>
                <a:lnTo>
                  <a:pt x="16" y="18"/>
                </a:lnTo>
                <a:lnTo>
                  <a:pt x="14" y="25"/>
                </a:lnTo>
                <a:lnTo>
                  <a:pt x="10" y="29"/>
                </a:lnTo>
                <a:lnTo>
                  <a:pt x="3" y="26"/>
                </a:lnTo>
                <a:lnTo>
                  <a:pt x="0" y="19"/>
                </a:lnTo>
                <a:lnTo>
                  <a:pt x="3" y="12"/>
                </a:lnTo>
                <a:lnTo>
                  <a:pt x="4" y="19"/>
                </a:lnTo>
                <a:lnTo>
                  <a:pt x="7" y="14"/>
                </a:lnTo>
                <a:close/>
              </a:path>
            </a:pathLst>
          </a:custGeom>
          <a:solidFill>
            <a:srgbClr val="FFD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graphic"/>
          <p:cNvSpPr/>
          <p:nvPr/>
        </p:nvSpPr>
        <p:spPr>
          <a:xfrm rot="1500000">
            <a:off x="5524256" y="11003432"/>
            <a:ext cx="328086" cy="378195"/>
          </a:xfrm>
          <a:prstGeom prst="ellipse">
            <a:avLst/>
          </a:prstGeom>
          <a:solidFill>
            <a:srgbClr val="D9F3FF"/>
          </a:solidFill>
          <a:ln w="1905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graphic"/>
          <p:cNvSpPr/>
          <p:nvPr/>
        </p:nvSpPr>
        <p:spPr>
          <a:xfrm>
            <a:off x="5625205" y="11110874"/>
            <a:ext cx="130393" cy="167609"/>
          </a:xfrm>
          <a:prstGeom prst="ellipse">
            <a:avLst/>
          </a:prstGeom>
          <a:solidFill>
            <a:srgbClr val="8BCDFA"/>
          </a:solidFill>
          <a:ln w="127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graphic"/>
          <p:cNvSpPr/>
          <p:nvPr/>
        </p:nvSpPr>
        <p:spPr>
          <a:xfrm>
            <a:off x="5667268" y="11153851"/>
            <a:ext cx="46268" cy="60167"/>
          </a:xfrm>
          <a:prstGeom prst="ellipse">
            <a:avLst/>
          </a:prstGeom>
          <a:solidFill>
            <a:srgbClr val="3395C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graphic"/>
          <p:cNvSpPr/>
          <p:nvPr/>
        </p:nvSpPr>
        <p:spPr>
          <a:xfrm>
            <a:off x="5595762" y="11059302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graphic"/>
          <p:cNvSpPr/>
          <p:nvPr/>
        </p:nvSpPr>
        <p:spPr>
          <a:xfrm>
            <a:off x="5721949" y="11055004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graphic"/>
          <p:cNvSpPr/>
          <p:nvPr/>
        </p:nvSpPr>
        <p:spPr>
          <a:xfrm>
            <a:off x="5772424" y="11115172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graphic"/>
          <p:cNvSpPr/>
          <p:nvPr/>
        </p:nvSpPr>
        <p:spPr>
          <a:xfrm>
            <a:off x="5776630" y="11248400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graphic"/>
          <p:cNvSpPr/>
          <p:nvPr/>
        </p:nvSpPr>
        <p:spPr>
          <a:xfrm>
            <a:off x="5696712" y="11321460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graphic"/>
          <p:cNvSpPr/>
          <p:nvPr/>
        </p:nvSpPr>
        <p:spPr>
          <a:xfrm>
            <a:off x="5587349" y="11291376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graphic"/>
          <p:cNvSpPr/>
          <p:nvPr/>
        </p:nvSpPr>
        <p:spPr>
          <a:xfrm>
            <a:off x="5566318" y="11166744"/>
            <a:ext cx="18928" cy="19339"/>
          </a:xfrm>
          <a:prstGeom prst="ellipse">
            <a:avLst/>
          </a:prstGeom>
          <a:solidFill>
            <a:srgbClr val="2F95D3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icon"/>
          <p:cNvSpPr/>
          <p:nvPr/>
        </p:nvSpPr>
        <p:spPr>
          <a:xfrm>
            <a:off x="7488936" y="11000232"/>
            <a:ext cx="210312" cy="374904"/>
          </a:xfrm>
          <a:custGeom>
            <a:avLst/>
            <a:gdLst/>
            <a:ahLst/>
            <a:cxnLst/>
            <a:rect l="l" t="t" r="r" b="b"/>
            <a:pathLst>
              <a:path w="23" h="41">
                <a:moveTo>
                  <a:pt x="11" y="0"/>
                </a:moveTo>
                <a:lnTo>
                  <a:pt x="16" y="1"/>
                </a:lnTo>
                <a:lnTo>
                  <a:pt x="20" y="3"/>
                </a:lnTo>
                <a:lnTo>
                  <a:pt x="22" y="4"/>
                </a:lnTo>
                <a:lnTo>
                  <a:pt x="23" y="5"/>
                </a:lnTo>
                <a:lnTo>
                  <a:pt x="21" y="7"/>
                </a:lnTo>
                <a:lnTo>
                  <a:pt x="18" y="8"/>
                </a:lnTo>
                <a:lnTo>
                  <a:pt x="14" y="10"/>
                </a:lnTo>
                <a:lnTo>
                  <a:pt x="9" y="11"/>
                </a:lnTo>
                <a:lnTo>
                  <a:pt x="5" y="12"/>
                </a:lnTo>
                <a:lnTo>
                  <a:pt x="2" y="14"/>
                </a:lnTo>
                <a:lnTo>
                  <a:pt x="0" y="15"/>
                </a:lnTo>
                <a:lnTo>
                  <a:pt x="1" y="16"/>
                </a:lnTo>
                <a:lnTo>
                  <a:pt x="3" y="18"/>
                </a:lnTo>
                <a:lnTo>
                  <a:pt x="7" y="19"/>
                </a:lnTo>
                <a:lnTo>
                  <a:pt x="11" y="21"/>
                </a:lnTo>
                <a:lnTo>
                  <a:pt x="16" y="22"/>
                </a:lnTo>
                <a:lnTo>
                  <a:pt x="20" y="23"/>
                </a:lnTo>
                <a:lnTo>
                  <a:pt x="22" y="25"/>
                </a:lnTo>
                <a:lnTo>
                  <a:pt x="23" y="26"/>
                </a:lnTo>
                <a:lnTo>
                  <a:pt x="21" y="27"/>
                </a:lnTo>
                <a:lnTo>
                  <a:pt x="18" y="29"/>
                </a:lnTo>
                <a:lnTo>
                  <a:pt x="14" y="30"/>
                </a:lnTo>
                <a:lnTo>
                  <a:pt x="9" y="31"/>
                </a:lnTo>
                <a:lnTo>
                  <a:pt x="5" y="33"/>
                </a:lnTo>
                <a:lnTo>
                  <a:pt x="2" y="34"/>
                </a:lnTo>
                <a:lnTo>
                  <a:pt x="0" y="36"/>
                </a:lnTo>
                <a:lnTo>
                  <a:pt x="1" y="37"/>
                </a:lnTo>
                <a:lnTo>
                  <a:pt x="3" y="38"/>
                </a:lnTo>
                <a:lnTo>
                  <a:pt x="7" y="40"/>
                </a:lnTo>
                <a:lnTo>
                  <a:pt x="11" y="41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icon"/>
          <p:cNvSpPr/>
          <p:nvPr/>
        </p:nvSpPr>
        <p:spPr>
          <a:xfrm>
            <a:off x="7488936" y="11000232"/>
            <a:ext cx="210312" cy="374904"/>
          </a:xfrm>
          <a:custGeom>
            <a:avLst/>
            <a:gdLst/>
            <a:ahLst/>
            <a:cxnLst/>
            <a:rect l="l" t="t" r="r" b="b"/>
            <a:pathLst>
              <a:path w="23" h="41">
                <a:moveTo>
                  <a:pt x="11" y="0"/>
                </a:moveTo>
                <a:lnTo>
                  <a:pt x="7" y="1"/>
                </a:lnTo>
                <a:lnTo>
                  <a:pt x="3" y="3"/>
                </a:lnTo>
                <a:lnTo>
                  <a:pt x="1" y="4"/>
                </a:lnTo>
                <a:lnTo>
                  <a:pt x="0" y="5"/>
                </a:lnTo>
                <a:lnTo>
                  <a:pt x="2" y="7"/>
                </a:lnTo>
                <a:lnTo>
                  <a:pt x="5" y="8"/>
                </a:lnTo>
                <a:lnTo>
                  <a:pt x="9" y="10"/>
                </a:lnTo>
                <a:lnTo>
                  <a:pt x="14" y="11"/>
                </a:lnTo>
                <a:lnTo>
                  <a:pt x="18" y="12"/>
                </a:lnTo>
                <a:lnTo>
                  <a:pt x="21" y="14"/>
                </a:lnTo>
                <a:lnTo>
                  <a:pt x="23" y="15"/>
                </a:lnTo>
                <a:lnTo>
                  <a:pt x="22" y="16"/>
                </a:lnTo>
                <a:lnTo>
                  <a:pt x="20" y="18"/>
                </a:lnTo>
                <a:lnTo>
                  <a:pt x="16" y="19"/>
                </a:lnTo>
                <a:lnTo>
                  <a:pt x="11" y="21"/>
                </a:lnTo>
                <a:lnTo>
                  <a:pt x="7" y="22"/>
                </a:lnTo>
                <a:lnTo>
                  <a:pt x="3" y="23"/>
                </a:lnTo>
                <a:lnTo>
                  <a:pt x="1" y="25"/>
                </a:lnTo>
                <a:lnTo>
                  <a:pt x="0" y="26"/>
                </a:lnTo>
                <a:lnTo>
                  <a:pt x="2" y="27"/>
                </a:lnTo>
                <a:lnTo>
                  <a:pt x="5" y="29"/>
                </a:lnTo>
                <a:lnTo>
                  <a:pt x="9" y="30"/>
                </a:lnTo>
                <a:lnTo>
                  <a:pt x="14" y="31"/>
                </a:lnTo>
                <a:lnTo>
                  <a:pt x="18" y="33"/>
                </a:lnTo>
                <a:lnTo>
                  <a:pt x="21" y="34"/>
                </a:lnTo>
                <a:lnTo>
                  <a:pt x="23" y="36"/>
                </a:lnTo>
                <a:lnTo>
                  <a:pt x="22" y="37"/>
                </a:lnTo>
                <a:lnTo>
                  <a:pt x="20" y="38"/>
                </a:lnTo>
                <a:lnTo>
                  <a:pt x="16" y="40"/>
                </a:lnTo>
                <a:lnTo>
                  <a:pt x="11" y="41"/>
                </a:lnTo>
              </a:path>
            </a:pathLst>
          </a:custGeom>
          <a:noFill/>
          <a:ln w="2159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 flipH="1">
            <a:off x="7518663" y="11025225"/>
            <a:ext cx="150857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7506191" y="11062716"/>
            <a:ext cx="175801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7572989" y="11100206"/>
            <a:ext cx="42205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7493149" y="11137696"/>
            <a:ext cx="201885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7552808" y="11175187"/>
            <a:ext cx="82567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7518663" y="11212677"/>
            <a:ext cx="150857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>
            <a:off x="7506191" y="11250168"/>
            <a:ext cx="175801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7572989" y="11287658"/>
            <a:ext cx="42205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7493149" y="11325148"/>
            <a:ext cx="201885" cy="0"/>
          </a:xfrm>
          <a:prstGeom prst="line">
            <a:avLst/>
          </a:prstGeom>
          <a:ln w="1397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: 细胞损伤"/>
          <p:cNvSpPr txBox="1"/>
          <p:nvPr/>
        </p:nvSpPr>
        <p:spPr>
          <a:xfrm>
            <a:off x="1472184" y="10945368"/>
            <a:ext cx="13258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00000"/>
                </a:solidFill>
                <a:latin typeface="Noto Serif CJK SC"/>
                <a:ea typeface="Noto Serif CJK SC"/>
              </a:rPr>
              <a:t>细胞损伤</a:t>
            </a:r>
          </a:p>
        </p:txBody>
      </p:sp>
      <p:sp>
        <p:nvSpPr>
          <p:cNvPr id="269" name="Text: LDH · PI · CCK-8"/>
          <p:cNvSpPr txBox="1"/>
          <p:nvPr/>
        </p:nvSpPr>
        <p:spPr>
          <a:xfrm>
            <a:off x="1408176" y="11173968"/>
            <a:ext cx="139903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LDH · PI · CCK-8</a:t>
            </a:r>
          </a:p>
        </p:txBody>
      </p:sp>
      <p:sp>
        <p:nvSpPr>
          <p:cNvPr id="270" name="Text: 炎症性死亡"/>
          <p:cNvSpPr txBox="1"/>
          <p:nvPr/>
        </p:nvSpPr>
        <p:spPr>
          <a:xfrm>
            <a:off x="3785615" y="10945368"/>
            <a:ext cx="1380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00000"/>
                </a:solidFill>
                <a:latin typeface="Noto Serif CJK SC"/>
                <a:ea typeface="Noto Serif CJK SC"/>
              </a:rPr>
              <a:t>炎症性死亡</a:t>
            </a:r>
          </a:p>
        </p:txBody>
      </p:sp>
      <p:sp>
        <p:nvSpPr>
          <p:cNvPr id="271" name="Text: 活化caspase-1 · GSDMD-N"/>
          <p:cNvSpPr txBox="1"/>
          <p:nvPr/>
        </p:nvSpPr>
        <p:spPr>
          <a:xfrm>
            <a:off x="3465576" y="11146536"/>
            <a:ext cx="1719072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3" b="0">
                <a:solidFill>
                  <a:srgbClr val="000000"/>
                </a:solidFill>
                <a:latin typeface="Noto Serif CJK SC"/>
                <a:ea typeface="Noto Serif CJK SC"/>
              </a:rPr>
              <a:t>活化caspase-1 · GSDMD-N</a:t>
            </a:r>
          </a:p>
        </p:txBody>
      </p:sp>
      <p:sp>
        <p:nvSpPr>
          <p:cNvPr id="272" name="Text: IL-1β成熟与释放"/>
          <p:cNvSpPr txBox="1"/>
          <p:nvPr/>
        </p:nvSpPr>
        <p:spPr>
          <a:xfrm>
            <a:off x="3739896" y="11301984"/>
            <a:ext cx="1426464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6" b="0">
                <a:solidFill>
                  <a:srgbClr val="000000"/>
                </a:solidFill>
                <a:latin typeface="Noto Serif CJK SC"/>
                <a:ea typeface="Noto Serif CJK SC"/>
              </a:rPr>
              <a:t>IL-1β成熟与释放</a:t>
            </a:r>
          </a:p>
        </p:txBody>
      </p:sp>
      <p:sp>
        <p:nvSpPr>
          <p:cNvPr id="273" name="Text: 并行凋亡"/>
          <p:cNvSpPr txBox="1"/>
          <p:nvPr/>
        </p:nvSpPr>
        <p:spPr>
          <a:xfrm>
            <a:off x="5943600" y="10945368"/>
            <a:ext cx="117043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00000"/>
                </a:solidFill>
                <a:latin typeface="Noto Serif CJK SC"/>
                <a:ea typeface="Noto Serif CJK SC"/>
              </a:rPr>
              <a:t>并行凋亡</a:t>
            </a:r>
          </a:p>
        </p:txBody>
      </p:sp>
      <p:sp>
        <p:nvSpPr>
          <p:cNvPr id="274" name="Text: 裂解caspase-3"/>
          <p:cNvSpPr txBox="1"/>
          <p:nvPr/>
        </p:nvSpPr>
        <p:spPr>
          <a:xfrm>
            <a:off x="5934456" y="11173968"/>
            <a:ext cx="120700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裂解caspase-3</a:t>
            </a:r>
          </a:p>
        </p:txBody>
      </p:sp>
      <p:sp>
        <p:nvSpPr>
          <p:cNvPr id="275" name="Text: 基质代谢"/>
          <p:cNvSpPr txBox="1"/>
          <p:nvPr/>
        </p:nvSpPr>
        <p:spPr>
          <a:xfrm>
            <a:off x="8220456" y="10945368"/>
            <a:ext cx="134416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68" b="1">
                <a:solidFill>
                  <a:srgbClr val="000000"/>
                </a:solidFill>
                <a:latin typeface="Noto Serif CJK SC"/>
                <a:ea typeface="Noto Serif CJK SC"/>
              </a:rPr>
              <a:t>基质代谢</a:t>
            </a:r>
          </a:p>
        </p:txBody>
      </p:sp>
      <p:sp>
        <p:nvSpPr>
          <p:cNvPr id="276" name="Text: Ⅱ型胶原 · ACAN · MMP-13"/>
          <p:cNvSpPr txBox="1"/>
          <p:nvPr/>
        </p:nvSpPr>
        <p:spPr>
          <a:xfrm>
            <a:off x="7827264" y="11173968"/>
            <a:ext cx="174650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7" b="0">
                <a:solidFill>
                  <a:srgbClr val="000000"/>
                </a:solidFill>
                <a:latin typeface="Noto Serif CJK SC"/>
                <a:ea typeface="Noto Serif CJK SC"/>
              </a:rPr>
              <a:t>Ⅱ型胶原 · ACAN · MMP-13</a:t>
            </a:r>
          </a:p>
        </p:txBody>
      </p:sp>
      <p:sp>
        <p:nvSpPr>
          <p:cNvPr id="277" name="Editable graphic"/>
          <p:cNvSpPr/>
          <p:nvPr/>
        </p:nvSpPr>
        <p:spPr>
          <a:xfrm>
            <a:off x="2075688" y="11512296"/>
            <a:ext cx="6245352" cy="265176"/>
          </a:xfrm>
          <a:prstGeom prst="roundRect">
            <a:avLst>
              <a:gd name="adj" fmla="val 20689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graphic"/>
          <p:cNvSpPr/>
          <p:nvPr/>
        </p:nvSpPr>
        <p:spPr>
          <a:xfrm>
            <a:off x="2917301" y="11550700"/>
            <a:ext cx="142646" cy="131673"/>
          </a:xfrm>
          <a:prstGeom prst="ellipse">
            <a:avLst/>
          </a:prstGeom>
          <a:noFill/>
          <a:ln w="25400">
            <a:solidFill>
              <a:srgbClr val="087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>
            <a:off x="3040928" y="11675790"/>
            <a:ext cx="83211" cy="70226"/>
          </a:xfrm>
          <a:prstGeom prst="line">
            <a:avLst/>
          </a:prstGeom>
          <a:ln w="30480">
            <a:solidFill>
              <a:srgbClr val="08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: 干扰排查：检测背景、血清交叉反应、胞外ATP变化、必要时洗脱"/>
          <p:cNvSpPr txBox="1"/>
          <p:nvPr/>
        </p:nvSpPr>
        <p:spPr>
          <a:xfrm>
            <a:off x="3246120" y="11521440"/>
            <a:ext cx="496519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000000"/>
                </a:solidFill>
                <a:latin typeface="Noto Serif CJK SC"/>
                <a:ea typeface="Noto Serif CJK SC"/>
              </a:rPr>
              <a:t>干扰排查：检测背景、血清交叉反应、胞外ATP变化、必要时洗脱</a:t>
            </a:r>
          </a:p>
        </p:txBody>
      </p:sp>
      <p:sp>
        <p:nvSpPr>
          <p:cNvPr id="281" name="Editable graphic"/>
          <p:cNvSpPr/>
          <p:nvPr/>
        </p:nvSpPr>
        <p:spPr>
          <a:xfrm>
            <a:off x="2176272" y="11841480"/>
            <a:ext cx="6025896" cy="256032"/>
          </a:xfrm>
          <a:prstGeom prst="roundRect">
            <a:avLst>
              <a:gd name="adj" fmla="val 21428"/>
            </a:avLst>
          </a:prstGeom>
          <a:solidFill>
            <a:srgbClr val="FFF9FC"/>
          </a:solidFill>
          <a:ln w="10795">
            <a:solidFill>
              <a:srgbClr val="D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graphic"/>
          <p:cNvSpPr/>
          <p:nvPr/>
        </p:nvSpPr>
        <p:spPr>
          <a:xfrm>
            <a:off x="3102742" y="11872935"/>
            <a:ext cx="85587" cy="52303"/>
          </a:xfrm>
          <a:prstGeom prst="ellipse">
            <a:avLst/>
          </a:prstGeom>
          <a:solidFill>
            <a:srgbClr val="075BA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graphic"/>
          <p:cNvSpPr/>
          <p:nvPr/>
        </p:nvSpPr>
        <p:spPr>
          <a:xfrm>
            <a:off x="2997403" y="11897075"/>
            <a:ext cx="72420" cy="44256"/>
          </a:xfrm>
          <a:prstGeom prst="ellipse">
            <a:avLst/>
          </a:prstGeom>
          <a:solidFill>
            <a:srgbClr val="075BA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graphic"/>
          <p:cNvSpPr/>
          <p:nvPr/>
        </p:nvSpPr>
        <p:spPr>
          <a:xfrm>
            <a:off x="3217956" y="11897075"/>
            <a:ext cx="72420" cy="44256"/>
          </a:xfrm>
          <a:prstGeom prst="ellipse">
            <a:avLst/>
          </a:prstGeom>
          <a:solidFill>
            <a:srgbClr val="075BA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graphic"/>
          <p:cNvSpPr/>
          <p:nvPr/>
        </p:nvSpPr>
        <p:spPr>
          <a:xfrm>
            <a:off x="3079699" y="11949379"/>
            <a:ext cx="131673" cy="118689"/>
          </a:xfrm>
          <a:prstGeom prst="roundRect">
            <a:avLst>
              <a:gd name="adj" fmla="val 38520"/>
            </a:avLst>
          </a:prstGeom>
          <a:solidFill>
            <a:srgbClr val="0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graphic"/>
          <p:cNvSpPr/>
          <p:nvPr/>
        </p:nvSpPr>
        <p:spPr>
          <a:xfrm>
            <a:off x="2980944" y="11965472"/>
            <a:ext cx="105338" cy="86502"/>
          </a:xfrm>
          <a:prstGeom prst="roundRect">
            <a:avLst>
              <a:gd name="adj" fmla="val 49000"/>
            </a:avLst>
          </a:prstGeom>
          <a:solidFill>
            <a:srgbClr val="0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graphic"/>
          <p:cNvSpPr/>
          <p:nvPr/>
        </p:nvSpPr>
        <p:spPr>
          <a:xfrm>
            <a:off x="3208080" y="11965472"/>
            <a:ext cx="102047" cy="86502"/>
          </a:xfrm>
          <a:prstGeom prst="roundRect">
            <a:avLst>
              <a:gd name="adj" fmla="val 49000"/>
            </a:avLst>
          </a:prstGeom>
          <a:solidFill>
            <a:srgbClr val="0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: 独立供者为分析单位；急性损伤与基质恢复分别采样"/>
          <p:cNvSpPr txBox="1"/>
          <p:nvPr/>
        </p:nvSpPr>
        <p:spPr>
          <a:xfrm>
            <a:off x="3465576" y="11850624"/>
            <a:ext cx="462686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>
                <a:solidFill>
                  <a:srgbClr val="000000"/>
                </a:solidFill>
                <a:latin typeface="Noto Serif CJK SC"/>
                <a:ea typeface="Noto Serif CJK SC"/>
              </a:rPr>
              <a:t>独立供者为分析单位；急性损伤与基质恢复分别采样</a:t>
            </a:r>
          </a:p>
        </p:txBody>
      </p:sp>
      <p:sp>
        <p:nvSpPr>
          <p:cNvPr id="289" name="Editable graphic"/>
          <p:cNvSpPr/>
          <p:nvPr/>
        </p:nvSpPr>
        <p:spPr>
          <a:xfrm>
            <a:off x="841248" y="12152376"/>
            <a:ext cx="8769096" cy="493776"/>
          </a:xfrm>
          <a:prstGeom prst="roundRect">
            <a:avLst>
              <a:gd name="adj" fmla="val 11111"/>
            </a:avLst>
          </a:prstGeom>
          <a:solidFill>
            <a:srgbClr val="C1EAFE"/>
          </a:solidFill>
          <a:ln w="10795">
            <a:solidFill>
              <a:srgbClr val="36A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graphic"/>
          <p:cNvSpPr/>
          <p:nvPr/>
        </p:nvSpPr>
        <p:spPr>
          <a:xfrm>
            <a:off x="2739999" y="12485949"/>
            <a:ext cx="42245" cy="87050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graphic"/>
          <p:cNvSpPr/>
          <p:nvPr/>
        </p:nvSpPr>
        <p:spPr>
          <a:xfrm>
            <a:off x="2812420" y="12423769"/>
            <a:ext cx="42245" cy="149230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graphic"/>
          <p:cNvSpPr/>
          <p:nvPr/>
        </p:nvSpPr>
        <p:spPr>
          <a:xfrm>
            <a:off x="2884840" y="12342936"/>
            <a:ext cx="42245" cy="230063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graphic"/>
          <p:cNvSpPr/>
          <p:nvPr/>
        </p:nvSpPr>
        <p:spPr>
          <a:xfrm>
            <a:off x="2957261" y="12262104"/>
            <a:ext cx="42245" cy="310896"/>
          </a:xfrm>
          <a:prstGeom prst="rect">
            <a:avLst/>
          </a:prstGeom>
          <a:solidFill>
            <a:srgbClr val="08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: 评价整方保护效应及其与优先节点的功能联系"/>
          <p:cNvSpPr txBox="1"/>
          <p:nvPr/>
        </p:nvSpPr>
        <p:spPr>
          <a:xfrm>
            <a:off x="3493008" y="12170664"/>
            <a:ext cx="598017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00000"/>
                </a:solidFill>
                <a:latin typeface="Noto Serif CJK SC"/>
                <a:ea typeface="Noto Serif CJK SC"/>
              </a:rPr>
              <a:t>评价整方保护效应及其与优先节点的功能联系</a:t>
            </a:r>
          </a:p>
        </p:txBody>
      </p:sp>
      <p:sp>
        <p:nvSpPr>
          <p:cNvPr id="295" name="Text: 结合实验支持或修正计算预测；未证实执行机制时不命名为焦亡模型"/>
          <p:cNvSpPr txBox="1"/>
          <p:nvPr/>
        </p:nvSpPr>
        <p:spPr>
          <a:xfrm>
            <a:off x="3127248" y="12426696"/>
            <a:ext cx="6355080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>
                <a:solidFill>
                  <a:srgbClr val="000000"/>
                </a:solidFill>
                <a:latin typeface="Noto Serif CJK SC"/>
                <a:ea typeface="Noto Serif CJK SC"/>
              </a:rPr>
              <a:t>结合实验支持或修正计算预测；未证实执行机制时不命名为焦亡模型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