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聊天中所示原图重建。标题、阶段名称、24项正文及研究目标为原生文字对象；流程框、箭头、图标可分别编辑。5组插画根据原图重建为独立图片素材，可移动、缩放或替换，插画内部不是逐笔矢量。未使用原图整页作为背景；未宣称完成缺少本地源文件时无法启动的editppt正式流程。正文按原图转录并核对，不额外增加临床研究设计或疗效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18488" y="164592"/>
            <a:ext cx="12051792" cy="777240"/>
          </a:xfrm>
          <a:prstGeom prst="roundRect">
            <a:avLst/>
          </a:prstGeom>
          <a:solidFill>
            <a:srgbClr val="E9F6FF"/>
          </a:solidFill>
          <a:ln w="12700">
            <a:solidFill>
              <a:srgbClr val="C8E7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56231" y="310896"/>
            <a:ext cx="11567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700" b="1">
                <a:solidFill>
                  <a:srgbClr val="072F69"/>
                </a:solidFill>
                <a:latin typeface="Noto Sans CJK SC"/>
              </a:defRPr>
            </a:pPr>
            <a:r>
              <a:t>正颜舒筋方治疗疼痛型颞下颌关节紊乱病的临床研究技术路线图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48640"/>
            <a:ext cx="1216151" cy="0"/>
          </a:xfrm>
          <a:prstGeom prst="line">
            <a:avLst/>
          </a:prstGeom>
          <a:ln w="254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432536" y="548640"/>
            <a:ext cx="1225296" cy="0"/>
          </a:xfrm>
          <a:prstGeom prst="line">
            <a:avLst/>
          </a:prstGeom>
          <a:ln w="254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" y="1197864"/>
            <a:ext cx="2852928" cy="5815584"/>
          </a:xfrm>
          <a:prstGeom prst="roundRect">
            <a:avLst/>
          </a:prstGeom>
          <a:solidFill>
            <a:srgbClr val="F0F8FE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" y="1197864"/>
            <a:ext cx="2852928" cy="7040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1371600"/>
            <a:ext cx="203911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前期准备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48940" y="2660904"/>
            <a:ext cx="320040" cy="292608"/>
          </a:xfrm>
          <a:prstGeom prst="right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91256" y="1197864"/>
            <a:ext cx="2916936" cy="5815584"/>
          </a:xfrm>
          <a:prstGeom prst="roundRect">
            <a:avLst/>
          </a:prstGeom>
          <a:solidFill>
            <a:srgbClr val="EFFBF7"/>
          </a:solidFill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91256" y="1197864"/>
            <a:ext cx="2916936" cy="704088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82696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1371600"/>
            <a:ext cx="2103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研究启动与标准化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94476" y="2660904"/>
            <a:ext cx="320040" cy="292608"/>
          </a:xfrm>
          <a:prstGeom prst="rightArrow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73368" y="1197864"/>
            <a:ext cx="2606040" cy="5815584"/>
          </a:xfrm>
          <a:prstGeom prst="roundRect">
            <a:avLst/>
          </a:prstGeom>
          <a:solidFill>
            <a:srgbClr val="F0F8FE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73368" y="1197864"/>
            <a:ext cx="2606040" cy="7040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64807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7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5744" y="1371600"/>
            <a:ext cx="179222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患者入组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965692" y="2660904"/>
            <a:ext cx="320040" cy="292608"/>
          </a:xfrm>
          <a:prstGeom prst="right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262872" y="1197864"/>
            <a:ext cx="2606040" cy="5815584"/>
          </a:xfrm>
          <a:prstGeom prst="roundRect">
            <a:avLst/>
          </a:prstGeom>
          <a:solidFill>
            <a:srgbClr val="EFFBF7"/>
          </a:solidFill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262872" y="1197864"/>
            <a:ext cx="2606040" cy="704088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354312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54312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85248" y="1371600"/>
            <a:ext cx="179222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干预与随访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1855196" y="2660904"/>
            <a:ext cx="320040" cy="292608"/>
          </a:xfrm>
          <a:prstGeom prst="rightArrow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2143232" y="1197864"/>
            <a:ext cx="3035808" cy="5815584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2143232" y="1197864"/>
            <a:ext cx="3035808" cy="704088"/>
          </a:xfrm>
          <a:prstGeom prst="round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234672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234672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65608" y="1371600"/>
            <a:ext cx="222199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数据分析与成果形成</a:t>
            </a:r>
          </a:p>
        </p:txBody>
      </p:sp>
      <p:sp>
        <p:nvSpPr>
          <p:cNvPr id="115" name="Oval 114"/>
          <p:cNvSpPr/>
          <p:nvPr/>
        </p:nvSpPr>
        <p:spPr>
          <a:xfrm>
            <a:off x="265176" y="383590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49483" y="3958071"/>
            <a:ext cx="206837" cy="344728"/>
          </a:xfrm>
          <a:prstGeom prst="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6927" y="3958071"/>
            <a:ext cx="206837" cy="344728"/>
          </a:xfrm>
          <a:prstGeom prst="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561624" y="3958071"/>
            <a:ext cx="0" cy="371247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60120" y="393192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敦煌医方文献核对</a:t>
            </a:r>
          </a:p>
        </p:txBody>
      </p:sp>
      <p:sp>
        <p:nvSpPr>
          <p:cNvPr id="120" name="Oval 119"/>
          <p:cNvSpPr/>
          <p:nvPr/>
        </p:nvSpPr>
        <p:spPr>
          <a:xfrm>
            <a:off x="265176" y="460171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566927" y="4713274"/>
            <a:ext cx="0" cy="148499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381304" y="4861773"/>
            <a:ext cx="185623" cy="185623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66927" y="4861773"/>
            <a:ext cx="185624" cy="185623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508589" y="4654936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2966" y="4989057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94212" y="4989057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0120" y="469773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配伍分析</a:t>
            </a:r>
          </a:p>
        </p:txBody>
      </p:sp>
      <p:sp>
        <p:nvSpPr>
          <p:cNvPr id="128" name="Oval 127"/>
          <p:cNvSpPr/>
          <p:nvPr/>
        </p:nvSpPr>
        <p:spPr>
          <a:xfrm>
            <a:off x="265176" y="536752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07822" y="545256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460857" y="559045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60857" y="566470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60857" y="573895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960120" y="5408676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形成正颜舒筋方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组方依据</a:t>
            </a:r>
          </a:p>
        </p:txBody>
      </p:sp>
      <p:sp>
        <p:nvSpPr>
          <p:cNvPr id="134" name="Oval 133"/>
          <p:cNvSpPr/>
          <p:nvPr/>
        </p:nvSpPr>
        <p:spPr>
          <a:xfrm>
            <a:off x="265176" y="613333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407822" y="621837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460857" y="635626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60857" y="643051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60857" y="650476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492678" y="6181252"/>
            <a:ext cx="153802" cy="79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0120" y="622935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完善临床研究方案</a:t>
            </a:r>
          </a:p>
        </p:txBody>
      </p:sp>
      <p:sp>
        <p:nvSpPr>
          <p:cNvPr id="141" name="Oval 140"/>
          <p:cNvSpPr/>
          <p:nvPr/>
        </p:nvSpPr>
        <p:spPr>
          <a:xfrm>
            <a:off x="3346704" y="383590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entagon 141"/>
          <p:cNvSpPr/>
          <p:nvPr/>
        </p:nvSpPr>
        <p:spPr>
          <a:xfrm>
            <a:off x="3435048" y="3915698"/>
            <a:ext cx="294683" cy="310612"/>
          </a:xfrm>
          <a:prstGeom prst="homePlat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3498764" y="4055075"/>
            <a:ext cx="63715" cy="5973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562479" y="3987378"/>
            <a:ext cx="111502" cy="127431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4041648" y="393192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完成伦理审查</a:t>
            </a:r>
          </a:p>
        </p:txBody>
      </p:sp>
      <p:sp>
        <p:nvSpPr>
          <p:cNvPr id="146" name="Oval 145"/>
          <p:cNvSpPr/>
          <p:nvPr/>
        </p:nvSpPr>
        <p:spPr>
          <a:xfrm>
            <a:off x="3346704" y="434644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462924" y="4418274"/>
            <a:ext cx="238932" cy="310612"/>
          </a:xfrm>
          <a:prstGeom prst="roundRect">
            <a:avLst/>
          </a:prstGeom>
          <a:noFill/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3502746" y="4521811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502746" y="4577562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02746" y="4633313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4041648" y="444246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完成登记注册</a:t>
            </a:r>
          </a:p>
        </p:txBody>
      </p:sp>
      <p:sp>
        <p:nvSpPr>
          <p:cNvPr id="152" name="Oval 151"/>
          <p:cNvSpPr/>
          <p:nvPr/>
        </p:nvSpPr>
        <p:spPr>
          <a:xfrm>
            <a:off x="3346704" y="485698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431066" y="4936778"/>
            <a:ext cx="302648" cy="302648"/>
          </a:xfrm>
          <a:prstGeom prst="ellips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522657" y="5028369"/>
            <a:ext cx="119466" cy="1194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041648" y="495300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统一诊断标准</a:t>
            </a:r>
          </a:p>
        </p:txBody>
      </p:sp>
      <p:sp>
        <p:nvSpPr>
          <p:cNvPr id="164" name="Oval 163"/>
          <p:cNvSpPr/>
          <p:nvPr/>
        </p:nvSpPr>
        <p:spPr>
          <a:xfrm>
            <a:off x="3346704" y="536752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 flipV="1">
            <a:off x="3482835" y="5463247"/>
            <a:ext cx="95573" cy="282737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546550" y="5503069"/>
            <a:ext cx="63716" cy="51769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614248" y="5463247"/>
            <a:ext cx="95573" cy="282737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677963" y="5503069"/>
            <a:ext cx="63716" cy="51769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041648" y="5408676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统一手法与针灸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操作流程</a:t>
            </a:r>
          </a:p>
        </p:txBody>
      </p:sp>
      <p:sp>
        <p:nvSpPr>
          <p:cNvPr id="170" name="Oval 169"/>
          <p:cNvSpPr/>
          <p:nvPr/>
        </p:nvSpPr>
        <p:spPr>
          <a:xfrm>
            <a:off x="3346704" y="587806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Arc 170"/>
          <p:cNvSpPr/>
          <p:nvPr/>
        </p:nvSpPr>
        <p:spPr>
          <a:xfrm>
            <a:off x="3415137" y="5949894"/>
            <a:ext cx="334505" cy="318576"/>
          </a:xfrm>
          <a:prstGeom prst="arc">
            <a:avLst/>
          </a:prstGeom>
          <a:noFill/>
          <a:ln w="254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3431066" y="6101218"/>
            <a:ext cx="302648" cy="0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3530621" y="6236613"/>
            <a:ext cx="107519" cy="27875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 flipV="1">
            <a:off x="3606283" y="5949894"/>
            <a:ext cx="107520" cy="135395"/>
          </a:xfrm>
          <a:prstGeom prst="line">
            <a:avLst/>
          </a:prstGeom>
          <a:ln w="508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4041648" y="597408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统一供药代煎流程</a:t>
            </a:r>
          </a:p>
        </p:txBody>
      </p:sp>
      <p:sp>
        <p:nvSpPr>
          <p:cNvPr id="176" name="Oval 175"/>
          <p:cNvSpPr/>
          <p:nvPr/>
        </p:nvSpPr>
        <p:spPr>
          <a:xfrm>
            <a:off x="3346704" y="638860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439030" y="6659544"/>
            <a:ext cx="67697" cy="119466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538586" y="6567953"/>
            <a:ext cx="67697" cy="211057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38141" y="6472380"/>
            <a:ext cx="67697" cy="306630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3411155" y="6786975"/>
            <a:ext cx="354417" cy="0"/>
          </a:xfrm>
          <a:prstGeom prst="line">
            <a:avLst/>
          </a:prstGeom>
          <a:ln w="127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4041648" y="648462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统一结局测量流程</a:t>
            </a:r>
          </a:p>
        </p:txBody>
      </p:sp>
      <p:sp>
        <p:nvSpPr>
          <p:cNvPr id="182" name="Oval 181"/>
          <p:cNvSpPr/>
          <p:nvPr/>
        </p:nvSpPr>
        <p:spPr>
          <a:xfrm>
            <a:off x="6528816" y="383590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660855" y="4021714"/>
            <a:ext cx="164409" cy="164409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639641" y="4202033"/>
            <a:ext cx="206837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883603" y="4021714"/>
            <a:ext cx="164409" cy="164409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862389" y="4202033"/>
            <a:ext cx="206837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772229" y="3936857"/>
            <a:ext cx="196230" cy="196230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6751015" y="4148998"/>
            <a:ext cx="238658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223759" y="3877056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门诊连续筛选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符合条件患者</a:t>
            </a:r>
          </a:p>
        </p:txBody>
      </p:sp>
      <p:sp>
        <p:nvSpPr>
          <p:cNvPr id="190" name="Oval 189"/>
          <p:cNvSpPr/>
          <p:nvPr/>
        </p:nvSpPr>
        <p:spPr>
          <a:xfrm>
            <a:off x="6528816" y="460171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671462" y="468675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724497" y="482464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724497" y="489889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724497" y="497314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857085" y="4861773"/>
            <a:ext cx="190927" cy="185623"/>
          </a:xfrm>
          <a:prstGeom prst="line">
            <a:avLst/>
          </a:prstGeom>
          <a:ln w="381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223759" y="469773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签署知情同意书</a:t>
            </a:r>
          </a:p>
        </p:txBody>
      </p:sp>
      <p:sp>
        <p:nvSpPr>
          <p:cNvPr id="197" name="Oval 196"/>
          <p:cNvSpPr/>
          <p:nvPr/>
        </p:nvSpPr>
        <p:spPr>
          <a:xfrm>
            <a:off x="6528816" y="536752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Pentagon 197"/>
          <p:cNvSpPr/>
          <p:nvPr/>
        </p:nvSpPr>
        <p:spPr>
          <a:xfrm>
            <a:off x="6634337" y="5463174"/>
            <a:ext cx="392460" cy="413674"/>
          </a:xfrm>
          <a:prstGeom prst="homePlat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793443" y="5553334"/>
            <a:ext cx="68945" cy="212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724497" y="5622279"/>
            <a:ext cx="212140" cy="68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223759" y="546354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基线评价</a:t>
            </a:r>
          </a:p>
        </p:txBody>
      </p:sp>
      <p:sp>
        <p:nvSpPr>
          <p:cNvPr id="202" name="Oval 201"/>
          <p:cNvSpPr/>
          <p:nvPr/>
        </p:nvSpPr>
        <p:spPr>
          <a:xfrm>
            <a:off x="6528816" y="613333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644944" y="6244894"/>
            <a:ext cx="143195" cy="143195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6607820" y="6419910"/>
            <a:ext cx="217444" cy="212140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904817" y="6244894"/>
            <a:ext cx="143195" cy="143195"/>
          </a:xfrm>
          <a:prstGeom prst="ellipse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6867692" y="6419910"/>
            <a:ext cx="217444" cy="212140"/>
          </a:xfrm>
          <a:prstGeom prst="round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223759" y="622935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随机分组</a:t>
            </a:r>
          </a:p>
        </p:txBody>
      </p:sp>
      <p:sp>
        <p:nvSpPr>
          <p:cNvPr id="208" name="Oval 207"/>
          <p:cNvSpPr/>
          <p:nvPr/>
        </p:nvSpPr>
        <p:spPr>
          <a:xfrm>
            <a:off x="9418320" y="383590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 rot="2400000">
            <a:off x="9518538" y="3958071"/>
            <a:ext cx="196230" cy="381853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9534448" y="4053535"/>
            <a:ext cx="201534" cy="14849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 rot="1500000">
            <a:off x="9783714" y="4186123"/>
            <a:ext cx="159105" cy="190926"/>
          </a:xfrm>
          <a:prstGeom prst="ellips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113264" y="3877056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按研究方案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实施治疗</a:t>
            </a:r>
          </a:p>
        </p:txBody>
      </p:sp>
      <p:sp>
        <p:nvSpPr>
          <p:cNvPr id="213" name="Oval 212"/>
          <p:cNvSpPr/>
          <p:nvPr/>
        </p:nvSpPr>
        <p:spPr>
          <a:xfrm>
            <a:off x="9418320" y="485698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9507931" y="4989758"/>
            <a:ext cx="424281" cy="365942"/>
          </a:xfrm>
          <a:prstGeom prst="roundRect">
            <a:avLst/>
          </a:prstGeom>
          <a:noFill/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507931" y="4989758"/>
            <a:ext cx="424281" cy="100766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9598091" y="4920813"/>
            <a:ext cx="0" cy="127284"/>
          </a:xfrm>
          <a:prstGeom prst="line">
            <a:avLst/>
          </a:prstGeom>
          <a:ln w="381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810231" y="4920813"/>
            <a:ext cx="0" cy="127284"/>
          </a:xfrm>
          <a:prstGeom prst="line">
            <a:avLst/>
          </a:prstGeom>
          <a:ln w="381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/>
          <p:cNvSpPr/>
          <p:nvPr/>
        </p:nvSpPr>
        <p:spPr>
          <a:xfrm>
            <a:off x="9587484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587484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709464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09464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831445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31445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113264" y="4953000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按计划开展随访</a:t>
            </a:r>
          </a:p>
        </p:txBody>
      </p:sp>
      <p:sp>
        <p:nvSpPr>
          <p:cNvPr id="225" name="Oval 224"/>
          <p:cNvSpPr/>
          <p:nvPr/>
        </p:nvSpPr>
        <p:spPr>
          <a:xfrm>
            <a:off x="9418320" y="587806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entagon 225"/>
          <p:cNvSpPr/>
          <p:nvPr/>
        </p:nvSpPr>
        <p:spPr>
          <a:xfrm>
            <a:off x="9523841" y="5973714"/>
            <a:ext cx="392460" cy="413674"/>
          </a:xfrm>
          <a:prstGeom prst="homePlat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82947" y="6063874"/>
            <a:ext cx="68945" cy="212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614001" y="6132819"/>
            <a:ext cx="212140" cy="68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113264" y="5919216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记录疗效与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安全性指标</a:t>
            </a:r>
          </a:p>
        </p:txBody>
      </p:sp>
      <p:sp>
        <p:nvSpPr>
          <p:cNvPr id="230" name="Oval 229"/>
          <p:cNvSpPr/>
          <p:nvPr/>
        </p:nvSpPr>
        <p:spPr>
          <a:xfrm>
            <a:off x="12298680" y="3835908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2379119" y="3932245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2379119" y="3905927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2379119" y="3993654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2379119" y="3967336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2379119" y="4055064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2379119" y="4028745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2902184" y="393192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建立临床研究数据库</a:t>
            </a:r>
          </a:p>
        </p:txBody>
      </p:sp>
      <p:sp>
        <p:nvSpPr>
          <p:cNvPr id="238" name="Oval 237"/>
          <p:cNvSpPr/>
          <p:nvPr/>
        </p:nvSpPr>
        <p:spPr>
          <a:xfrm>
            <a:off x="12298680" y="4210812"/>
            <a:ext cx="547908" cy="547908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2399161" y="4516697"/>
            <a:ext cx="77599" cy="136940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2513278" y="4411709"/>
            <a:ext cx="77599" cy="241928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2627395" y="4302156"/>
            <a:ext cx="77599" cy="351480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12367208" y="4662767"/>
            <a:ext cx="406257" cy="0"/>
          </a:xfrm>
          <a:prstGeom prst="line">
            <a:avLst/>
          </a:prstGeom>
          <a:ln w="1270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12902184" y="4251960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按意向性治疗（ITT）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原则进行统计分析</a:t>
            </a:r>
          </a:p>
        </p:txBody>
      </p:sp>
      <p:sp>
        <p:nvSpPr>
          <p:cNvPr id="244" name="Oval 243"/>
          <p:cNvSpPr/>
          <p:nvPr/>
        </p:nvSpPr>
        <p:spPr>
          <a:xfrm>
            <a:off x="12298680" y="4796028"/>
            <a:ext cx="555040" cy="555040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2372344" y="4851212"/>
            <a:ext cx="278160" cy="278160"/>
          </a:xfrm>
          <a:prstGeom prst="ellipse">
            <a:avLst/>
          </a:prstGeom>
          <a:noFill/>
          <a:ln w="254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12613416" y="5106192"/>
            <a:ext cx="157624" cy="157624"/>
          </a:xfrm>
          <a:prstGeom prst="line">
            <a:avLst/>
          </a:prstGeom>
          <a:ln w="3810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12902184" y="48371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52433"/>
                </a:solidFill>
                <a:latin typeface="Noto Sans CJK SC"/>
              </a:defRPr>
            </a:pPr>
            <a:r>
              <a:t>结合基线疼痛程度、疼痛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52433"/>
                </a:solidFill>
                <a:latin typeface="Noto Sans CJK SC"/>
              </a:defRPr>
            </a:pPr>
            <a:r>
              <a:t>类型及病程等因素进行分层分析</a:t>
            </a:r>
          </a:p>
        </p:txBody>
      </p:sp>
      <p:sp>
        <p:nvSpPr>
          <p:cNvPr id="248" name="Oval 247"/>
          <p:cNvSpPr/>
          <p:nvPr/>
        </p:nvSpPr>
        <p:spPr>
          <a:xfrm>
            <a:off x="12298680" y="5390388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2364498" y="5451634"/>
            <a:ext cx="228091" cy="228091"/>
          </a:xfrm>
          <a:prstGeom prst="ellipse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12478544" y="5451634"/>
            <a:ext cx="0" cy="11404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2478544" y="5565680"/>
            <a:ext cx="102349" cy="6140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12902184" y="548640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估计组间疗效差异</a:t>
            </a:r>
          </a:p>
        </p:txBody>
      </p:sp>
      <p:sp>
        <p:nvSpPr>
          <p:cNvPr id="253" name="Oval 252"/>
          <p:cNvSpPr/>
          <p:nvPr/>
        </p:nvSpPr>
        <p:spPr>
          <a:xfrm>
            <a:off x="12298680" y="5765292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12393741" y="5826538"/>
            <a:ext cx="175455" cy="228091"/>
          </a:xfrm>
          <a:prstGeom prst="roundRect">
            <a:avLst/>
          </a:prstGeom>
          <a:noFill/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12422983" y="5902569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2422983" y="5943508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2422983" y="5984448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2902184" y="5861303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形成文献研究资料</a:t>
            </a:r>
          </a:p>
        </p:txBody>
      </p:sp>
      <p:sp>
        <p:nvSpPr>
          <p:cNvPr id="259" name="Oval 258"/>
          <p:cNvSpPr/>
          <p:nvPr/>
        </p:nvSpPr>
        <p:spPr>
          <a:xfrm>
            <a:off x="12298680" y="6140196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12393741" y="6201442"/>
            <a:ext cx="175455" cy="228091"/>
          </a:xfrm>
          <a:prstGeom prst="roundRect">
            <a:avLst/>
          </a:prstGeom>
          <a:noFill/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12422983" y="6277473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2422983" y="6318412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2422983" y="6359352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12902184" y="6236207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形成临床研究报告</a:t>
            </a:r>
          </a:p>
        </p:txBody>
      </p:sp>
      <p:sp>
        <p:nvSpPr>
          <p:cNvPr id="265" name="Oval 264"/>
          <p:cNvSpPr/>
          <p:nvPr/>
        </p:nvSpPr>
        <p:spPr>
          <a:xfrm>
            <a:off x="12298680" y="6515100"/>
            <a:ext cx="390997" cy="390997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Diamond 265"/>
          <p:cNvSpPr/>
          <p:nvPr/>
        </p:nvSpPr>
        <p:spPr>
          <a:xfrm>
            <a:off x="12341247" y="6595033"/>
            <a:ext cx="284579" cy="113831"/>
          </a:xfrm>
          <a:prstGeom prst="diamond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2404154" y="6702873"/>
            <a:ext cx="158765" cy="74889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12604857" y="6654944"/>
            <a:ext cx="0" cy="155770"/>
          </a:xfrm>
          <a:prstGeom prst="line">
            <a:avLst/>
          </a:prstGeom>
          <a:ln w="2286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12902184" y="6611112"/>
            <a:ext cx="21945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形成相关学术论文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1545336" y="7031736"/>
            <a:ext cx="0" cy="192024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545336" y="7223760"/>
            <a:ext cx="5696712" cy="0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3716000" y="7031736"/>
            <a:ext cx="0" cy="192024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8046720" y="7223760"/>
            <a:ext cx="5669280" cy="0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Down Arrow 273"/>
          <p:cNvSpPr/>
          <p:nvPr/>
        </p:nvSpPr>
        <p:spPr>
          <a:xfrm>
            <a:off x="7424927" y="7059168"/>
            <a:ext cx="438912" cy="420624"/>
          </a:xfrm>
          <a:prstGeom prst="down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2103120" y="7534656"/>
            <a:ext cx="11137392" cy="932688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3895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2103120" y="7534656"/>
            <a:ext cx="2971800" cy="9326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370582" y="7728966"/>
            <a:ext cx="534924" cy="53492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444877" y="7803261"/>
            <a:ext cx="386334" cy="38633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519172" y="7877556"/>
            <a:ext cx="237744" cy="23774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Connector 279"/>
          <p:cNvCxnSpPr/>
          <p:nvPr/>
        </p:nvCxnSpPr>
        <p:spPr>
          <a:xfrm flipV="1">
            <a:off x="2638044" y="7728966"/>
            <a:ext cx="261518" cy="26746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3136392" y="76718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研究目标</a:t>
            </a:r>
          </a:p>
          <a:p>
            <a:pPr algn="l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与最终产出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431536" y="7744968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072F69"/>
                </a:solidFill>
                <a:latin typeface="Noto Sans CJK SC"/>
              </a:defRPr>
            </a:pPr>
            <a:r>
              <a:t>阐明正颜舒筋方组方依据，评价其临床疗效，</a:t>
            </a:r>
          </a:p>
          <a:p>
            <a:pPr algn="l">
              <a:spcAft>
                <a:spcPts val="300"/>
              </a:spcAft>
              <a:defRPr sz="2100" b="1">
                <a:solidFill>
                  <a:srgbClr val="072F69"/>
                </a:solidFill>
                <a:latin typeface="Noto Sans CJK SC"/>
              </a:defRPr>
            </a:pPr>
            <a:r>
              <a:t>为后续推广应用与学术研究提供依据。</a:t>
            </a:r>
          </a:p>
        </p:txBody>
      </p:sp>
      <p:pic>
        <p:nvPicPr>
          <p:cNvPr id="283" name="Picture 282" descr="scen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93" y="1997964"/>
            <a:ext cx="2333396" cy="1673352"/>
          </a:xfrm>
          <a:prstGeom prst="rect">
            <a:avLst/>
          </a:prstGeom>
        </p:spPr>
      </p:pic>
      <p:pic>
        <p:nvPicPr>
          <p:cNvPr id="284" name="Picture 283" descr="scen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760" y="1997964"/>
            <a:ext cx="2441926" cy="1673352"/>
          </a:xfrm>
          <a:prstGeom prst="rect">
            <a:avLst/>
          </a:prstGeom>
        </p:spPr>
      </p:pic>
      <p:pic>
        <p:nvPicPr>
          <p:cNvPr id="285" name="Picture 284" descr="scen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257" y="1997964"/>
            <a:ext cx="2366261" cy="1673352"/>
          </a:xfrm>
          <a:prstGeom prst="rect">
            <a:avLst/>
          </a:prstGeom>
        </p:spPr>
      </p:pic>
      <p:pic>
        <p:nvPicPr>
          <p:cNvPr id="286" name="Picture 285" descr="scen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726" y="1997964"/>
            <a:ext cx="2270331" cy="1673352"/>
          </a:xfrm>
          <a:prstGeom prst="rect">
            <a:avLst/>
          </a:prstGeom>
        </p:spPr>
      </p:pic>
      <p:pic>
        <p:nvPicPr>
          <p:cNvPr id="287" name="Picture 286" descr="scen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3815" y="2024339"/>
            <a:ext cx="2834639" cy="1620600"/>
          </a:xfrm>
          <a:prstGeom prst="rect">
            <a:avLst/>
          </a:prstGeom>
        </p:spPr>
      </p:pic>
      <p:sp>
        <p:nvSpPr>
          <p:cNvPr id="288" name="TextBox 287"/>
          <p:cNvSpPr txBox="1"/>
          <p:nvPr/>
        </p:nvSpPr>
        <p:spPr>
          <a:xfrm>
            <a:off x="868680" y="2377440"/>
            <a:ext cx="301752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00" b="1">
                <a:solidFill>
                  <a:srgbClr val="0B4777"/>
                </a:solidFill>
                <a:latin typeface="Noto Sans CJK SC"/>
              </a:defRPr>
            </a:pPr>
            <a:r>
              <a:t>敦煌</a:t>
            </a:r>
            <a:br/>
            <a:r>
              <a:t>医方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602736" y="2359152"/>
            <a:ext cx="548640" cy="1920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00" b="1">
                <a:solidFill>
                  <a:srgbClr val="0B4777"/>
                </a:solidFill>
                <a:latin typeface="Noto Sans CJK SC"/>
              </a:defRPr>
            </a:pPr>
            <a:r>
              <a:t>伦理审查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