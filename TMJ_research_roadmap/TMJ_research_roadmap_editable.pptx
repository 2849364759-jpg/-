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88767" cy="86045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用户提供的技术路线图逐项重绘。标题、5阶段名称、24条工作内容及研究目标按原图转录，未增加治疗分组、样本量、随访时间或统计结论。所有对象均为PowerPoint原生文字和矢量形状；上方插画简化为矢量示意，非原图插画的像素级复刻。4K为另行导出的3840像素宽PNG，PPT本身不受像素分辨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618488" y="164592"/>
            <a:ext cx="12051792" cy="777240"/>
          </a:xfrm>
          <a:prstGeom prst="roundRect">
            <a:avLst/>
          </a:prstGeom>
          <a:solidFill>
            <a:srgbClr val="E9F6FF"/>
          </a:solidFill>
          <a:ln w="12700">
            <a:solidFill>
              <a:srgbClr val="C8E7F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56231" y="310896"/>
            <a:ext cx="11567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700" b="1">
                <a:solidFill>
                  <a:srgbClr val="072F69"/>
                </a:solidFill>
                <a:latin typeface="Noto Sans CJK SC"/>
              </a:defRPr>
            </a:pPr>
            <a:r>
              <a:t>正颜舒筋方治疗疼痛型颞下颌关节紊乱病的临床研究技术路线图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58368" y="548640"/>
            <a:ext cx="1216151" cy="0"/>
          </a:xfrm>
          <a:prstGeom prst="line">
            <a:avLst/>
          </a:prstGeom>
          <a:ln w="254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3432536" y="548640"/>
            <a:ext cx="1225296" cy="0"/>
          </a:xfrm>
          <a:prstGeom prst="line">
            <a:avLst/>
          </a:prstGeom>
          <a:ln w="254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9728" y="1197864"/>
            <a:ext cx="2852928" cy="5815584"/>
          </a:xfrm>
          <a:prstGeom prst="roundRect">
            <a:avLst/>
          </a:prstGeom>
          <a:solidFill>
            <a:srgbClr val="F0F8FE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728" y="1197864"/>
            <a:ext cx="2852928" cy="7040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1168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1371600"/>
            <a:ext cx="2039112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前期准备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1" y="2002536"/>
            <a:ext cx="2651760" cy="1636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948940" y="2660904"/>
            <a:ext cx="320040" cy="292608"/>
          </a:xfrm>
          <a:prstGeom prst="right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 rot="21000000">
            <a:off x="356616" y="2286000"/>
            <a:ext cx="448056" cy="941832"/>
          </a:xfrm>
          <a:prstGeom prst="roundRect">
            <a:avLst/>
          </a:prstGeom>
          <a:solidFill>
            <a:srgbClr val="C5A8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 rot="21000000">
            <a:off x="777240" y="2176272"/>
            <a:ext cx="576072" cy="1097280"/>
          </a:xfrm>
          <a:prstGeom prst="roundRect">
            <a:avLst/>
          </a:prstGeom>
          <a:solidFill>
            <a:srgbClr val="36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13432"/>
            <a:ext cx="32004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敦煌</a:t>
            </a:r>
          </a:p>
          <a:p>
            <a:pPr algn="ctr"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SC"/>
              </a:defRPr>
            </a:pPr>
            <a:r>
              <a:t>医方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5180" y="3061228"/>
            <a:ext cx="477865" cy="79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A78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061228"/>
            <a:ext cx="477865" cy="796442"/>
          </a:xfrm>
          <a:prstGeom prst="rect">
            <a:avLst/>
          </a:prstGeom>
          <a:solidFill>
            <a:srgbClr val="FFFFFF"/>
          </a:solidFill>
          <a:ln w="12700">
            <a:solidFill>
              <a:srgbClr val="A78A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975299" y="3061228"/>
            <a:ext cx="0" cy="857707"/>
          </a:xfrm>
          <a:prstGeom prst="line">
            <a:avLst/>
          </a:prstGeom>
          <a:ln w="22860">
            <a:solidFill>
              <a:srgbClr val="A78A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Arc 18"/>
          <p:cNvSpPr/>
          <p:nvPr/>
        </p:nvSpPr>
        <p:spPr>
          <a:xfrm>
            <a:off x="1910364" y="2632557"/>
            <a:ext cx="760415" cy="724204"/>
          </a:xfrm>
          <a:prstGeom prst="arc">
            <a:avLst/>
          </a:prstGeom>
          <a:noFill/>
          <a:ln w="25400">
            <a:solidFill>
              <a:srgbClr val="6681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946574" y="2976554"/>
            <a:ext cx="687995" cy="0"/>
          </a:xfrm>
          <a:prstGeom prst="line">
            <a:avLst/>
          </a:prstGeom>
          <a:ln w="25400">
            <a:solidFill>
              <a:srgbClr val="668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172888" y="3284341"/>
            <a:ext cx="244419" cy="63367"/>
          </a:xfrm>
          <a:prstGeom prst="rect">
            <a:avLst/>
          </a:prstGeom>
          <a:solidFill>
            <a:srgbClr val="6681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 flipV="1">
            <a:off x="2344887" y="2632557"/>
            <a:ext cx="244419" cy="307787"/>
          </a:xfrm>
          <a:prstGeom prst="line">
            <a:avLst/>
          </a:prstGeom>
          <a:ln w="50800">
            <a:solidFill>
              <a:srgbClr val="6681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191256" y="1197864"/>
            <a:ext cx="2916936" cy="5815584"/>
          </a:xfrm>
          <a:prstGeom prst="roundRect">
            <a:avLst/>
          </a:prstGeom>
          <a:solidFill>
            <a:srgbClr val="EFFBF7"/>
          </a:solidFill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191256" y="1197864"/>
            <a:ext cx="2916936" cy="704088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82696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82696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13632" y="1371600"/>
            <a:ext cx="210312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研究启动与标准化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2002536"/>
            <a:ext cx="2715768" cy="1636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>
            <a:off x="6094476" y="2660904"/>
            <a:ext cx="320040" cy="292608"/>
          </a:xfrm>
          <a:prstGeom prst="rightArrow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531412" y="2259482"/>
            <a:ext cx="608990" cy="791687"/>
          </a:xfrm>
          <a:prstGeom prst="roundRect">
            <a:avLst/>
          </a:prstGeom>
          <a:noFill/>
          <a:ln w="12700">
            <a:solidFill>
              <a:srgbClr val="4069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3632911" y="2523378"/>
            <a:ext cx="395843" cy="0"/>
          </a:xfrm>
          <a:prstGeom prst="line">
            <a:avLst/>
          </a:prstGeom>
          <a:ln w="16510">
            <a:solidFill>
              <a:srgbClr val="40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632911" y="2665476"/>
            <a:ext cx="395843" cy="0"/>
          </a:xfrm>
          <a:prstGeom prst="line">
            <a:avLst/>
          </a:prstGeom>
          <a:ln w="16510">
            <a:solidFill>
              <a:srgbClr val="40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632911" y="2807573"/>
            <a:ext cx="395843" cy="0"/>
          </a:xfrm>
          <a:prstGeom prst="line">
            <a:avLst/>
          </a:prstGeom>
          <a:ln w="16510">
            <a:solidFill>
              <a:srgbClr val="4069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693810" y="2188433"/>
            <a:ext cx="294345" cy="15224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069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47872" y="2505456"/>
            <a:ext cx="6035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100" b="1">
                <a:solidFill>
                  <a:srgbClr val="072F69"/>
                </a:solidFill>
                <a:latin typeface="Noto Sans CJK SC"/>
              </a:defRPr>
            </a:pPr>
            <a:r>
              <a:t>伦理审查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2167128"/>
            <a:ext cx="1353312" cy="932688"/>
          </a:xfrm>
          <a:prstGeom prst="roundRect">
            <a:avLst/>
          </a:prstGeom>
          <a:solidFill>
            <a:srgbClr val="F0F8FE"/>
          </a:solidFill>
          <a:ln w="12700">
            <a:solidFill>
              <a:srgbClr val="8AAE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01184" y="2258568"/>
            <a:ext cx="539496" cy="566928"/>
          </a:xfrm>
          <a:prstGeom prst="ellipse">
            <a:avLst/>
          </a:prstGeom>
          <a:noFill/>
          <a:ln w="19050">
            <a:solidFill>
              <a:srgbClr val="7D9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12664" y="2606040"/>
            <a:ext cx="100584" cy="100584"/>
          </a:xfrm>
          <a:prstGeom prst="ellipse">
            <a:avLst/>
          </a:prstGeom>
          <a:solidFill>
            <a:srgbClr val="FC8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84448" y="3255264"/>
            <a:ext cx="246888" cy="246888"/>
          </a:xfrm>
          <a:prstGeom prst="ellipse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2152" y="3493008"/>
            <a:ext cx="411480" cy="109728"/>
          </a:xfrm>
          <a:prstGeom prst="roundRect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288536" y="3255264"/>
            <a:ext cx="246888" cy="246888"/>
          </a:xfrm>
          <a:prstGeom prst="ellipse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06240" y="3493008"/>
            <a:ext cx="411480" cy="109728"/>
          </a:xfrm>
          <a:prstGeom prst="roundRect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983480" y="3255264"/>
            <a:ext cx="246888" cy="246888"/>
          </a:xfrm>
          <a:prstGeom prst="ellipse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01184" y="3493008"/>
            <a:ext cx="411480" cy="109728"/>
          </a:xfrm>
          <a:prstGeom prst="roundRect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577840" y="3255264"/>
            <a:ext cx="246888" cy="246888"/>
          </a:xfrm>
          <a:prstGeom prst="ellipse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495544" y="3493008"/>
            <a:ext cx="411480" cy="109728"/>
          </a:xfrm>
          <a:prstGeom prst="roundRect">
            <a:avLst/>
          </a:prstGeom>
          <a:solidFill>
            <a:srgbClr val="4777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73368" y="1197864"/>
            <a:ext cx="2606040" cy="5815584"/>
          </a:xfrm>
          <a:prstGeom prst="roundRect">
            <a:avLst/>
          </a:prstGeom>
          <a:solidFill>
            <a:srgbClr val="F0F8FE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373368" y="1197864"/>
            <a:ext cx="2606040" cy="7040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64807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7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95744" y="1371600"/>
            <a:ext cx="179222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患者入组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73952" y="2002536"/>
            <a:ext cx="2404872" cy="1636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8965692" y="2660904"/>
            <a:ext cx="320040" cy="292608"/>
          </a:xfrm>
          <a:prstGeom prst="right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684264" y="2258568"/>
            <a:ext cx="512064" cy="585216"/>
          </a:xfrm>
          <a:prstGeom prst="ellipse">
            <a:avLst/>
          </a:prstGeom>
          <a:solidFill>
            <a:srgbClr val="F5D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rc 54"/>
          <p:cNvSpPr/>
          <p:nvPr/>
        </p:nvSpPr>
        <p:spPr>
          <a:xfrm>
            <a:off x="6647688" y="2221992"/>
            <a:ext cx="594360" cy="539496"/>
          </a:xfrm>
          <a:prstGeom prst="arc">
            <a:avLst/>
          </a:prstGeom>
          <a:noFill/>
          <a:ln w="63500">
            <a:solidFill>
              <a:srgbClr val="31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6547103" y="2907792"/>
            <a:ext cx="813816" cy="594360"/>
          </a:xfrm>
          <a:prstGeom prst="roundRect">
            <a:avLst/>
          </a:prstGeom>
          <a:solidFill>
            <a:srgbClr val="5CA7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918704" y="2258568"/>
            <a:ext cx="512064" cy="585216"/>
          </a:xfrm>
          <a:prstGeom prst="ellipse">
            <a:avLst/>
          </a:prstGeom>
          <a:solidFill>
            <a:srgbClr val="F5D5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rc 57"/>
          <p:cNvSpPr/>
          <p:nvPr/>
        </p:nvSpPr>
        <p:spPr>
          <a:xfrm>
            <a:off x="7882128" y="2221992"/>
            <a:ext cx="594360" cy="539496"/>
          </a:xfrm>
          <a:prstGeom prst="arc">
            <a:avLst/>
          </a:prstGeom>
          <a:noFill/>
          <a:ln w="63500">
            <a:solidFill>
              <a:srgbClr val="314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781544" y="2907792"/>
            <a:ext cx="813816" cy="594360"/>
          </a:xfrm>
          <a:prstGeom prst="roundRect">
            <a:avLst/>
          </a:prstGeom>
          <a:solidFill>
            <a:srgbClr val="67B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638544" y="2569464"/>
            <a:ext cx="566928" cy="182880"/>
          </a:xfrm>
          <a:prstGeom prst="roundRect">
            <a:avLst/>
          </a:prstGeom>
          <a:solidFill>
            <a:srgbClr val="D9EFF9"/>
          </a:solidFill>
          <a:ln w="12700">
            <a:solidFill>
              <a:srgbClr val="70A6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7240219" y="2989173"/>
            <a:ext cx="378561" cy="492130"/>
          </a:xfrm>
          <a:prstGeom prst="roundRect">
            <a:avLst/>
          </a:prstGeom>
          <a:noFill/>
          <a:ln w="12700">
            <a:solidFill>
              <a:srgbClr val="3764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303312" y="3153216"/>
            <a:ext cx="246065" cy="0"/>
          </a:xfrm>
          <a:prstGeom prst="line">
            <a:avLst/>
          </a:prstGeom>
          <a:ln w="16510">
            <a:solidFill>
              <a:srgbClr val="376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7303312" y="3241548"/>
            <a:ext cx="246065" cy="0"/>
          </a:xfrm>
          <a:prstGeom prst="line">
            <a:avLst/>
          </a:prstGeom>
          <a:ln w="16510">
            <a:solidFill>
              <a:srgbClr val="376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03312" y="3329879"/>
            <a:ext cx="246065" cy="0"/>
          </a:xfrm>
          <a:prstGeom prst="line">
            <a:avLst/>
          </a:prstGeom>
          <a:ln w="16510">
            <a:solidFill>
              <a:srgbClr val="3764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7341168" y="2945008"/>
            <a:ext cx="182971" cy="9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764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220456" y="2651760"/>
            <a:ext cx="182880" cy="182880"/>
          </a:xfrm>
          <a:prstGeom prst="ellipse">
            <a:avLst/>
          </a:prstGeom>
          <a:solidFill>
            <a:srgbClr val="F58D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262872" y="1197864"/>
            <a:ext cx="2606040" cy="5815584"/>
          </a:xfrm>
          <a:prstGeom prst="roundRect">
            <a:avLst/>
          </a:prstGeom>
          <a:solidFill>
            <a:srgbClr val="EFFBF7"/>
          </a:solidFill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262872" y="1197864"/>
            <a:ext cx="2606040" cy="704088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354312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54312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85248" y="1371600"/>
            <a:ext cx="1792224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400" b="1">
                <a:solidFill>
                  <a:srgbClr val="FFFFFF"/>
                </a:solidFill>
                <a:latin typeface="Noto Sans CJK SC"/>
              </a:defRPr>
            </a:pPr>
            <a:r>
              <a:t>干预与随访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63456" y="2002536"/>
            <a:ext cx="2404872" cy="1636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ight Arrow 72"/>
          <p:cNvSpPr/>
          <p:nvPr/>
        </p:nvSpPr>
        <p:spPr>
          <a:xfrm>
            <a:off x="11855196" y="2660904"/>
            <a:ext cx="320040" cy="292608"/>
          </a:xfrm>
          <a:prstGeom prst="rightArrow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rc 73"/>
          <p:cNvSpPr/>
          <p:nvPr/>
        </p:nvSpPr>
        <p:spPr>
          <a:xfrm>
            <a:off x="9511223" y="2443276"/>
            <a:ext cx="783457" cy="746150"/>
          </a:xfrm>
          <a:prstGeom prst="arc">
            <a:avLst/>
          </a:prstGeom>
          <a:noFill/>
          <a:ln w="25400">
            <a:solidFill>
              <a:srgbClr val="8A93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9548530" y="2797698"/>
            <a:ext cx="708843" cy="0"/>
          </a:xfrm>
          <a:prstGeom prst="line">
            <a:avLst/>
          </a:prstGeom>
          <a:ln w="25400">
            <a:solidFill>
              <a:srgbClr val="8A93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9781702" y="3114812"/>
            <a:ext cx="251825" cy="65288"/>
          </a:xfrm>
          <a:prstGeom prst="rect">
            <a:avLst/>
          </a:prstGeom>
          <a:solidFill>
            <a:srgbClr val="8A93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7" name="Connector 76"/>
          <p:cNvCxnSpPr/>
          <p:nvPr/>
        </p:nvCxnSpPr>
        <p:spPr>
          <a:xfrm flipV="1">
            <a:off x="9958913" y="2443276"/>
            <a:ext cx="251826" cy="317114"/>
          </a:xfrm>
          <a:prstGeom prst="line">
            <a:avLst/>
          </a:prstGeom>
          <a:ln w="50800">
            <a:solidFill>
              <a:srgbClr val="8A936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440162" y="2276856"/>
            <a:ext cx="164592" cy="486918"/>
          </a:xfrm>
          <a:prstGeom prst="line">
            <a:avLst/>
          </a:prstGeom>
          <a:ln w="25400">
            <a:solidFill>
              <a:srgbClr val="667D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549890" y="2345436"/>
            <a:ext cx="109728" cy="89154"/>
          </a:xfrm>
          <a:prstGeom prst="line">
            <a:avLst/>
          </a:prstGeom>
          <a:ln w="25400">
            <a:solidFill>
              <a:srgbClr val="667D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666476" y="2276856"/>
            <a:ext cx="164592" cy="486918"/>
          </a:xfrm>
          <a:prstGeom prst="line">
            <a:avLst/>
          </a:prstGeom>
          <a:ln w="25400">
            <a:solidFill>
              <a:srgbClr val="667D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776204" y="2345436"/>
            <a:ext cx="109728" cy="89154"/>
          </a:xfrm>
          <a:prstGeom prst="line">
            <a:avLst/>
          </a:prstGeom>
          <a:ln w="25400">
            <a:solidFill>
              <a:srgbClr val="667D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11068812" y="2626614"/>
            <a:ext cx="548640" cy="473201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68812" y="2626614"/>
            <a:ext cx="548640" cy="130302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11185398" y="2537460"/>
            <a:ext cx="0" cy="164592"/>
          </a:xfrm>
          <a:prstGeom prst="line">
            <a:avLst/>
          </a:prstGeom>
          <a:ln w="381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1459718" y="2537460"/>
            <a:ext cx="0" cy="164592"/>
          </a:xfrm>
          <a:prstGeom prst="line">
            <a:avLst/>
          </a:prstGeom>
          <a:ln w="381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11171682" y="2846070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171682" y="2990088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329416" y="2846070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329416" y="2990088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487150" y="2846070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487150" y="2990088"/>
            <a:ext cx="82296" cy="7543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518904" y="3282696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079E98"/>
                </a:solidFill>
                <a:latin typeface="Noto Sans CJK SC"/>
              </a:defRPr>
            </a:pPr>
            <a:r>
              <a:t>方药  ·  手法  ·  针灸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2143232" y="1197864"/>
            <a:ext cx="3035808" cy="5815584"/>
          </a:xfrm>
          <a:prstGeom prst="roundRect">
            <a:avLst/>
          </a:prstGeom>
          <a:solidFill>
            <a:srgbClr val="FFF6EF"/>
          </a:solidFill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2143232" y="1197864"/>
            <a:ext cx="3035808" cy="704088"/>
          </a:xfrm>
          <a:prstGeom prst="round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2234672" y="1280160"/>
            <a:ext cx="512064" cy="512064"/>
          </a:xfrm>
          <a:prstGeom prst="ellipse">
            <a:avLst/>
          </a:prstGeom>
          <a:noFill/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2234672" y="1316736"/>
            <a:ext cx="512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2600" b="0">
                <a:solidFill>
                  <a:srgbClr val="FFFFFF"/>
                </a:solidFill>
                <a:latin typeface="Noto Sans CJK SC"/>
              </a:defRPr>
            </a:pPr>
            <a:r>
              <a:t>5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865608" y="1371600"/>
            <a:ext cx="2221991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 CJK SC"/>
              </a:defRPr>
            </a:pPr>
            <a:r>
              <a:t>数据分析与成果形成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2243815" y="2002536"/>
            <a:ext cx="2834639" cy="1636776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2363602" y="2593969"/>
            <a:ext cx="601675" cy="171907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2363602" y="2516611"/>
            <a:ext cx="601675" cy="171907"/>
          </a:xfrm>
          <a:prstGeom prst="ellipse">
            <a:avLst/>
          </a:prstGeom>
          <a:solidFill>
            <a:srgbClr val="087B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2363602" y="2774472"/>
            <a:ext cx="601675" cy="171907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2363602" y="2697114"/>
            <a:ext cx="601675" cy="171907"/>
          </a:xfrm>
          <a:prstGeom prst="ellipse">
            <a:avLst/>
          </a:prstGeom>
          <a:solidFill>
            <a:srgbClr val="087B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2363602" y="2954975"/>
            <a:ext cx="601675" cy="171907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363602" y="2877616"/>
            <a:ext cx="601675" cy="171907"/>
          </a:xfrm>
          <a:prstGeom prst="ellipse">
            <a:avLst/>
          </a:prstGeom>
          <a:solidFill>
            <a:srgbClr val="087BC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3094208" y="2176272"/>
            <a:ext cx="1408176" cy="1005840"/>
          </a:xfrm>
          <a:prstGeom prst="roundRect">
            <a:avLst/>
          </a:prstGeom>
          <a:solidFill>
            <a:srgbClr val="E6F3FC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3399617" y="2898648"/>
            <a:ext cx="170992" cy="301752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3651077" y="2667304"/>
            <a:ext cx="170992" cy="533095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3902537" y="2425903"/>
            <a:ext cx="170992" cy="774496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13329208" y="3220516"/>
            <a:ext cx="895198" cy="0"/>
          </a:xfrm>
          <a:prstGeom prst="line">
            <a:avLst/>
          </a:prstGeom>
          <a:ln w="127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13670280" y="3191256"/>
            <a:ext cx="164592" cy="15544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350240" y="3346704"/>
            <a:ext cx="795528" cy="64008"/>
          </a:xfrm>
          <a:prstGeom prst="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Diamond 111"/>
          <p:cNvSpPr/>
          <p:nvPr/>
        </p:nvSpPr>
        <p:spPr>
          <a:xfrm>
            <a:off x="14332854" y="3014593"/>
            <a:ext cx="634136" cy="253654"/>
          </a:xfrm>
          <a:prstGeom prst="diamond">
            <a:avLst/>
          </a:prstGeom>
          <a:solidFill>
            <a:srgbClr val="072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4473031" y="3254898"/>
            <a:ext cx="353781" cy="166878"/>
          </a:xfrm>
          <a:prstGeom prst="rect">
            <a:avLst/>
          </a:prstGeom>
          <a:solidFill>
            <a:srgbClr val="072F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4" name="Connector 113"/>
          <p:cNvCxnSpPr/>
          <p:nvPr/>
        </p:nvCxnSpPr>
        <p:spPr>
          <a:xfrm>
            <a:off x="14920264" y="3148096"/>
            <a:ext cx="0" cy="347106"/>
          </a:xfrm>
          <a:prstGeom prst="line">
            <a:avLst/>
          </a:prstGeom>
          <a:ln w="22860">
            <a:solidFill>
              <a:srgbClr val="072F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Oval 114"/>
          <p:cNvSpPr/>
          <p:nvPr/>
        </p:nvSpPr>
        <p:spPr>
          <a:xfrm>
            <a:off x="265176" y="383590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49483" y="3958071"/>
            <a:ext cx="206837" cy="344728"/>
          </a:xfrm>
          <a:prstGeom prst="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66927" y="3958071"/>
            <a:ext cx="206837" cy="344728"/>
          </a:xfrm>
          <a:prstGeom prst="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561624" y="3958071"/>
            <a:ext cx="0" cy="371247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960120" y="393192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敦煌医方文献核对</a:t>
            </a:r>
          </a:p>
        </p:txBody>
      </p:sp>
      <p:sp>
        <p:nvSpPr>
          <p:cNvPr id="120" name="Oval 119"/>
          <p:cNvSpPr/>
          <p:nvPr/>
        </p:nvSpPr>
        <p:spPr>
          <a:xfrm>
            <a:off x="265176" y="460171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 flipV="1">
            <a:off x="566927" y="4713274"/>
            <a:ext cx="0" cy="148499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381304" y="4861773"/>
            <a:ext cx="185623" cy="185623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566927" y="4861773"/>
            <a:ext cx="185624" cy="185623"/>
          </a:xfrm>
          <a:prstGeom prst="line">
            <a:avLst/>
          </a:prstGeom>
          <a:ln w="2286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508589" y="4654936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322966" y="4989057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694212" y="4989057"/>
            <a:ext cx="116677" cy="11667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60120" y="469773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配伍分析</a:t>
            </a:r>
          </a:p>
        </p:txBody>
      </p:sp>
      <p:sp>
        <p:nvSpPr>
          <p:cNvPr id="128" name="Oval 127"/>
          <p:cNvSpPr/>
          <p:nvPr/>
        </p:nvSpPr>
        <p:spPr>
          <a:xfrm>
            <a:off x="265176" y="536752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07822" y="545256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460857" y="559045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60857" y="566470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460857" y="573895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/>
          <p:cNvSpPr txBox="1"/>
          <p:nvPr/>
        </p:nvSpPr>
        <p:spPr>
          <a:xfrm>
            <a:off x="960120" y="5408676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形成正颜舒筋方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组方依据</a:t>
            </a:r>
          </a:p>
        </p:txBody>
      </p:sp>
      <p:sp>
        <p:nvSpPr>
          <p:cNvPr id="134" name="Oval 133"/>
          <p:cNvSpPr/>
          <p:nvPr/>
        </p:nvSpPr>
        <p:spPr>
          <a:xfrm>
            <a:off x="265176" y="613333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407822" y="621837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>
            <a:off x="460857" y="635626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60857" y="643051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460857" y="650476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492678" y="6181252"/>
            <a:ext cx="153802" cy="79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60120" y="6229350"/>
            <a:ext cx="1901952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完善临床研究方案</a:t>
            </a:r>
          </a:p>
        </p:txBody>
      </p:sp>
      <p:sp>
        <p:nvSpPr>
          <p:cNvPr id="141" name="Oval 140"/>
          <p:cNvSpPr/>
          <p:nvPr/>
        </p:nvSpPr>
        <p:spPr>
          <a:xfrm>
            <a:off x="3346704" y="383590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Pentagon 141"/>
          <p:cNvSpPr/>
          <p:nvPr/>
        </p:nvSpPr>
        <p:spPr>
          <a:xfrm>
            <a:off x="3435048" y="3915698"/>
            <a:ext cx="294683" cy="310612"/>
          </a:xfrm>
          <a:prstGeom prst="homePlat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3" name="Connector 142"/>
          <p:cNvCxnSpPr/>
          <p:nvPr/>
        </p:nvCxnSpPr>
        <p:spPr>
          <a:xfrm>
            <a:off x="3498764" y="4055075"/>
            <a:ext cx="63715" cy="59734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562479" y="3987378"/>
            <a:ext cx="111502" cy="127431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4041648" y="393192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完成伦理审查</a:t>
            </a:r>
          </a:p>
        </p:txBody>
      </p:sp>
      <p:sp>
        <p:nvSpPr>
          <p:cNvPr id="146" name="Oval 145"/>
          <p:cNvSpPr/>
          <p:nvPr/>
        </p:nvSpPr>
        <p:spPr>
          <a:xfrm>
            <a:off x="3346704" y="434644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3462924" y="4418274"/>
            <a:ext cx="238932" cy="310612"/>
          </a:xfrm>
          <a:prstGeom prst="roundRect">
            <a:avLst/>
          </a:prstGeom>
          <a:noFill/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>
            <a:off x="3502746" y="4521811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502746" y="4577562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02746" y="4633313"/>
            <a:ext cx="155306" cy="0"/>
          </a:xfrm>
          <a:prstGeom prst="line">
            <a:avLst/>
          </a:prstGeom>
          <a:ln w="1651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/>
          <p:cNvSpPr txBox="1"/>
          <p:nvPr/>
        </p:nvSpPr>
        <p:spPr>
          <a:xfrm>
            <a:off x="4041648" y="444246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完成登记注册</a:t>
            </a:r>
          </a:p>
        </p:txBody>
      </p:sp>
      <p:sp>
        <p:nvSpPr>
          <p:cNvPr id="152" name="Oval 151"/>
          <p:cNvSpPr/>
          <p:nvPr/>
        </p:nvSpPr>
        <p:spPr>
          <a:xfrm>
            <a:off x="3346704" y="485698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431066" y="4936778"/>
            <a:ext cx="302648" cy="302648"/>
          </a:xfrm>
          <a:prstGeom prst="ellips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522657" y="5028369"/>
            <a:ext cx="119466" cy="1194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3554515" y="4896956"/>
            <a:ext cx="55750" cy="8760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041648" y="495300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统一诊断标准</a:t>
            </a:r>
          </a:p>
        </p:txBody>
      </p:sp>
      <p:sp>
        <p:nvSpPr>
          <p:cNvPr id="164" name="Oval 163"/>
          <p:cNvSpPr/>
          <p:nvPr/>
        </p:nvSpPr>
        <p:spPr>
          <a:xfrm>
            <a:off x="3346704" y="536752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 flipV="1">
            <a:off x="3482835" y="5463247"/>
            <a:ext cx="95573" cy="282737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3546550" y="5503069"/>
            <a:ext cx="63716" cy="51769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3614248" y="5463247"/>
            <a:ext cx="95573" cy="282737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3677963" y="5503069"/>
            <a:ext cx="63716" cy="51769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4041648" y="5408676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统一手法与针灸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操作流程</a:t>
            </a:r>
          </a:p>
        </p:txBody>
      </p:sp>
      <p:sp>
        <p:nvSpPr>
          <p:cNvPr id="170" name="Oval 169"/>
          <p:cNvSpPr/>
          <p:nvPr/>
        </p:nvSpPr>
        <p:spPr>
          <a:xfrm>
            <a:off x="3346704" y="587806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Arc 170"/>
          <p:cNvSpPr/>
          <p:nvPr/>
        </p:nvSpPr>
        <p:spPr>
          <a:xfrm>
            <a:off x="3415137" y="5949894"/>
            <a:ext cx="334505" cy="318576"/>
          </a:xfrm>
          <a:prstGeom prst="arc">
            <a:avLst/>
          </a:prstGeom>
          <a:noFill/>
          <a:ln w="254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3431066" y="6101218"/>
            <a:ext cx="302648" cy="0"/>
          </a:xfrm>
          <a:prstGeom prst="line">
            <a:avLst/>
          </a:prstGeom>
          <a:ln w="254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/>
          <p:cNvSpPr/>
          <p:nvPr/>
        </p:nvSpPr>
        <p:spPr>
          <a:xfrm>
            <a:off x="3530621" y="6236613"/>
            <a:ext cx="107519" cy="27875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4" name="Connector 173"/>
          <p:cNvCxnSpPr/>
          <p:nvPr/>
        </p:nvCxnSpPr>
        <p:spPr>
          <a:xfrm flipV="1">
            <a:off x="3606283" y="5949894"/>
            <a:ext cx="107520" cy="135395"/>
          </a:xfrm>
          <a:prstGeom prst="line">
            <a:avLst/>
          </a:prstGeom>
          <a:ln w="508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4041648" y="597408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统一供药代煎流程</a:t>
            </a:r>
          </a:p>
        </p:txBody>
      </p:sp>
      <p:sp>
        <p:nvSpPr>
          <p:cNvPr id="176" name="Oval 175"/>
          <p:cNvSpPr/>
          <p:nvPr/>
        </p:nvSpPr>
        <p:spPr>
          <a:xfrm>
            <a:off x="3346704" y="6388608"/>
            <a:ext cx="489661" cy="489661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439030" y="6659544"/>
            <a:ext cx="67697" cy="119466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538586" y="6567953"/>
            <a:ext cx="67697" cy="211057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638141" y="6472380"/>
            <a:ext cx="67697" cy="306630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3411155" y="6786975"/>
            <a:ext cx="354417" cy="0"/>
          </a:xfrm>
          <a:prstGeom prst="line">
            <a:avLst/>
          </a:prstGeom>
          <a:ln w="127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4041648" y="6484620"/>
            <a:ext cx="1965960" cy="4831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统一结局测量流程</a:t>
            </a:r>
          </a:p>
        </p:txBody>
      </p:sp>
      <p:sp>
        <p:nvSpPr>
          <p:cNvPr id="182" name="Oval 181"/>
          <p:cNvSpPr/>
          <p:nvPr/>
        </p:nvSpPr>
        <p:spPr>
          <a:xfrm>
            <a:off x="6528816" y="383590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6660855" y="4021714"/>
            <a:ext cx="164409" cy="164409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6639641" y="4202033"/>
            <a:ext cx="206837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6883603" y="4021714"/>
            <a:ext cx="164409" cy="164409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ounded Rectangle 185"/>
          <p:cNvSpPr/>
          <p:nvPr/>
        </p:nvSpPr>
        <p:spPr>
          <a:xfrm>
            <a:off x="6862389" y="4202033"/>
            <a:ext cx="206837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772229" y="3936857"/>
            <a:ext cx="196230" cy="196230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6751015" y="4148998"/>
            <a:ext cx="238658" cy="180319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223759" y="3877056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门诊连续筛选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符合条件患者</a:t>
            </a:r>
          </a:p>
        </p:txBody>
      </p:sp>
      <p:sp>
        <p:nvSpPr>
          <p:cNvPr id="190" name="Oval 189"/>
          <p:cNvSpPr/>
          <p:nvPr/>
        </p:nvSpPr>
        <p:spPr>
          <a:xfrm>
            <a:off x="6528816" y="460171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671462" y="4686757"/>
            <a:ext cx="318211" cy="413674"/>
          </a:xfrm>
          <a:prstGeom prst="roundRect">
            <a:avLst/>
          </a:prstGeom>
          <a:noFill/>
          <a:ln w="12700">
            <a:solidFill>
              <a:srgbClr val="087B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724497" y="482464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724497" y="4898898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724497" y="4973147"/>
            <a:ext cx="206837" cy="0"/>
          </a:xfrm>
          <a:prstGeom prst="line">
            <a:avLst/>
          </a:prstGeom>
          <a:ln w="1651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6857085" y="4861773"/>
            <a:ext cx="190927" cy="185623"/>
          </a:xfrm>
          <a:prstGeom prst="line">
            <a:avLst/>
          </a:prstGeom>
          <a:ln w="38100">
            <a:solidFill>
              <a:srgbClr val="087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TextBox 195"/>
          <p:cNvSpPr txBox="1"/>
          <p:nvPr/>
        </p:nvSpPr>
        <p:spPr>
          <a:xfrm>
            <a:off x="7223759" y="469773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签署知情同意书</a:t>
            </a:r>
          </a:p>
        </p:txBody>
      </p:sp>
      <p:sp>
        <p:nvSpPr>
          <p:cNvPr id="197" name="Oval 196"/>
          <p:cNvSpPr/>
          <p:nvPr/>
        </p:nvSpPr>
        <p:spPr>
          <a:xfrm>
            <a:off x="6528816" y="536752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Pentagon 197"/>
          <p:cNvSpPr/>
          <p:nvPr/>
        </p:nvSpPr>
        <p:spPr>
          <a:xfrm>
            <a:off x="6634337" y="5463174"/>
            <a:ext cx="392460" cy="413674"/>
          </a:xfrm>
          <a:prstGeom prst="homePlat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793443" y="5553334"/>
            <a:ext cx="68945" cy="212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724497" y="5622279"/>
            <a:ext cx="212140" cy="68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7223759" y="546354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基线评价</a:t>
            </a:r>
          </a:p>
        </p:txBody>
      </p:sp>
      <p:sp>
        <p:nvSpPr>
          <p:cNvPr id="202" name="Oval 201"/>
          <p:cNvSpPr/>
          <p:nvPr/>
        </p:nvSpPr>
        <p:spPr>
          <a:xfrm>
            <a:off x="6528816" y="6133338"/>
            <a:ext cx="621792" cy="621792"/>
          </a:xfrm>
          <a:prstGeom prst="ellipse">
            <a:avLst/>
          </a:prstGeom>
          <a:solidFill>
            <a:srgbClr val="E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644944" y="6244894"/>
            <a:ext cx="143195" cy="143195"/>
          </a:xfrm>
          <a:prstGeom prst="ellipse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6607820" y="6419910"/>
            <a:ext cx="217444" cy="212140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6904817" y="6244894"/>
            <a:ext cx="143195" cy="143195"/>
          </a:xfrm>
          <a:prstGeom prst="ellipse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6867692" y="6419910"/>
            <a:ext cx="217444" cy="212140"/>
          </a:xfrm>
          <a:prstGeom prst="round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223759" y="6229350"/>
            <a:ext cx="1655064" cy="7383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随机分组</a:t>
            </a:r>
          </a:p>
        </p:txBody>
      </p:sp>
      <p:sp>
        <p:nvSpPr>
          <p:cNvPr id="208" name="Oval 207"/>
          <p:cNvSpPr/>
          <p:nvPr/>
        </p:nvSpPr>
        <p:spPr>
          <a:xfrm>
            <a:off x="9418320" y="383590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ounded Rectangle 208"/>
          <p:cNvSpPr/>
          <p:nvPr/>
        </p:nvSpPr>
        <p:spPr>
          <a:xfrm rot="2400000">
            <a:off x="9518538" y="3958071"/>
            <a:ext cx="196230" cy="381853"/>
          </a:xfrm>
          <a:prstGeom prst="round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0" name="Connector 209"/>
          <p:cNvCxnSpPr/>
          <p:nvPr/>
        </p:nvCxnSpPr>
        <p:spPr>
          <a:xfrm>
            <a:off x="9534448" y="4053535"/>
            <a:ext cx="201534" cy="148498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Oval 210"/>
          <p:cNvSpPr/>
          <p:nvPr/>
        </p:nvSpPr>
        <p:spPr>
          <a:xfrm rot="1500000">
            <a:off x="9783714" y="4186123"/>
            <a:ext cx="159105" cy="190926"/>
          </a:xfrm>
          <a:prstGeom prst="ellips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10113264" y="3877056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按研究方案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实施治疗</a:t>
            </a:r>
          </a:p>
        </p:txBody>
      </p:sp>
      <p:sp>
        <p:nvSpPr>
          <p:cNvPr id="213" name="Oval 212"/>
          <p:cNvSpPr/>
          <p:nvPr/>
        </p:nvSpPr>
        <p:spPr>
          <a:xfrm>
            <a:off x="9418320" y="485698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ounded Rectangle 213"/>
          <p:cNvSpPr/>
          <p:nvPr/>
        </p:nvSpPr>
        <p:spPr>
          <a:xfrm>
            <a:off x="9507931" y="4989758"/>
            <a:ext cx="424281" cy="365942"/>
          </a:xfrm>
          <a:prstGeom prst="roundRect">
            <a:avLst/>
          </a:prstGeom>
          <a:noFill/>
          <a:ln w="12700">
            <a:solidFill>
              <a:srgbClr val="079E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9507931" y="4989758"/>
            <a:ext cx="424281" cy="100766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>
            <a:off x="9598091" y="4920813"/>
            <a:ext cx="0" cy="127284"/>
          </a:xfrm>
          <a:prstGeom prst="line">
            <a:avLst/>
          </a:prstGeom>
          <a:ln w="381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810231" y="4920813"/>
            <a:ext cx="0" cy="127284"/>
          </a:xfrm>
          <a:prstGeom prst="line">
            <a:avLst/>
          </a:prstGeom>
          <a:ln w="38100">
            <a:solidFill>
              <a:srgbClr val="079E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Rectangle 217"/>
          <p:cNvSpPr/>
          <p:nvPr/>
        </p:nvSpPr>
        <p:spPr>
          <a:xfrm>
            <a:off x="9587484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9587484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9709464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9709464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9831445" y="5159471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9831445" y="5270845"/>
            <a:ext cx="63642" cy="58338"/>
          </a:xfrm>
          <a:prstGeom prst="rect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10113264" y="4953000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按计划开展随访</a:t>
            </a:r>
          </a:p>
        </p:txBody>
      </p:sp>
      <p:sp>
        <p:nvSpPr>
          <p:cNvPr id="225" name="Oval 224"/>
          <p:cNvSpPr/>
          <p:nvPr/>
        </p:nvSpPr>
        <p:spPr>
          <a:xfrm>
            <a:off x="9418320" y="5878068"/>
            <a:ext cx="621792" cy="621792"/>
          </a:xfrm>
          <a:prstGeom prst="ellipse">
            <a:avLst/>
          </a:prstGeom>
          <a:solidFill>
            <a:srgbClr val="E0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Pentagon 225"/>
          <p:cNvSpPr/>
          <p:nvPr/>
        </p:nvSpPr>
        <p:spPr>
          <a:xfrm>
            <a:off x="9523841" y="5973714"/>
            <a:ext cx="392460" cy="413674"/>
          </a:xfrm>
          <a:prstGeom prst="homePlate">
            <a:avLst/>
          </a:prstGeom>
          <a:solidFill>
            <a:srgbClr val="079E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682947" y="6063874"/>
            <a:ext cx="68945" cy="2121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614001" y="6132819"/>
            <a:ext cx="212140" cy="689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113264" y="5919216"/>
            <a:ext cx="1655064" cy="993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记录疗效与</a:t>
            </a:r>
          </a:p>
          <a:p>
            <a:pPr algn="l">
              <a:spcAft>
                <a:spcPts val="300"/>
              </a:spcAft>
              <a:defRPr sz="1620" b="0">
                <a:solidFill>
                  <a:srgbClr val="152433"/>
                </a:solidFill>
                <a:latin typeface="Noto Sans CJK SC"/>
              </a:defRPr>
            </a:pPr>
            <a:r>
              <a:t>安全性指标</a:t>
            </a:r>
          </a:p>
        </p:txBody>
      </p:sp>
      <p:sp>
        <p:nvSpPr>
          <p:cNvPr id="230" name="Oval 229"/>
          <p:cNvSpPr/>
          <p:nvPr/>
        </p:nvSpPr>
        <p:spPr>
          <a:xfrm>
            <a:off x="12298680" y="3835908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2379119" y="3932245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2379119" y="3905927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2379119" y="3993654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2379119" y="3967336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2379119" y="4055064"/>
            <a:ext cx="204697" cy="58485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2379119" y="4028745"/>
            <a:ext cx="204697" cy="58485"/>
          </a:xfrm>
          <a:prstGeom prst="ellipse">
            <a:avLst/>
          </a:prstGeom>
          <a:solidFill>
            <a:srgbClr val="FC7C2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12902184" y="393192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建立临床研究数据库</a:t>
            </a:r>
          </a:p>
        </p:txBody>
      </p:sp>
      <p:sp>
        <p:nvSpPr>
          <p:cNvPr id="238" name="Oval 237"/>
          <p:cNvSpPr/>
          <p:nvPr/>
        </p:nvSpPr>
        <p:spPr>
          <a:xfrm>
            <a:off x="12298680" y="4210812"/>
            <a:ext cx="547908" cy="547908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2399161" y="4516697"/>
            <a:ext cx="77599" cy="136940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2513278" y="4411709"/>
            <a:ext cx="77599" cy="241928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2627395" y="4302156"/>
            <a:ext cx="77599" cy="351480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12367208" y="4662767"/>
            <a:ext cx="406257" cy="0"/>
          </a:xfrm>
          <a:prstGeom prst="line">
            <a:avLst/>
          </a:prstGeom>
          <a:ln w="1270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/>
          <p:cNvSpPr txBox="1"/>
          <p:nvPr/>
        </p:nvSpPr>
        <p:spPr>
          <a:xfrm>
            <a:off x="12902184" y="4251960"/>
            <a:ext cx="219456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按意向性治疗（ITT）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原则进行统计分析</a:t>
            </a:r>
          </a:p>
        </p:txBody>
      </p:sp>
      <p:sp>
        <p:nvSpPr>
          <p:cNvPr id="244" name="Oval 243"/>
          <p:cNvSpPr/>
          <p:nvPr/>
        </p:nvSpPr>
        <p:spPr>
          <a:xfrm>
            <a:off x="12298680" y="4796028"/>
            <a:ext cx="555040" cy="555040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2372344" y="4851212"/>
            <a:ext cx="278160" cy="278160"/>
          </a:xfrm>
          <a:prstGeom prst="ellipse">
            <a:avLst/>
          </a:prstGeom>
          <a:noFill/>
          <a:ln w="254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12613416" y="5106192"/>
            <a:ext cx="157624" cy="157624"/>
          </a:xfrm>
          <a:prstGeom prst="line">
            <a:avLst/>
          </a:prstGeom>
          <a:ln w="3810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12902184" y="48371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152433"/>
                </a:solidFill>
                <a:latin typeface="Noto Sans CJK SC"/>
              </a:defRPr>
            </a:pPr>
            <a:r>
              <a:t>结合基线疼痛程度、疼痛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52433"/>
                </a:solidFill>
                <a:latin typeface="Noto Sans CJK SC"/>
              </a:defRPr>
            </a:pPr>
            <a:r>
              <a:t>类型及病程等因素进行分层分析</a:t>
            </a:r>
          </a:p>
        </p:txBody>
      </p:sp>
      <p:sp>
        <p:nvSpPr>
          <p:cNvPr id="248" name="Oval 247"/>
          <p:cNvSpPr/>
          <p:nvPr/>
        </p:nvSpPr>
        <p:spPr>
          <a:xfrm>
            <a:off x="12298680" y="5390388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2364498" y="5451634"/>
            <a:ext cx="228091" cy="228091"/>
          </a:xfrm>
          <a:prstGeom prst="ellipse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12478544" y="5451634"/>
            <a:ext cx="0" cy="114046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2478544" y="5565680"/>
            <a:ext cx="102349" cy="61409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12902184" y="5486400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估计组间疗效差异</a:t>
            </a:r>
          </a:p>
        </p:txBody>
      </p:sp>
      <p:sp>
        <p:nvSpPr>
          <p:cNvPr id="253" name="Oval 252"/>
          <p:cNvSpPr/>
          <p:nvPr/>
        </p:nvSpPr>
        <p:spPr>
          <a:xfrm>
            <a:off x="12298680" y="5765292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ounded Rectangle 253"/>
          <p:cNvSpPr/>
          <p:nvPr/>
        </p:nvSpPr>
        <p:spPr>
          <a:xfrm>
            <a:off x="12393741" y="5826538"/>
            <a:ext cx="175455" cy="228091"/>
          </a:xfrm>
          <a:prstGeom prst="roundRect">
            <a:avLst/>
          </a:prstGeom>
          <a:noFill/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Connector 254"/>
          <p:cNvCxnSpPr/>
          <p:nvPr/>
        </p:nvCxnSpPr>
        <p:spPr>
          <a:xfrm>
            <a:off x="12422983" y="5902569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2422983" y="5943508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2422983" y="5984448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12902184" y="5861303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形成文献研究资料</a:t>
            </a:r>
          </a:p>
        </p:txBody>
      </p:sp>
      <p:sp>
        <p:nvSpPr>
          <p:cNvPr id="259" name="Oval 258"/>
          <p:cNvSpPr/>
          <p:nvPr/>
        </p:nvSpPr>
        <p:spPr>
          <a:xfrm>
            <a:off x="12298680" y="6140196"/>
            <a:ext cx="383865" cy="383865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ounded Rectangle 259"/>
          <p:cNvSpPr/>
          <p:nvPr/>
        </p:nvSpPr>
        <p:spPr>
          <a:xfrm>
            <a:off x="12393741" y="6201442"/>
            <a:ext cx="175455" cy="228091"/>
          </a:xfrm>
          <a:prstGeom prst="roundRect">
            <a:avLst/>
          </a:prstGeom>
          <a:noFill/>
          <a:ln w="12700">
            <a:solidFill>
              <a:srgbClr val="FC7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12422983" y="6277473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2422983" y="6318412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2422983" y="6359352"/>
            <a:ext cx="114046" cy="0"/>
          </a:xfrm>
          <a:prstGeom prst="line">
            <a:avLst/>
          </a:prstGeom>
          <a:ln w="1651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12902184" y="6236207"/>
            <a:ext cx="21945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形成临床研究报告</a:t>
            </a:r>
          </a:p>
        </p:txBody>
      </p:sp>
      <p:sp>
        <p:nvSpPr>
          <p:cNvPr id="265" name="Oval 264"/>
          <p:cNvSpPr/>
          <p:nvPr/>
        </p:nvSpPr>
        <p:spPr>
          <a:xfrm>
            <a:off x="12298680" y="6515100"/>
            <a:ext cx="390997" cy="390997"/>
          </a:xfrm>
          <a:prstGeom prst="ellipse">
            <a:avLst/>
          </a:prstGeom>
          <a:solidFill>
            <a:srgbClr val="FFF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Diamond 265"/>
          <p:cNvSpPr/>
          <p:nvPr/>
        </p:nvSpPr>
        <p:spPr>
          <a:xfrm>
            <a:off x="12341247" y="6595033"/>
            <a:ext cx="284579" cy="113831"/>
          </a:xfrm>
          <a:prstGeom prst="diamond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2404154" y="6702873"/>
            <a:ext cx="158765" cy="74889"/>
          </a:xfrm>
          <a:prstGeom prst="rect">
            <a:avLst/>
          </a:prstGeom>
          <a:solidFill>
            <a:srgbClr val="FC7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12604857" y="6654944"/>
            <a:ext cx="0" cy="155770"/>
          </a:xfrm>
          <a:prstGeom prst="line">
            <a:avLst/>
          </a:prstGeom>
          <a:ln w="22860">
            <a:solidFill>
              <a:srgbClr val="FC7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12902184" y="6611112"/>
            <a:ext cx="2194560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1400" b="0">
                <a:solidFill>
                  <a:srgbClr val="152433"/>
                </a:solidFill>
                <a:latin typeface="Noto Sans CJK SC"/>
              </a:defRPr>
            </a:pPr>
            <a:r>
              <a:t>形成相关学术论文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1545336" y="7031736"/>
            <a:ext cx="0" cy="192024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545336" y="7223760"/>
            <a:ext cx="5696712" cy="0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3716000" y="7031736"/>
            <a:ext cx="0" cy="192024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8046720" y="7223760"/>
            <a:ext cx="5669280" cy="0"/>
          </a:xfrm>
          <a:prstGeom prst="line">
            <a:avLst/>
          </a:prstGeom>
          <a:ln w="25400">
            <a:solidFill>
              <a:srgbClr val="419D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Down Arrow 273"/>
          <p:cNvSpPr/>
          <p:nvPr/>
        </p:nvSpPr>
        <p:spPr>
          <a:xfrm>
            <a:off x="7424927" y="7059168"/>
            <a:ext cx="438912" cy="420624"/>
          </a:xfrm>
          <a:prstGeom prst="downArrow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ounded Rectangle 274"/>
          <p:cNvSpPr/>
          <p:nvPr/>
        </p:nvSpPr>
        <p:spPr>
          <a:xfrm>
            <a:off x="2103120" y="7534656"/>
            <a:ext cx="11137392" cy="932688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3895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ounded Rectangle 275"/>
          <p:cNvSpPr/>
          <p:nvPr/>
        </p:nvSpPr>
        <p:spPr>
          <a:xfrm>
            <a:off x="2103120" y="7534656"/>
            <a:ext cx="2971800" cy="932688"/>
          </a:xfrm>
          <a:prstGeom prst="roundRect">
            <a:avLst/>
          </a:prstGeom>
          <a:solidFill>
            <a:srgbClr val="087B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2370582" y="7728966"/>
            <a:ext cx="534924" cy="53492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444877" y="7803261"/>
            <a:ext cx="386334" cy="38633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2519172" y="7877556"/>
            <a:ext cx="237744" cy="237744"/>
          </a:xfrm>
          <a:prstGeom prst="ellipse">
            <a:avLst/>
          </a:prstGeom>
          <a:noFill/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0" name="Connector 279"/>
          <p:cNvCxnSpPr/>
          <p:nvPr/>
        </p:nvCxnSpPr>
        <p:spPr>
          <a:xfrm flipV="1">
            <a:off x="2638044" y="7728966"/>
            <a:ext cx="261518" cy="267461"/>
          </a:xfrm>
          <a:prstGeom prst="line">
            <a:avLst/>
          </a:prstGeom>
          <a:ln w="381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3136392" y="7671816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研究目标</a:t>
            </a:r>
          </a:p>
          <a:p>
            <a:pPr algn="l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与最终产出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5431536" y="7744968"/>
            <a:ext cx="7498079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  <a:defRPr sz="2100" b="1">
                <a:solidFill>
                  <a:srgbClr val="072F69"/>
                </a:solidFill>
                <a:latin typeface="Noto Sans CJK SC"/>
              </a:defRPr>
            </a:pPr>
            <a:r>
              <a:t>阐明正颜舒筋方组方依据，评价其临床疗效，</a:t>
            </a:r>
          </a:p>
          <a:p>
            <a:pPr algn="l">
              <a:spcAft>
                <a:spcPts val="300"/>
              </a:spcAft>
              <a:defRPr sz="2100" b="1">
                <a:solidFill>
                  <a:srgbClr val="072F69"/>
                </a:solidFill>
                <a:latin typeface="Noto Sans CJK SC"/>
              </a:defRPr>
            </a:pPr>
            <a:r>
              <a:t>为后续推广应用与学术研究提供依据。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