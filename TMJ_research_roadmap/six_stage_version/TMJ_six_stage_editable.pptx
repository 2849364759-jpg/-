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5999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聊天中六阶段路线图重建。正文、标题、阶段编号、流程框及箭头可编辑；六组插画为参照原图生成并拆分的独立图片素材，可移动、缩放、替换，非逐笔矢量或原图像素级复刻。当前原始聊天图片没有本地文件路径，因此未执行完整editppt prepare/record/finalize状态流程；使用了该技能的前景拆分思路与内置图像工具，不应宣称通过其完整CLI验证。离线人工核对文字，无新增研究数据或文献。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43743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3100" b="1">
                <a:solidFill>
                  <a:srgbClr val="072F66"/>
                </a:solidFill>
                <a:latin typeface="Noto Sans CJK SC"/>
              </a:defRPr>
            </a:pPr>
            <a:r>
              <a:t>正颜舒筋方治疗疼痛型颞下颌关节紊乱病临床研究技术路线图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" y="1005840"/>
            <a:ext cx="2496312" cy="6181344"/>
          </a:xfrm>
          <a:prstGeom prst="roundRect">
            <a:avLst/>
          </a:prstGeom>
          <a:solidFill>
            <a:srgbClr val="EFF8FF"/>
          </a:solidFill>
          <a:ln w="10160">
            <a:solidFill>
              <a:srgbClr val="B5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" y="1005840"/>
            <a:ext cx="2496312" cy="530352"/>
          </a:xfrm>
          <a:prstGeom prst="roundRect">
            <a:avLst/>
          </a:prstGeom>
          <a:solidFill>
            <a:srgbClr val="B5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" y="987552"/>
            <a:ext cx="548640" cy="548640"/>
          </a:xfrm>
          <a:prstGeom prst="ellipse">
            <a:avLst/>
          </a:prstGeom>
          <a:solidFill>
            <a:srgbClr val="187BD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" y="102412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800" b="0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143000"/>
            <a:ext cx="17282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470" b="1">
                <a:solidFill>
                  <a:srgbClr val="072F66"/>
                </a:solidFill>
                <a:latin typeface="Noto Sans CJK SC"/>
              </a:defRPr>
            </a:pPr>
            <a:r>
              <a:t>文献核对与组方分析</a:t>
            </a:r>
          </a:p>
        </p:txBody>
      </p:sp>
      <p:pic>
        <p:nvPicPr>
          <p:cNvPr id="8" name="Picture 7" descr="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2221992"/>
            <a:ext cx="233172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4901184"/>
            <a:ext cx="2313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72F66"/>
                </a:solidFill>
                <a:latin typeface="Noto Sans CJK SC"/>
              </a:defRPr>
            </a:pPr>
            <a:r>
              <a:t>敦煌医方</a:t>
            </a:r>
          </a:p>
        </p:txBody>
      </p:sp>
      <p:sp>
        <p:nvSpPr>
          <p:cNvPr id="10" name="Oval 9"/>
          <p:cNvSpPr/>
          <p:nvPr/>
        </p:nvSpPr>
        <p:spPr>
          <a:xfrm>
            <a:off x="237744" y="5554980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5468112"/>
            <a:ext cx="206654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20" b="0">
                <a:solidFill>
                  <a:srgbClr val="172A3E"/>
                </a:solidFill>
                <a:latin typeface="Noto Sans CJK SC"/>
              </a:defRPr>
            </a:pPr>
            <a:r>
              <a:t>敦煌医方文献核对</a:t>
            </a:r>
          </a:p>
        </p:txBody>
      </p:sp>
      <p:sp>
        <p:nvSpPr>
          <p:cNvPr id="12" name="Oval 11"/>
          <p:cNvSpPr/>
          <p:nvPr/>
        </p:nvSpPr>
        <p:spPr>
          <a:xfrm>
            <a:off x="237744" y="5948172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5861304"/>
            <a:ext cx="206654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20" b="0">
                <a:solidFill>
                  <a:srgbClr val="172A3E"/>
                </a:solidFill>
                <a:latin typeface="Noto Sans CJK SC"/>
              </a:defRPr>
            </a:pPr>
            <a:r>
              <a:t>配伍分析</a:t>
            </a:r>
          </a:p>
        </p:txBody>
      </p:sp>
      <p:sp>
        <p:nvSpPr>
          <p:cNvPr id="14" name="Oval 13"/>
          <p:cNvSpPr/>
          <p:nvPr/>
        </p:nvSpPr>
        <p:spPr>
          <a:xfrm>
            <a:off x="237744" y="6341364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254496"/>
            <a:ext cx="2066543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20" b="0">
                <a:solidFill>
                  <a:srgbClr val="172A3E"/>
                </a:solidFill>
                <a:latin typeface="Noto Sans CJK SC"/>
              </a:defRPr>
            </a:pPr>
            <a:r>
              <a:t>形成正颜舒筋方组方依据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0048" y="1005840"/>
            <a:ext cx="2734056" cy="6181344"/>
          </a:xfrm>
          <a:prstGeom prst="roundRect">
            <a:avLst/>
          </a:prstGeom>
          <a:solidFill>
            <a:srgbClr val="EFFBF8"/>
          </a:solidFill>
          <a:ln w="10160">
            <a:solidFill>
              <a:srgbClr val="BDE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70048" y="1005840"/>
            <a:ext cx="2734056" cy="530352"/>
          </a:xfrm>
          <a:prstGeom prst="roundRect">
            <a:avLst/>
          </a:prstGeom>
          <a:solidFill>
            <a:srgbClr val="BD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34056" y="987552"/>
            <a:ext cx="548640" cy="548640"/>
          </a:xfrm>
          <a:prstGeom prst="ellipse">
            <a:avLst/>
          </a:prstGeom>
          <a:solidFill>
            <a:srgbClr val="159B8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102412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800" b="0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1143000"/>
            <a:ext cx="1965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570" b="1">
                <a:solidFill>
                  <a:srgbClr val="072F66"/>
                </a:solidFill>
                <a:latin typeface="Noto Sans CJK SC"/>
              </a:defRPr>
            </a:pPr>
            <a:r>
              <a:t>方案完善与研究启动</a:t>
            </a:r>
          </a:p>
        </p:txBody>
      </p:sp>
      <p:pic>
        <p:nvPicPr>
          <p:cNvPr id="21" name="Picture 20" descr="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2103120"/>
            <a:ext cx="2569464" cy="25694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79776" y="170992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72F66"/>
                </a:solidFill>
                <a:latin typeface="Noto Sans CJK SC"/>
              </a:defRPr>
            </a:pPr>
            <a:r>
              <a:t>临床研究方案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1709928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59B8B"/>
                </a:solidFill>
                <a:latin typeface="Noto Sans CJK SC"/>
              </a:defRPr>
            </a:pPr>
            <a:r>
              <a:t>伦理审查 · 登记注册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13632" y="4315968"/>
            <a:ext cx="1344168" cy="187452"/>
          </a:xfrm>
          <a:prstGeom prst="roundRect">
            <a:avLst/>
          </a:prstGeom>
          <a:solidFill>
            <a:srgbClr val="D9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0208" y="4325112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840" b="0">
                <a:solidFill>
                  <a:srgbClr val="072F66"/>
                </a:solidFill>
                <a:latin typeface="Noto Sans CJK SC"/>
              </a:defRPr>
            </a:pPr>
            <a:r>
              <a:t>诊断流程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4521707"/>
            <a:ext cx="1344168" cy="187452"/>
          </a:xfrm>
          <a:prstGeom prst="roundRect">
            <a:avLst/>
          </a:prstGeom>
          <a:solidFill>
            <a:srgbClr val="D9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4530851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840" b="0">
                <a:solidFill>
                  <a:srgbClr val="072F66"/>
                </a:solidFill>
                <a:latin typeface="Noto Sans CJK SC"/>
              </a:defRPr>
            </a:pPr>
            <a:r>
              <a:t>手法针灸流程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3632" y="4727448"/>
            <a:ext cx="1344168" cy="187452"/>
          </a:xfrm>
          <a:prstGeom prst="roundRect">
            <a:avLst/>
          </a:prstGeom>
          <a:solidFill>
            <a:srgbClr val="D9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0208" y="4736592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840" b="0">
                <a:solidFill>
                  <a:srgbClr val="072F66"/>
                </a:solidFill>
                <a:latin typeface="Noto Sans CJK SC"/>
              </a:defRPr>
            </a:pPr>
            <a:r>
              <a:t>供药代煎流程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4933188"/>
            <a:ext cx="1344168" cy="187452"/>
          </a:xfrm>
          <a:prstGeom prst="roundRect">
            <a:avLst/>
          </a:prstGeom>
          <a:solidFill>
            <a:srgbClr val="D9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0208" y="4942331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840" b="0">
                <a:solidFill>
                  <a:srgbClr val="072F66"/>
                </a:solidFill>
                <a:latin typeface="Noto Sans CJK SC"/>
              </a:defRPr>
            </a:pPr>
            <a:r>
              <a:t>结局测量流程</a:t>
            </a:r>
          </a:p>
        </p:txBody>
      </p:sp>
      <p:sp>
        <p:nvSpPr>
          <p:cNvPr id="32" name="Oval 31"/>
          <p:cNvSpPr/>
          <p:nvPr/>
        </p:nvSpPr>
        <p:spPr>
          <a:xfrm>
            <a:off x="2816352" y="5362955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5276088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完善临床研究方案</a:t>
            </a:r>
          </a:p>
        </p:txBody>
      </p:sp>
      <p:sp>
        <p:nvSpPr>
          <p:cNvPr id="34" name="Oval 33"/>
          <p:cNvSpPr/>
          <p:nvPr/>
        </p:nvSpPr>
        <p:spPr>
          <a:xfrm>
            <a:off x="2816352" y="5609843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5522975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完成伦理审查</a:t>
            </a:r>
          </a:p>
        </p:txBody>
      </p:sp>
      <p:sp>
        <p:nvSpPr>
          <p:cNvPr id="36" name="Oval 35"/>
          <p:cNvSpPr/>
          <p:nvPr/>
        </p:nvSpPr>
        <p:spPr>
          <a:xfrm>
            <a:off x="2816352" y="5856731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5769863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完成相关登记注册</a:t>
            </a:r>
          </a:p>
        </p:txBody>
      </p:sp>
      <p:sp>
        <p:nvSpPr>
          <p:cNvPr id="38" name="Oval 37"/>
          <p:cNvSpPr/>
          <p:nvPr/>
        </p:nvSpPr>
        <p:spPr>
          <a:xfrm>
            <a:off x="2816352" y="6103619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6016751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统一诊断流程</a:t>
            </a:r>
          </a:p>
        </p:txBody>
      </p:sp>
      <p:sp>
        <p:nvSpPr>
          <p:cNvPr id="40" name="Oval 39"/>
          <p:cNvSpPr/>
          <p:nvPr/>
        </p:nvSpPr>
        <p:spPr>
          <a:xfrm>
            <a:off x="2816352" y="6350507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6263639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统一手法针灸流程</a:t>
            </a:r>
          </a:p>
        </p:txBody>
      </p:sp>
      <p:sp>
        <p:nvSpPr>
          <p:cNvPr id="42" name="Oval 41"/>
          <p:cNvSpPr/>
          <p:nvPr/>
        </p:nvSpPr>
        <p:spPr>
          <a:xfrm>
            <a:off x="2816352" y="6597395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6510527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统一供药代煎流程</a:t>
            </a:r>
          </a:p>
        </p:txBody>
      </p:sp>
      <p:sp>
        <p:nvSpPr>
          <p:cNvPr id="44" name="Oval 43"/>
          <p:cNvSpPr/>
          <p:nvPr/>
        </p:nvSpPr>
        <p:spPr>
          <a:xfrm>
            <a:off x="2816352" y="6844283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0" y="6757415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统一结局测量流程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1005840"/>
            <a:ext cx="2560320" cy="6181344"/>
          </a:xfrm>
          <a:prstGeom prst="roundRect">
            <a:avLst/>
          </a:prstGeom>
          <a:solidFill>
            <a:srgbClr val="EFF8FF"/>
          </a:solidFill>
          <a:ln w="10160">
            <a:solidFill>
              <a:srgbClr val="B5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0" y="1005840"/>
            <a:ext cx="2560320" cy="530352"/>
          </a:xfrm>
          <a:prstGeom prst="roundRect">
            <a:avLst/>
          </a:prstGeom>
          <a:solidFill>
            <a:srgbClr val="B5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50408" y="987552"/>
            <a:ext cx="548640" cy="548640"/>
          </a:xfrm>
          <a:prstGeom prst="ellipse">
            <a:avLst/>
          </a:prstGeom>
          <a:solidFill>
            <a:srgbClr val="187BD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50408" y="102412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800" b="0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1143000"/>
            <a:ext cx="179222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072F66"/>
                </a:solidFill>
                <a:latin typeface="Noto Sans CJK SC"/>
              </a:defRPr>
            </a:pPr>
            <a:r>
              <a:t>患者筛选与入组</a:t>
            </a:r>
          </a:p>
        </p:txBody>
      </p:sp>
      <p:pic>
        <p:nvPicPr>
          <p:cNvPr id="51" name="Picture 50" descr="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189988"/>
            <a:ext cx="2395727" cy="23957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17920" y="410565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72F66"/>
                </a:solidFill>
                <a:latin typeface="Noto Sans CJK SC"/>
              </a:defRPr>
            </a:pPr>
            <a:r>
              <a:t>知情同意书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96128" y="4983480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072F66"/>
                </a:solidFill>
                <a:latin typeface="Noto Sans CJK SC"/>
              </a:defRPr>
            </a:pPr>
            <a:r>
              <a:t>随机分组</a:t>
            </a:r>
          </a:p>
        </p:txBody>
      </p:sp>
      <p:sp>
        <p:nvSpPr>
          <p:cNvPr id="54" name="Oval 53"/>
          <p:cNvSpPr/>
          <p:nvPr/>
        </p:nvSpPr>
        <p:spPr>
          <a:xfrm>
            <a:off x="5632704" y="5554980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33872" y="5468112"/>
            <a:ext cx="21305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72A3E"/>
                </a:solidFill>
                <a:latin typeface="Noto Sans CJK SC"/>
              </a:defRPr>
            </a:pPr>
            <a:r>
              <a:t>门诊连续筛选符合条件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72A3E"/>
                </a:solidFill>
                <a:latin typeface="Noto Sans CJK SC"/>
              </a:defRPr>
            </a:pPr>
            <a:r>
              <a:t>的患者</a:t>
            </a:r>
          </a:p>
        </p:txBody>
      </p:sp>
      <p:sp>
        <p:nvSpPr>
          <p:cNvPr id="56" name="Oval 55"/>
          <p:cNvSpPr/>
          <p:nvPr/>
        </p:nvSpPr>
        <p:spPr>
          <a:xfrm>
            <a:off x="5632704" y="6121908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33872" y="6035040"/>
            <a:ext cx="213055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72A3E"/>
                </a:solidFill>
                <a:latin typeface="Noto Sans CJK SC"/>
              </a:defRPr>
            </a:pPr>
            <a:r>
              <a:t>完成知情同意</a:t>
            </a:r>
          </a:p>
        </p:txBody>
      </p:sp>
      <p:sp>
        <p:nvSpPr>
          <p:cNvPr id="58" name="Oval 57"/>
          <p:cNvSpPr/>
          <p:nvPr/>
        </p:nvSpPr>
        <p:spPr>
          <a:xfrm>
            <a:off x="5632704" y="6515100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33872" y="6428232"/>
            <a:ext cx="213055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72A3E"/>
                </a:solidFill>
                <a:latin typeface="Noto Sans CJK SC"/>
              </a:defRPr>
            </a:pPr>
            <a:r>
              <a:t>基线评价</a:t>
            </a:r>
          </a:p>
        </p:txBody>
      </p:sp>
      <p:sp>
        <p:nvSpPr>
          <p:cNvPr id="60" name="Oval 59"/>
          <p:cNvSpPr/>
          <p:nvPr/>
        </p:nvSpPr>
        <p:spPr>
          <a:xfrm>
            <a:off x="5632704" y="6908292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33872" y="6821424"/>
            <a:ext cx="213055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72A3E"/>
                </a:solidFill>
                <a:latin typeface="Noto Sans CJK SC"/>
              </a:defRPr>
            </a:pPr>
            <a:r>
              <a:t>随机分组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29016" y="1005840"/>
            <a:ext cx="2185416" cy="6181344"/>
          </a:xfrm>
          <a:prstGeom prst="roundRect">
            <a:avLst/>
          </a:prstGeom>
          <a:solidFill>
            <a:srgbClr val="EFFBF8"/>
          </a:solidFill>
          <a:ln w="10160">
            <a:solidFill>
              <a:srgbClr val="BDE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129016" y="1005840"/>
            <a:ext cx="2185416" cy="530352"/>
          </a:xfrm>
          <a:prstGeom prst="roundRect">
            <a:avLst/>
          </a:prstGeom>
          <a:solidFill>
            <a:srgbClr val="BD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93024" y="987552"/>
            <a:ext cx="548640" cy="548640"/>
          </a:xfrm>
          <a:prstGeom prst="ellipse">
            <a:avLst/>
          </a:prstGeom>
          <a:solidFill>
            <a:srgbClr val="159B8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93024" y="102412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800" b="0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1143000"/>
            <a:ext cx="14173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072F66"/>
                </a:solidFill>
                <a:latin typeface="Noto Sans CJK SC"/>
              </a:defRPr>
            </a:pPr>
            <a:r>
              <a:t>干预与随访</a:t>
            </a:r>
          </a:p>
        </p:txBody>
      </p:sp>
      <p:pic>
        <p:nvPicPr>
          <p:cNvPr id="67" name="Picture 66" descr="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377440"/>
            <a:ext cx="2020824" cy="2020824"/>
          </a:xfrm>
          <a:prstGeom prst="rect">
            <a:avLst/>
          </a:prstGeom>
        </p:spPr>
      </p:pic>
      <p:sp>
        <p:nvSpPr>
          <p:cNvPr id="68" name="Oval 67"/>
          <p:cNvSpPr/>
          <p:nvPr/>
        </p:nvSpPr>
        <p:spPr>
          <a:xfrm>
            <a:off x="8275320" y="5554980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76488" y="5468112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按方案实施治疗</a:t>
            </a:r>
          </a:p>
        </p:txBody>
      </p:sp>
      <p:sp>
        <p:nvSpPr>
          <p:cNvPr id="70" name="Oval 69"/>
          <p:cNvSpPr/>
          <p:nvPr/>
        </p:nvSpPr>
        <p:spPr>
          <a:xfrm>
            <a:off x="8275320" y="5948172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6488" y="5861304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开展随访</a:t>
            </a:r>
          </a:p>
        </p:txBody>
      </p:sp>
      <p:sp>
        <p:nvSpPr>
          <p:cNvPr id="72" name="Oval 71"/>
          <p:cNvSpPr/>
          <p:nvPr/>
        </p:nvSpPr>
        <p:spPr>
          <a:xfrm>
            <a:off x="8275320" y="6341364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76488" y="6254496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记录疗效指标</a:t>
            </a:r>
          </a:p>
        </p:txBody>
      </p:sp>
      <p:sp>
        <p:nvSpPr>
          <p:cNvPr id="74" name="Oval 73"/>
          <p:cNvSpPr/>
          <p:nvPr/>
        </p:nvSpPr>
        <p:spPr>
          <a:xfrm>
            <a:off x="8275320" y="6734555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76488" y="6647688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80" b="0">
                <a:solidFill>
                  <a:srgbClr val="172A3E"/>
                </a:solidFill>
                <a:latin typeface="Noto Sans CJK SC"/>
              </a:defRPr>
            </a:pPr>
            <a:r>
              <a:t>记录安全性指标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396728" y="1005840"/>
            <a:ext cx="2770632" cy="6181344"/>
          </a:xfrm>
          <a:prstGeom prst="roundRect">
            <a:avLst/>
          </a:prstGeom>
          <a:solidFill>
            <a:srgbClr val="EFF8FF"/>
          </a:solidFill>
          <a:ln w="10160">
            <a:solidFill>
              <a:srgbClr val="B5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396728" y="1005840"/>
            <a:ext cx="2770632" cy="530352"/>
          </a:xfrm>
          <a:prstGeom prst="roundRect">
            <a:avLst/>
          </a:prstGeom>
          <a:solidFill>
            <a:srgbClr val="B5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460736" y="987552"/>
            <a:ext cx="548640" cy="548640"/>
          </a:xfrm>
          <a:prstGeom prst="ellipse">
            <a:avLst/>
          </a:prstGeom>
          <a:solidFill>
            <a:srgbClr val="187BD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60736" y="102412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800" b="0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00815" y="1143000"/>
            <a:ext cx="20025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570" b="1">
                <a:solidFill>
                  <a:srgbClr val="072F66"/>
                </a:solidFill>
                <a:latin typeface="Noto Sans CJK SC"/>
              </a:defRPr>
            </a:pPr>
            <a:r>
              <a:t>数据管理与统计分析</a:t>
            </a:r>
          </a:p>
        </p:txBody>
      </p:sp>
      <p:pic>
        <p:nvPicPr>
          <p:cNvPr id="81" name="Picture 80" descr="scen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2084832"/>
            <a:ext cx="2606039" cy="2606039"/>
          </a:xfrm>
          <a:prstGeom prst="rect">
            <a:avLst/>
          </a:prstGeom>
        </p:spPr>
      </p:pic>
      <p:sp>
        <p:nvSpPr>
          <p:cNvPr id="82" name="Oval 81"/>
          <p:cNvSpPr/>
          <p:nvPr/>
        </p:nvSpPr>
        <p:spPr>
          <a:xfrm>
            <a:off x="10543032" y="5436107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44200" y="5349240"/>
            <a:ext cx="234086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310" b="0">
                <a:solidFill>
                  <a:srgbClr val="172A3E"/>
                </a:solidFill>
                <a:latin typeface="Noto Sans CJK SC"/>
              </a:defRPr>
            </a:pPr>
            <a:r>
              <a:t>建立临床研究数据库</a:t>
            </a:r>
          </a:p>
        </p:txBody>
      </p:sp>
      <p:sp>
        <p:nvSpPr>
          <p:cNvPr id="84" name="Oval 83"/>
          <p:cNvSpPr/>
          <p:nvPr/>
        </p:nvSpPr>
        <p:spPr>
          <a:xfrm>
            <a:off x="10543032" y="5792723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44200" y="5705855"/>
            <a:ext cx="2340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310" b="0">
                <a:solidFill>
                  <a:srgbClr val="172A3E"/>
                </a:solidFill>
                <a:latin typeface="Noto Sans CJK SC"/>
              </a:defRPr>
            </a:pPr>
            <a:r>
              <a:t>按意向性治疗原则进行</a:t>
            </a:r>
          </a:p>
          <a:p>
            <a:pPr algn="l">
              <a:spcAft>
                <a:spcPts val="300"/>
              </a:spcAft>
              <a:defRPr sz="1310" b="0">
                <a:solidFill>
                  <a:srgbClr val="172A3E"/>
                </a:solidFill>
                <a:latin typeface="Noto Sans CJK SC"/>
              </a:defRPr>
            </a:pPr>
            <a:r>
              <a:t>统计分析</a:t>
            </a:r>
          </a:p>
        </p:txBody>
      </p:sp>
      <p:sp>
        <p:nvSpPr>
          <p:cNvPr id="86" name="Oval 85"/>
          <p:cNvSpPr/>
          <p:nvPr/>
        </p:nvSpPr>
        <p:spPr>
          <a:xfrm>
            <a:off x="10543032" y="6341363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744200" y="6254495"/>
            <a:ext cx="2340863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10" b="0">
                <a:solidFill>
                  <a:srgbClr val="172A3E"/>
                </a:solidFill>
                <a:latin typeface="Noto Sans CJK SC"/>
              </a:defRPr>
            </a:pPr>
            <a:r>
              <a:t>结合基线疼痛程度、疼痛</a:t>
            </a:r>
          </a:p>
          <a:p>
            <a:pPr algn="l">
              <a:spcAft>
                <a:spcPts val="300"/>
              </a:spcAft>
              <a:defRPr sz="1210" b="0">
                <a:solidFill>
                  <a:srgbClr val="172A3E"/>
                </a:solidFill>
                <a:latin typeface="Noto Sans CJK SC"/>
              </a:defRPr>
            </a:pPr>
            <a:r>
              <a:t>类型及病程等因素进行分析</a:t>
            </a:r>
          </a:p>
        </p:txBody>
      </p:sp>
      <p:sp>
        <p:nvSpPr>
          <p:cNvPr id="88" name="Oval 87"/>
          <p:cNvSpPr/>
          <p:nvPr/>
        </p:nvSpPr>
        <p:spPr>
          <a:xfrm>
            <a:off x="10543032" y="6926579"/>
            <a:ext cx="105156" cy="105156"/>
          </a:xfrm>
          <a:prstGeom prst="ellipse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44200" y="6839711"/>
            <a:ext cx="234086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310" b="0">
                <a:solidFill>
                  <a:srgbClr val="172A3E"/>
                </a:solidFill>
                <a:latin typeface="Noto Sans CJK SC"/>
              </a:defRPr>
            </a:pPr>
            <a:r>
              <a:t>估计组间疗效差异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249656" y="1005840"/>
            <a:ext cx="1947672" cy="6181344"/>
          </a:xfrm>
          <a:prstGeom prst="roundRect">
            <a:avLst/>
          </a:prstGeom>
          <a:solidFill>
            <a:srgbClr val="EFFBF8"/>
          </a:solidFill>
          <a:ln w="10160">
            <a:solidFill>
              <a:srgbClr val="BDE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3249656" y="1005840"/>
            <a:ext cx="1947672" cy="530352"/>
          </a:xfrm>
          <a:prstGeom prst="roundRect">
            <a:avLst/>
          </a:prstGeom>
          <a:solidFill>
            <a:srgbClr val="BD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313664" y="987552"/>
            <a:ext cx="548640" cy="548640"/>
          </a:xfrm>
          <a:prstGeom prst="ellipse">
            <a:avLst/>
          </a:prstGeom>
          <a:solidFill>
            <a:srgbClr val="159B8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313664" y="102412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800" b="0">
                <a:solidFill>
                  <a:srgbClr val="FFFFFF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953744" y="1143000"/>
            <a:ext cx="117957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072F66"/>
                </a:solidFill>
                <a:latin typeface="Noto Sans CJK SC"/>
              </a:defRPr>
            </a:pPr>
            <a:r>
              <a:t>成果形成</a:t>
            </a:r>
          </a:p>
        </p:txBody>
      </p:sp>
      <p:pic>
        <p:nvPicPr>
          <p:cNvPr id="95" name="Picture 94" descr="scene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1952" y="2496312"/>
            <a:ext cx="1783080" cy="178308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3359384" y="2990088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072F66"/>
                </a:solidFill>
                <a:latin typeface="Noto Sans CJK SC"/>
              </a:defRPr>
            </a:pPr>
            <a:r>
              <a:t>临床研究报告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359384" y="3264408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072F66"/>
                </a:solidFill>
                <a:latin typeface="Noto Sans CJK SC"/>
              </a:defRPr>
            </a:pPr>
            <a:r>
              <a:t>学术论文</a:t>
            </a:r>
          </a:p>
        </p:txBody>
      </p:sp>
      <p:sp>
        <p:nvSpPr>
          <p:cNvPr id="98" name="Oval 97"/>
          <p:cNvSpPr/>
          <p:nvPr/>
        </p:nvSpPr>
        <p:spPr>
          <a:xfrm>
            <a:off x="13395960" y="5554980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597128" y="5468112"/>
            <a:ext cx="151790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80" b="0">
                <a:solidFill>
                  <a:srgbClr val="172A3E"/>
                </a:solidFill>
                <a:latin typeface="Noto Sans CJK SC"/>
              </a:defRPr>
            </a:pPr>
            <a:r>
              <a:t>形成文献研究资料</a:t>
            </a:r>
          </a:p>
        </p:txBody>
      </p:sp>
      <p:sp>
        <p:nvSpPr>
          <p:cNvPr id="100" name="Oval 99"/>
          <p:cNvSpPr/>
          <p:nvPr/>
        </p:nvSpPr>
        <p:spPr>
          <a:xfrm>
            <a:off x="13395960" y="6039612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597128" y="5952744"/>
            <a:ext cx="151790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80" b="0">
                <a:solidFill>
                  <a:srgbClr val="172A3E"/>
                </a:solidFill>
                <a:latin typeface="Noto Sans CJK SC"/>
              </a:defRPr>
            </a:pPr>
            <a:r>
              <a:t>形成临床研究报告</a:t>
            </a:r>
          </a:p>
        </p:txBody>
      </p:sp>
      <p:sp>
        <p:nvSpPr>
          <p:cNvPr id="102" name="Oval 101"/>
          <p:cNvSpPr/>
          <p:nvPr/>
        </p:nvSpPr>
        <p:spPr>
          <a:xfrm>
            <a:off x="13395960" y="6524244"/>
            <a:ext cx="105156" cy="105156"/>
          </a:xfrm>
          <a:prstGeom prst="ellipse">
            <a:avLst/>
          </a:prstGeom>
          <a:solidFill>
            <a:srgbClr val="15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597128" y="6437376"/>
            <a:ext cx="151790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80" b="0">
                <a:solidFill>
                  <a:srgbClr val="172A3E"/>
                </a:solidFill>
                <a:latin typeface="Noto Sans CJK SC"/>
              </a:defRPr>
            </a:pPr>
            <a:r>
              <a:t>形成相关学术论文</a:t>
            </a:r>
          </a:p>
        </p:txBody>
      </p:sp>
      <p:sp>
        <p:nvSpPr>
          <p:cNvPr id="104" name="Right Arrow 103"/>
          <p:cNvSpPr/>
          <p:nvPr/>
        </p:nvSpPr>
        <p:spPr>
          <a:xfrm>
            <a:off x="2505456" y="3264408"/>
            <a:ext cx="365760" cy="356616"/>
          </a:xfrm>
          <a:prstGeom prst="rightArrow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ight Arrow 104"/>
          <p:cNvSpPr/>
          <p:nvPr/>
        </p:nvSpPr>
        <p:spPr>
          <a:xfrm>
            <a:off x="5321808" y="3264408"/>
            <a:ext cx="365760" cy="356616"/>
          </a:xfrm>
          <a:prstGeom prst="rightArrow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ight Arrow 105"/>
          <p:cNvSpPr/>
          <p:nvPr/>
        </p:nvSpPr>
        <p:spPr>
          <a:xfrm>
            <a:off x="7964424" y="3264408"/>
            <a:ext cx="365760" cy="356616"/>
          </a:xfrm>
          <a:prstGeom prst="rightArrow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ight Arrow 106"/>
          <p:cNvSpPr/>
          <p:nvPr/>
        </p:nvSpPr>
        <p:spPr>
          <a:xfrm>
            <a:off x="10232136" y="3264408"/>
            <a:ext cx="365760" cy="356616"/>
          </a:xfrm>
          <a:prstGeom prst="rightArrow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ight Arrow 107"/>
          <p:cNvSpPr/>
          <p:nvPr/>
        </p:nvSpPr>
        <p:spPr>
          <a:xfrm>
            <a:off x="13085063" y="3264408"/>
            <a:ext cx="365760" cy="356616"/>
          </a:xfrm>
          <a:prstGeom prst="rightArrow">
            <a:avLst/>
          </a:prstGeom>
          <a:solidFill>
            <a:srgbClr val="187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Isosceles Triangle 108"/>
          <p:cNvSpPr/>
          <p:nvPr/>
        </p:nvSpPr>
        <p:spPr>
          <a:xfrm>
            <a:off x="0" y="8055864"/>
            <a:ext cx="3017520" cy="493776"/>
          </a:xfrm>
          <a:prstGeom prst="triangle">
            <a:avLst/>
          </a:prstGeom>
          <a:solidFill>
            <a:srgbClr val="E7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Isosceles Triangle 109"/>
          <p:cNvSpPr/>
          <p:nvPr/>
        </p:nvSpPr>
        <p:spPr>
          <a:xfrm>
            <a:off x="12618720" y="8055864"/>
            <a:ext cx="2670048" cy="457200"/>
          </a:xfrm>
          <a:prstGeom prst="triangle">
            <a:avLst/>
          </a:prstGeom>
          <a:solidFill>
            <a:srgbClr val="E7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2011680" y="7571231"/>
            <a:ext cx="11201400" cy="832104"/>
          </a:xfrm>
          <a:prstGeom prst="roundRect">
            <a:avLst/>
          </a:prstGeom>
          <a:solidFill>
            <a:srgbClr val="EDF7FF"/>
          </a:solidFill>
          <a:ln w="10160">
            <a:solidFill>
              <a:srgbClr val="92C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291072" y="7360920"/>
            <a:ext cx="2615184" cy="466344"/>
          </a:xfrm>
          <a:prstGeom prst="roundRect">
            <a:avLst/>
          </a:prstGeom>
          <a:solidFill>
            <a:srgbClr val="236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60" y="7406640"/>
            <a:ext cx="2578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研究目标</a:t>
            </a:r>
          </a:p>
        </p:txBody>
      </p:sp>
      <p:sp>
        <p:nvSpPr>
          <p:cNvPr id="114" name="Oval 113"/>
          <p:cNvSpPr/>
          <p:nvPr/>
        </p:nvSpPr>
        <p:spPr>
          <a:xfrm>
            <a:off x="2423160" y="7680960"/>
            <a:ext cx="713232" cy="713232"/>
          </a:xfrm>
          <a:prstGeom prst="ellipse">
            <a:avLst/>
          </a:prstGeom>
          <a:noFill/>
          <a:ln w="38100">
            <a:solidFill>
              <a:srgbClr val="236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523744" y="7781544"/>
            <a:ext cx="512064" cy="512064"/>
          </a:xfrm>
          <a:prstGeom prst="ellipse">
            <a:avLst/>
          </a:prstGeom>
          <a:noFill/>
          <a:ln w="38100">
            <a:solidFill>
              <a:srgbClr val="236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633472" y="7891272"/>
            <a:ext cx="292608" cy="292608"/>
          </a:xfrm>
          <a:prstGeom prst="ellipse">
            <a:avLst/>
          </a:prstGeom>
          <a:noFill/>
          <a:ln w="38100">
            <a:solidFill>
              <a:srgbClr val="236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2779776" y="7571231"/>
            <a:ext cx="466344" cy="466344"/>
          </a:xfrm>
          <a:prstGeom prst="line">
            <a:avLst/>
          </a:prstGeom>
          <a:ln w="38100">
            <a:solidFill>
              <a:srgbClr val="236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3493008" y="7918704"/>
            <a:ext cx="94548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850" b="1">
                <a:solidFill>
                  <a:srgbClr val="072F66"/>
                </a:solidFill>
                <a:latin typeface="Noto Sans CJK SC"/>
              </a:defRPr>
            </a:pPr>
            <a:r>
              <a:t>阐明正颜舒筋方组方依据，评价其临床疗效，为后续推广应用与学术研究提供依据。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