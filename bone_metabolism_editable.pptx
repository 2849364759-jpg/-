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045184" cy="93634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依据用户提供的成骨细胞—共性轴—骨细胞示意图逐项重建。原图中的 ECAR.↑、机械卸载及结论等文字按图保留。文本、指标色条、边框、徽标与箭头为PowerPoint原生对象；细胞与线粒体插图为独立透明图片。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: 成骨细胞"/>
          <p:cNvSpPr txBox="1"/>
          <p:nvPr/>
        </p:nvSpPr>
        <p:spPr>
          <a:xfrm>
            <a:off x="914400" y="1417320"/>
            <a:ext cx="2377440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383" b="0">
                <a:solidFill>
                  <a:srgbClr val="000000"/>
                </a:solidFill>
                <a:latin typeface="Noto Serif CJK SC"/>
                <a:ea typeface="Noto Serif CJK SC"/>
              </a:rPr>
              <a:t>成骨细胞</a:t>
            </a:r>
          </a:p>
        </p:txBody>
      </p:sp>
      <p:sp>
        <p:nvSpPr>
          <p:cNvPr id="3" name="Text: 共性轴"/>
          <p:cNvSpPr txBox="1"/>
          <p:nvPr/>
        </p:nvSpPr>
        <p:spPr>
          <a:xfrm>
            <a:off x="5559552" y="1344168"/>
            <a:ext cx="1746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56" b="0">
                <a:solidFill>
                  <a:srgbClr val="000000"/>
                </a:solidFill>
                <a:latin typeface="Noto Serif CJK SC"/>
                <a:ea typeface="Noto Serif CJK SC"/>
              </a:rPr>
              <a:t>共性轴</a:t>
            </a:r>
          </a:p>
        </p:txBody>
      </p:sp>
      <p:sp>
        <p:nvSpPr>
          <p:cNvPr id="4" name="Editable graphic"/>
          <p:cNvSpPr/>
          <p:nvPr/>
        </p:nvSpPr>
        <p:spPr>
          <a:xfrm>
            <a:off x="5340096" y="1929384"/>
            <a:ext cx="2185416" cy="18288"/>
          </a:xfrm>
          <a:prstGeom prst="rect">
            <a:avLst/>
          </a:prstGeom>
          <a:solidFill>
            <a:srgbClr val="718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: 骨细胞"/>
          <p:cNvSpPr txBox="1"/>
          <p:nvPr/>
        </p:nvSpPr>
        <p:spPr>
          <a:xfrm>
            <a:off x="9966960" y="1435608"/>
            <a:ext cx="173736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383" b="0">
                <a:solidFill>
                  <a:srgbClr val="000000"/>
                </a:solidFill>
                <a:latin typeface="Noto Serif CJK SC"/>
                <a:ea typeface="Noto Serif CJK SC"/>
              </a:rPr>
              <a:t>骨细胞</a:t>
            </a:r>
          </a:p>
        </p:txBody>
      </p:sp>
      <p:sp>
        <p:nvSpPr>
          <p:cNvPr id="6" name="Osteoblast panel"/>
          <p:cNvSpPr/>
          <p:nvPr/>
        </p:nvSpPr>
        <p:spPr>
          <a:xfrm>
            <a:off x="164592" y="2112264"/>
            <a:ext cx="3877056" cy="283464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 w="20320">
            <a:solidFill>
              <a:srgbClr val="DE6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糖酵解↑ → ECAR.↑"/>
          <p:cNvSpPr txBox="1"/>
          <p:nvPr/>
        </p:nvSpPr>
        <p:spPr>
          <a:xfrm>
            <a:off x="704088" y="2185416"/>
            <a:ext cx="283464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71" b="0">
                <a:solidFill>
                  <a:srgbClr val="000000"/>
                </a:solidFill>
                <a:latin typeface="Noto Serif CJK SC"/>
                <a:ea typeface="Noto Serif CJK SC"/>
              </a:rPr>
              <a:t>糖酵解↑ → ECAR.↑</a:t>
            </a:r>
          </a:p>
        </p:txBody>
      </p:sp>
      <p:sp>
        <p:nvSpPr>
          <p:cNvPr id="8" name="Text: 磷酸戊糖途径 ↑ → NADPH ↑"/>
          <p:cNvSpPr txBox="1"/>
          <p:nvPr/>
        </p:nvSpPr>
        <p:spPr>
          <a:xfrm>
            <a:off x="310896" y="2651760"/>
            <a:ext cx="3575304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>
                <a:solidFill>
                  <a:srgbClr val="000000"/>
                </a:solidFill>
                <a:latin typeface="Noto Serif CJK SC"/>
                <a:ea typeface="Noto Serif CJK SC"/>
              </a:rPr>
              <a:t>磷酸戊糖途径 ↑ → NADPH ↑</a:t>
            </a:r>
          </a:p>
        </p:txBody>
      </p:sp>
      <p:sp>
        <p:nvSpPr>
          <p:cNvPr id="9" name="Text: 驱动成骨分化与骨基质合成"/>
          <p:cNvSpPr txBox="1"/>
          <p:nvPr/>
        </p:nvSpPr>
        <p:spPr>
          <a:xfrm>
            <a:off x="283464" y="3136392"/>
            <a:ext cx="3685032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>
                <a:solidFill>
                  <a:srgbClr val="000000"/>
                </a:solidFill>
                <a:latin typeface="Noto Serif CJK SC"/>
                <a:ea typeface="Noto Serif CJK SC"/>
              </a:rPr>
              <a:t>驱动成骨分化与骨基质合成</a:t>
            </a:r>
          </a:p>
        </p:txBody>
      </p:sp>
      <p:pic>
        <p:nvPicPr>
          <p:cNvPr id="10" name="Medical illustration: osteoblast" descr="osteoblast.png"/>
          <p:cNvPicPr>
            <a:picLocks noChangeAspect="1"/>
          </p:cNvPicPr>
          <p:nvPr/>
        </p:nvPicPr>
        <p:blipFill>
          <a:blip r:embed="rId2"/>
          <a:srcRect l="4908" r="4908" t="9959" b="9959"/>
          <a:stretch>
            <a:fillRect/>
          </a:stretch>
        </p:blipFill>
        <p:spPr>
          <a:xfrm>
            <a:off x="592725" y="3767328"/>
            <a:ext cx="2005805" cy="877824"/>
          </a:xfrm>
          <a:prstGeom prst="rect">
            <a:avLst/>
          </a:prstGeom>
        </p:spPr>
      </p:pic>
      <p:sp>
        <p:nvSpPr>
          <p:cNvPr id="11" name="Editable graphic"/>
          <p:cNvSpPr/>
          <p:nvPr/>
        </p:nvSpPr>
        <p:spPr>
          <a:xfrm>
            <a:off x="2487168" y="4069080"/>
            <a:ext cx="411480" cy="201168"/>
          </a:xfrm>
          <a:prstGeom prst="rightArrow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454C4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Medical illustration: nadph-cluster" descr="nadph-cluster.png"/>
          <p:cNvPicPr>
            <a:picLocks noChangeAspect="1"/>
          </p:cNvPicPr>
          <p:nvPr/>
        </p:nvPicPr>
        <p:blipFill>
          <a:blip r:embed="rId3"/>
          <a:srcRect l="5846" r="7385" t="15094" b="15094"/>
          <a:stretch>
            <a:fillRect/>
          </a:stretch>
        </p:blipFill>
        <p:spPr>
          <a:xfrm>
            <a:off x="2983786" y="3730752"/>
            <a:ext cx="789843" cy="310896"/>
          </a:xfrm>
          <a:prstGeom prst="rect">
            <a:avLst/>
          </a:prstGeom>
        </p:spPr>
      </p:pic>
      <p:sp>
        <p:nvSpPr>
          <p:cNvPr id="13" name="Editable NADPH label oval"/>
          <p:cNvSpPr/>
          <p:nvPr/>
        </p:nvSpPr>
        <p:spPr>
          <a:xfrm>
            <a:off x="2834640" y="4114800"/>
            <a:ext cx="1106424" cy="576072"/>
          </a:xfrm>
          <a:prstGeom prst="ellipse">
            <a:avLst/>
          </a:prstGeom>
          <a:solidFill>
            <a:srgbClr val="516D5C"/>
          </a:solidFill>
          <a:ln w="10795">
            <a:solidFill>
              <a:srgbClr val="3E5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NADPH"/>
          <p:cNvSpPr txBox="1"/>
          <p:nvPr/>
        </p:nvSpPr>
        <p:spPr>
          <a:xfrm>
            <a:off x="2852928" y="4114800"/>
            <a:ext cx="1060704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>
                <a:solidFill>
                  <a:srgbClr val="FFFFFF"/>
                </a:solidFill>
                <a:latin typeface="Noto Sans CJK SC"/>
                <a:ea typeface="Noto Sans CJK SC"/>
              </a:rPr>
              <a:t>NADPH</a:t>
            </a:r>
          </a:p>
        </p:txBody>
      </p:sp>
      <p:sp>
        <p:nvSpPr>
          <p:cNvPr id="15" name="Editable common-axis bidirectional arrow"/>
          <p:cNvSpPr/>
          <p:nvPr/>
        </p:nvSpPr>
        <p:spPr>
          <a:xfrm>
            <a:off x="4206240" y="3739896"/>
            <a:ext cx="4489704" cy="274320"/>
          </a:xfrm>
          <a:prstGeom prst="leftRightArrow">
            <a:avLst>
              <a:gd name="adj1" fmla="val 34000"/>
              <a:gd name="adj2" fmla="val 100000"/>
            </a:avLst>
          </a:prstGeom>
          <a:ln>
            <a:noFill/>
          </a:ln>
          <a:gradFill>
            <a:gsLst>
              <a:gs pos="0">
                <a:srgbClr val="94ADB9"/>
              </a:gs>
              <a:gs pos="100000">
                <a:srgbClr val="49798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graphic"/>
          <p:cNvSpPr/>
          <p:nvPr/>
        </p:nvSpPr>
        <p:spPr>
          <a:xfrm>
            <a:off x="5102352" y="2267712"/>
            <a:ext cx="2724912" cy="493776"/>
          </a:xfrm>
          <a:prstGeom prst="roundRect">
            <a:avLst>
              <a:gd name="adj" fmla="val 12962"/>
            </a:avLst>
          </a:prstGeom>
          <a:solidFill>
            <a:srgbClr val="2B5370"/>
          </a:solidFill>
          <a:ln w="10795">
            <a:solidFill>
              <a:srgbClr val="2B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NAD⁺ 可用性"/>
          <p:cNvSpPr txBox="1"/>
          <p:nvPr/>
        </p:nvSpPr>
        <p:spPr>
          <a:xfrm>
            <a:off x="5202936" y="2267712"/>
            <a:ext cx="252374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FFFFFF"/>
                </a:solidFill>
                <a:latin typeface="Noto Sans CJK SC"/>
                <a:ea typeface="Noto Sans CJK SC"/>
              </a:rPr>
              <a:t>NAD⁺ 可用性</a:t>
            </a:r>
          </a:p>
        </p:txBody>
      </p:sp>
      <p:sp>
        <p:nvSpPr>
          <p:cNvPr id="18" name="Editable graphic"/>
          <p:cNvSpPr/>
          <p:nvPr/>
        </p:nvSpPr>
        <p:spPr>
          <a:xfrm>
            <a:off x="5102352" y="2889504"/>
            <a:ext cx="2724912" cy="466344"/>
          </a:xfrm>
          <a:prstGeom prst="roundRect">
            <a:avLst>
              <a:gd name="adj" fmla="val 13725"/>
            </a:avLst>
          </a:prstGeom>
          <a:solidFill>
            <a:srgbClr val="F5A236"/>
          </a:solidFill>
          <a:ln w="10795">
            <a:solidFill>
              <a:srgbClr val="D8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NAD⁺ / NADH"/>
          <p:cNvSpPr txBox="1"/>
          <p:nvPr/>
        </p:nvSpPr>
        <p:spPr>
          <a:xfrm>
            <a:off x="5202936" y="2889504"/>
            <a:ext cx="2523744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FFFFFF"/>
                </a:solidFill>
                <a:latin typeface="Noto Sans CJK SC"/>
                <a:ea typeface="Noto Sans CJK SC"/>
              </a:rPr>
              <a:t>NAD⁺ / NADH</a:t>
            </a:r>
          </a:p>
        </p:txBody>
      </p:sp>
      <p:sp>
        <p:nvSpPr>
          <p:cNvPr id="20" name="Editable graphic"/>
          <p:cNvSpPr/>
          <p:nvPr/>
        </p:nvSpPr>
        <p:spPr>
          <a:xfrm>
            <a:off x="5102352" y="3483864"/>
            <a:ext cx="2724912" cy="457200"/>
          </a:xfrm>
          <a:prstGeom prst="roundRect">
            <a:avLst>
              <a:gd name="adj" fmla="val 14000"/>
            </a:avLst>
          </a:prstGeom>
          <a:solidFill>
            <a:srgbClr val="287078"/>
          </a:solidFill>
          <a:ln w="10795">
            <a:solidFill>
              <a:srgbClr val="28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NADPH / ROS"/>
          <p:cNvSpPr txBox="1"/>
          <p:nvPr/>
        </p:nvSpPr>
        <p:spPr>
          <a:xfrm>
            <a:off x="5202936" y="3483864"/>
            <a:ext cx="2523744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FFFFFF"/>
                </a:solidFill>
                <a:latin typeface="Noto Sans CJK SC"/>
                <a:ea typeface="Noto Sans CJK SC"/>
              </a:rPr>
              <a:t>NADPH / ROS</a:t>
            </a:r>
          </a:p>
        </p:txBody>
      </p:sp>
      <p:sp>
        <p:nvSpPr>
          <p:cNvPr id="22" name="Editable graphic"/>
          <p:cNvSpPr/>
          <p:nvPr/>
        </p:nvSpPr>
        <p:spPr>
          <a:xfrm>
            <a:off x="5138928" y="4050791"/>
            <a:ext cx="2651760" cy="9144"/>
          </a:xfrm>
          <a:prstGeom prst="rect">
            <a:avLst/>
          </a:prstGeom>
          <a:solidFill>
            <a:srgbClr val="435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线粒体功能与质量控制"/>
          <p:cNvSpPr txBox="1"/>
          <p:nvPr/>
        </p:nvSpPr>
        <p:spPr>
          <a:xfrm>
            <a:off x="4992624" y="4224528"/>
            <a:ext cx="2962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00000"/>
                </a:solidFill>
                <a:latin typeface="Noto Serif CJK SC"/>
                <a:ea typeface="Noto Serif CJK SC"/>
              </a:rPr>
              <a:t>线粒体功能与质量控制</a:t>
            </a:r>
          </a:p>
        </p:txBody>
      </p:sp>
      <p:sp>
        <p:nvSpPr>
          <p:cNvPr id="24" name="Mitochondrial quality-control background"/>
          <p:cNvSpPr/>
          <p:nvPr/>
        </p:nvSpPr>
        <p:spPr>
          <a:xfrm>
            <a:off x="5138928" y="4590288"/>
            <a:ext cx="2670048" cy="722376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graphic"/>
          <p:cNvSpPr/>
          <p:nvPr/>
        </p:nvSpPr>
        <p:spPr>
          <a:xfrm>
            <a:off x="5129784" y="4590288"/>
            <a:ext cx="18288" cy="722376"/>
          </a:xfrm>
          <a:prstGeom prst="rect">
            <a:avLst/>
          </a:prstGeom>
          <a:solidFill>
            <a:srgbClr val="83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graphic"/>
          <p:cNvSpPr/>
          <p:nvPr/>
        </p:nvSpPr>
        <p:spPr>
          <a:xfrm>
            <a:off x="7799831" y="4590288"/>
            <a:ext cx="18288" cy="722376"/>
          </a:xfrm>
          <a:prstGeom prst="rect">
            <a:avLst/>
          </a:prstGeom>
          <a:solidFill>
            <a:srgbClr val="83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Medical illustration: quality-mito" descr="quality-mito.png"/>
          <p:cNvPicPr>
            <a:picLocks noChangeAspect="1"/>
          </p:cNvPicPr>
          <p:nvPr/>
        </p:nvPicPr>
        <p:blipFill>
          <a:blip r:embed="rId4"/>
          <a:srcRect l="5224" r="5970" t="9677" b="9677"/>
          <a:stretch>
            <a:fillRect/>
          </a:stretch>
        </p:blipFill>
        <p:spPr>
          <a:xfrm>
            <a:off x="5931095" y="4599432"/>
            <a:ext cx="1158864" cy="649224"/>
          </a:xfrm>
          <a:prstGeom prst="rect">
            <a:avLst/>
          </a:prstGeom>
        </p:spPr>
      </p:pic>
      <p:sp>
        <p:nvSpPr>
          <p:cNvPr id="28" name="Osteocyte panel"/>
          <p:cNvSpPr/>
          <p:nvPr/>
        </p:nvSpPr>
        <p:spPr>
          <a:xfrm>
            <a:off x="8805672" y="2112264"/>
            <a:ext cx="3950208" cy="283464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20320">
            <a:solidFill>
              <a:srgbClr val="C9B5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机械卸载 → （通过机械敏感性）"/>
          <p:cNvSpPr txBox="1"/>
          <p:nvPr/>
        </p:nvSpPr>
        <p:spPr>
          <a:xfrm>
            <a:off x="9208008" y="2185416"/>
            <a:ext cx="33832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38" b="0">
                <a:solidFill>
                  <a:srgbClr val="000000"/>
                </a:solidFill>
                <a:latin typeface="Noto Serif CJK SC"/>
                <a:ea typeface="Noto Serif CJK SC"/>
              </a:rPr>
              <a:t>机械卸载 → （通过机械敏感性）</a:t>
            </a:r>
          </a:p>
        </p:txBody>
      </p:sp>
      <p:sp>
        <p:nvSpPr>
          <p:cNvPr id="30" name="Text: → 激活 HIF-1α/PDK1 → 引发代"/>
          <p:cNvSpPr txBox="1"/>
          <p:nvPr/>
        </p:nvSpPr>
        <p:spPr>
          <a:xfrm>
            <a:off x="9208008" y="2569464"/>
            <a:ext cx="33832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1" b="0">
                <a:solidFill>
                  <a:srgbClr val="000000"/>
                </a:solidFill>
                <a:latin typeface="Noto Serif CJK SC"/>
                <a:ea typeface="Noto Serif CJK SC"/>
              </a:rPr>
              <a:t>→ 激活 HIF-1α/PDK1 → 引发代</a:t>
            </a:r>
          </a:p>
        </p:txBody>
      </p:sp>
      <p:sp>
        <p:nvSpPr>
          <p:cNvPr id="31" name="Text: 谢转换（OXPHOS↓→糖酵解↑）"/>
          <p:cNvSpPr txBox="1"/>
          <p:nvPr/>
        </p:nvSpPr>
        <p:spPr>
          <a:xfrm>
            <a:off x="9208008" y="2953512"/>
            <a:ext cx="33832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1" b="0">
                <a:solidFill>
                  <a:srgbClr val="000000"/>
                </a:solidFill>
                <a:latin typeface="Noto Serif CJK SC"/>
                <a:ea typeface="Noto Serif CJK SC"/>
              </a:rPr>
              <a:t>谢转换（OXPHOS↓→糖酵解↑）</a:t>
            </a:r>
          </a:p>
        </p:txBody>
      </p:sp>
      <p:sp>
        <p:nvSpPr>
          <p:cNvPr id="32" name="Text: 与 Ca离子振荡"/>
          <p:cNvSpPr txBox="1"/>
          <p:nvPr/>
        </p:nvSpPr>
        <p:spPr>
          <a:xfrm>
            <a:off x="9208008" y="3337560"/>
            <a:ext cx="33832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Noto Serif CJK SC"/>
                <a:ea typeface="Noto Serif CJK SC"/>
              </a:rPr>
              <a:t>与 Ca离子振荡</a:t>
            </a:r>
          </a:p>
        </p:txBody>
      </p:sp>
      <p:pic>
        <p:nvPicPr>
          <p:cNvPr id="33" name="Medical illustration: osteocyte" descr="osteocyte.png"/>
          <p:cNvPicPr>
            <a:picLocks noChangeAspect="1"/>
          </p:cNvPicPr>
          <p:nvPr/>
        </p:nvPicPr>
        <p:blipFill>
          <a:blip r:embed="rId5"/>
          <a:srcRect l="4781" r="4582" t="9836" b="9836"/>
          <a:stretch>
            <a:fillRect/>
          </a:stretch>
        </p:blipFill>
        <p:spPr>
          <a:xfrm>
            <a:off x="9252748" y="3758184"/>
            <a:ext cx="2589711" cy="1115568"/>
          </a:xfrm>
          <a:prstGeom prst="rect">
            <a:avLst/>
          </a:prstGeom>
        </p:spPr>
      </p:pic>
      <p:sp>
        <p:nvSpPr>
          <p:cNvPr id="34" name="Editable graphic"/>
          <p:cNvSpPr/>
          <p:nvPr/>
        </p:nvSpPr>
        <p:spPr>
          <a:xfrm rot="20880000">
            <a:off x="11420856" y="4151376"/>
            <a:ext cx="603504" cy="210312"/>
          </a:xfrm>
          <a:prstGeom prst="rightArrow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3B575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ATP badge"/>
          <p:cNvSpPr/>
          <p:nvPr/>
        </p:nvSpPr>
        <p:spPr>
          <a:xfrm>
            <a:off x="11914632" y="3749039"/>
            <a:ext cx="685800" cy="429768"/>
          </a:xfrm>
          <a:prstGeom prst="ellipse">
            <a:avLst/>
          </a:prstGeom>
          <a:solidFill>
            <a:srgbClr val="7F9F43"/>
          </a:solidFill>
          <a:ln w="10795">
            <a:solidFill>
              <a:srgbClr val="455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ATP"/>
          <p:cNvSpPr txBox="1"/>
          <p:nvPr/>
        </p:nvSpPr>
        <p:spPr>
          <a:xfrm>
            <a:off x="11942064" y="3749039"/>
            <a:ext cx="630936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FFFFFF"/>
                </a:solidFill>
                <a:latin typeface="Noto Sans CJK SC"/>
                <a:ea typeface="Noto Sans CJK SC"/>
              </a:rPr>
              <a:t>ATP</a:t>
            </a:r>
          </a:p>
        </p:txBody>
      </p:sp>
      <p:sp>
        <p:nvSpPr>
          <p:cNvPr id="37" name="Text: Ca²⁺"/>
          <p:cNvSpPr txBox="1"/>
          <p:nvPr/>
        </p:nvSpPr>
        <p:spPr>
          <a:xfrm>
            <a:off x="11969496" y="4233672"/>
            <a:ext cx="850392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>
                <a:solidFill>
                  <a:srgbClr val="515151"/>
                </a:solidFill>
                <a:latin typeface="Noto Serif CJK SC"/>
                <a:ea typeface="Noto Serif CJK SC"/>
              </a:rPr>
              <a:t>Ca²⁺</a:t>
            </a:r>
          </a:p>
        </p:txBody>
      </p:sp>
      <p:sp>
        <p:nvSpPr>
          <p:cNvPr id="38" name="Editable graphic"/>
          <p:cNvSpPr/>
          <p:nvPr/>
        </p:nvSpPr>
        <p:spPr>
          <a:xfrm rot="13620000">
            <a:off x="2697480" y="5065776"/>
            <a:ext cx="438912" cy="192024"/>
          </a:xfrm>
          <a:prstGeom prst="rightArrow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CA4A6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graphic"/>
          <p:cNvSpPr/>
          <p:nvPr/>
        </p:nvSpPr>
        <p:spPr>
          <a:xfrm rot="18960000">
            <a:off x="9509760" y="5065776"/>
            <a:ext cx="448056" cy="192024"/>
          </a:xfrm>
          <a:prstGeom prst="rightArrow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E59A5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ower mitochondrial metabolism panel"/>
          <p:cNvSpPr/>
          <p:nvPr/>
        </p:nvSpPr>
        <p:spPr>
          <a:xfrm>
            <a:off x="2971800" y="5376672"/>
            <a:ext cx="6729984" cy="160020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20320">
            <a:solidFill>
              <a:srgbClr val="C9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线粒体生物发生导致"/>
          <p:cNvSpPr txBox="1"/>
          <p:nvPr/>
        </p:nvSpPr>
        <p:spPr>
          <a:xfrm>
            <a:off x="3081528" y="5605272"/>
            <a:ext cx="26060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Noto Serif CJK SC"/>
                <a:ea typeface="Noto Serif CJK SC"/>
              </a:rPr>
              <a:t>线粒体生物发生导致</a:t>
            </a:r>
          </a:p>
        </p:txBody>
      </p:sp>
      <p:sp>
        <p:nvSpPr>
          <p:cNvPr id="42" name="Text: TCA/OXPHOS功能增强"/>
          <p:cNvSpPr txBox="1"/>
          <p:nvPr/>
        </p:nvSpPr>
        <p:spPr>
          <a:xfrm>
            <a:off x="3081528" y="5998464"/>
            <a:ext cx="226771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>
                <a:solidFill>
                  <a:srgbClr val="000000"/>
                </a:solidFill>
                <a:latin typeface="Noto Serif CJK SC"/>
                <a:ea typeface="Noto Serif CJK SC"/>
              </a:rPr>
              <a:t>TCA/OXPHOS功能增强</a:t>
            </a:r>
          </a:p>
        </p:txBody>
      </p:sp>
      <p:pic>
        <p:nvPicPr>
          <p:cNvPr id="43" name="Medical illustration: osteoclast" descr="osteoclast.png"/>
          <p:cNvPicPr>
            <a:picLocks noChangeAspect="1"/>
          </p:cNvPicPr>
          <p:nvPr/>
        </p:nvPicPr>
        <p:blipFill>
          <a:blip r:embed="rId6"/>
          <a:srcRect l="4466" r="4660" t="8219" b="8219"/>
          <a:stretch>
            <a:fillRect/>
          </a:stretch>
        </p:blipFill>
        <p:spPr>
          <a:xfrm>
            <a:off x="5409500" y="5577840"/>
            <a:ext cx="1964311" cy="1024128"/>
          </a:xfrm>
          <a:prstGeom prst="rect">
            <a:avLst/>
          </a:prstGeom>
        </p:spPr>
      </p:pic>
      <p:pic>
        <p:nvPicPr>
          <p:cNvPr id="44" name="Medical illustration: small-mito" descr="small-mito.png"/>
          <p:cNvPicPr>
            <a:picLocks noChangeAspect="1"/>
          </p:cNvPicPr>
          <p:nvPr/>
        </p:nvPicPr>
        <p:blipFill>
          <a:blip r:embed="rId7"/>
          <a:srcRect l="7273" r="7273" t="11881" b="11881"/>
          <a:stretch>
            <a:fillRect/>
          </a:stretch>
        </p:blipFill>
        <p:spPr>
          <a:xfrm>
            <a:off x="4181598" y="6391656"/>
            <a:ext cx="853954" cy="466344"/>
          </a:xfrm>
          <a:prstGeom prst="rect">
            <a:avLst/>
          </a:prstGeom>
        </p:spPr>
      </p:pic>
      <p:sp>
        <p:nvSpPr>
          <p:cNvPr id="45" name="Editable graphic"/>
          <p:cNvSpPr/>
          <p:nvPr/>
        </p:nvSpPr>
        <p:spPr>
          <a:xfrm rot="9960000">
            <a:off x="5129784" y="6391656"/>
            <a:ext cx="548640" cy="182880"/>
          </a:xfrm>
          <a:prstGeom prst="rightArrow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54545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产出：ATP↑ 和 ROS"/>
          <p:cNvSpPr txBox="1"/>
          <p:nvPr/>
        </p:nvSpPr>
        <p:spPr>
          <a:xfrm>
            <a:off x="6336792" y="6537960"/>
            <a:ext cx="2048256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8" b="0">
                <a:solidFill>
                  <a:srgbClr val="000000"/>
                </a:solidFill>
                <a:latin typeface="Noto Serif CJK SC"/>
                <a:ea typeface="Noto Serif CJK SC"/>
              </a:rPr>
              <a:t>产出：ATP↑ 和 ROS</a:t>
            </a:r>
          </a:p>
        </p:txBody>
      </p:sp>
      <p:pic>
        <p:nvPicPr>
          <p:cNvPr id="47" name="Medical illustration: ros-bubbles" descr="ros-bubbles.png"/>
          <p:cNvPicPr>
            <a:picLocks noChangeAspect="1"/>
          </p:cNvPicPr>
          <p:nvPr/>
        </p:nvPicPr>
        <p:blipFill>
          <a:blip r:embed="rId8"/>
          <a:srcRect l="10667" r="10667" t="13043" b="13043"/>
          <a:stretch>
            <a:fillRect/>
          </a:stretch>
        </p:blipFill>
        <p:spPr>
          <a:xfrm>
            <a:off x="8381081" y="6446520"/>
            <a:ext cx="547429" cy="420624"/>
          </a:xfrm>
          <a:prstGeom prst="rect">
            <a:avLst/>
          </a:prstGeom>
        </p:spPr>
      </p:pic>
      <p:sp>
        <p:nvSpPr>
          <p:cNvPr id="48" name="Editable ROS badge"/>
          <p:cNvSpPr/>
          <p:nvPr/>
        </p:nvSpPr>
        <p:spPr>
          <a:xfrm>
            <a:off x="8897112" y="6053328"/>
            <a:ext cx="539496" cy="438912"/>
          </a:xfrm>
          <a:prstGeom prst="ellipse">
            <a:avLst/>
          </a:prstGeom>
          <a:solidFill>
            <a:srgbClr val="DD3B39"/>
          </a:solidFill>
          <a:ln w="10795">
            <a:solidFill>
              <a:srgbClr val="AA2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ROS"/>
          <p:cNvSpPr txBox="1"/>
          <p:nvPr/>
        </p:nvSpPr>
        <p:spPr>
          <a:xfrm>
            <a:off x="8915400" y="6062472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3" b="1">
                <a:solidFill>
                  <a:srgbClr val="FFFFFF"/>
                </a:solidFill>
                <a:latin typeface="Noto Sans CJK SC"/>
                <a:ea typeface="Noto Sans CJK SC"/>
              </a:rPr>
              <a:t>ROS</a:t>
            </a:r>
          </a:p>
        </p:txBody>
      </p:sp>
      <p:sp>
        <p:nvSpPr>
          <p:cNvPr id="50" name="Editable graphic"/>
          <p:cNvSpPr/>
          <p:nvPr/>
        </p:nvSpPr>
        <p:spPr>
          <a:xfrm rot="18360000">
            <a:off x="8906256" y="6519672"/>
            <a:ext cx="274320" cy="173736"/>
          </a:xfrm>
          <a:prstGeom prst="rightArrow">
            <a:avLst/>
          </a:prstGeom>
          <a:ln>
            <a:noFill/>
          </a:ln>
          <a:gradFill>
            <a:gsLst>
              <a:gs pos="0">
                <a:srgbClr val="FFFFFF"/>
              </a:gs>
              <a:gs pos="100000">
                <a:srgbClr val="58576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outcome arrow"/>
          <p:cNvSpPr/>
          <p:nvPr/>
        </p:nvSpPr>
        <p:spPr>
          <a:xfrm>
            <a:off x="6236208" y="7040880"/>
            <a:ext cx="466344" cy="411480"/>
          </a:xfrm>
          <a:prstGeom prst="downArrow">
            <a:avLst/>
          </a:prstGeom>
          <a:ln>
            <a:noFill/>
          </a:ln>
          <a:gradFill>
            <a:gsLst>
              <a:gs pos="0">
                <a:srgbClr val="BCCDD9"/>
              </a:gs>
              <a:gs pos="100000">
                <a:srgbClr val="3A647B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成骨减弱，破骨增强"/>
          <p:cNvSpPr txBox="1"/>
          <p:nvPr/>
        </p:nvSpPr>
        <p:spPr>
          <a:xfrm>
            <a:off x="4187952" y="7461504"/>
            <a:ext cx="4562856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311" b="0">
                <a:solidFill>
                  <a:srgbClr val="000000"/>
                </a:solidFill>
                <a:latin typeface="Noto Serif CJK SC"/>
                <a:ea typeface="Noto Serif CJK SC"/>
              </a:rPr>
              <a:t>成骨减弱，破骨增强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