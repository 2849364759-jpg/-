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240512" cy="99303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根据用户原图重建。阶段三保留为后续补充，不作为已完成实验。文字、框线、流程箭头、反馈路径均原生可编辑；小图标为独立图片素材。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研究技术路线图"/>
          <p:cNvSpPr txBox="1"/>
          <p:nvPr/>
        </p:nvSpPr>
        <p:spPr>
          <a:xfrm>
            <a:off x="3666744" y="36576"/>
            <a:ext cx="5852160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95" b="1">
                <a:solidFill>
                  <a:srgbClr val="071D3C"/>
                </a:solidFill>
                <a:latin typeface="Noto Sans CJK SC"/>
                <a:ea typeface="Noto Sans CJK SC"/>
              </a:rPr>
              <a:t>研究技术路线图</a:t>
            </a:r>
          </a:p>
        </p:txBody>
      </p:sp>
      <p:sp>
        <p:nvSpPr>
          <p:cNvPr id="3" name="筋骨蠲痹方改善高海拔模拟环境下成骨细胞损伤的作用及其与Fam162a的关联研究"/>
          <p:cNvSpPr txBox="1"/>
          <p:nvPr/>
        </p:nvSpPr>
        <p:spPr>
          <a:xfrm>
            <a:off x="2770632" y="502920"/>
            <a:ext cx="7726679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38517E"/>
                </a:solidFill>
                <a:latin typeface="Noto Sans CJK SC"/>
                <a:ea typeface="Noto Sans CJK SC"/>
              </a:rPr>
              <a:t>筋骨蠲痹方改善高海拔模拟环境下成骨细胞损伤的作用及其与Fam162a的关联研究</a:t>
            </a:r>
          </a:p>
        </p:txBody>
      </p:sp>
      <p:sp>
        <p:nvSpPr>
          <p:cNvPr id="4" name="阶段一面板"/>
          <p:cNvSpPr/>
          <p:nvPr/>
        </p:nvSpPr>
        <p:spPr>
          <a:xfrm>
            <a:off x="292608" y="804672"/>
            <a:ext cx="12655296" cy="1271016"/>
          </a:xfrm>
          <a:prstGeom prst="roundRect">
            <a:avLst>
              <a:gd name="adj" fmla="val 7194"/>
            </a:avLst>
          </a:prstGeom>
          <a:solidFill>
            <a:srgbClr val="EDF6FF"/>
          </a:solidFill>
          <a:ln w="12065">
            <a:solidFill>
              <a:srgbClr val="AE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阶段一标签"/>
          <p:cNvSpPr/>
          <p:nvPr/>
        </p:nvSpPr>
        <p:spPr>
          <a:xfrm>
            <a:off x="402336" y="859536"/>
            <a:ext cx="804672" cy="274320"/>
          </a:xfrm>
          <a:prstGeom prst="roundRect">
            <a:avLst>
              <a:gd name="adj" fmla="val 50000"/>
            </a:avLst>
          </a:prstGeom>
          <a:solidFill>
            <a:srgbClr val="25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阶段一"/>
          <p:cNvSpPr txBox="1"/>
          <p:nvPr/>
        </p:nvSpPr>
        <p:spPr>
          <a:xfrm>
            <a:off x="475488" y="877824"/>
            <a:ext cx="685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>
                <a:solidFill>
                  <a:srgbClr val="FFFFFF"/>
                </a:solidFill>
                <a:latin typeface="Noto Sans CJK SC"/>
                <a:ea typeface="Noto Sans CJK SC"/>
              </a:rPr>
              <a:t>阶段一</a:t>
            </a:r>
          </a:p>
        </p:txBody>
      </p:sp>
      <p:sp>
        <p:nvSpPr>
          <p:cNvPr id="7" name="生物信息学分析（前期基础）"/>
          <p:cNvSpPr txBox="1"/>
          <p:nvPr/>
        </p:nvSpPr>
        <p:spPr>
          <a:xfrm>
            <a:off x="1307592" y="859536"/>
            <a:ext cx="448056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05328D"/>
                </a:solidFill>
                <a:latin typeface="Noto Sans CJK SC"/>
                <a:ea typeface="Noto Sans CJK SC"/>
              </a:rPr>
              <a:t>生物信息学分析（前期基础）</a:t>
            </a:r>
          </a:p>
        </p:txBody>
      </p:sp>
      <p:sp>
        <p:nvSpPr>
          <p:cNvPr id="8" name="前期测序数据"/>
          <p:cNvSpPr/>
          <p:nvPr/>
        </p:nvSpPr>
        <p:spPr>
          <a:xfrm>
            <a:off x="594360" y="1216152"/>
            <a:ext cx="3493008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065">
            <a:solidFill>
              <a:srgbClr val="AE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图标底板"/>
          <p:cNvSpPr/>
          <p:nvPr/>
        </p:nvSpPr>
        <p:spPr>
          <a:xfrm>
            <a:off x="1179576" y="1298448"/>
            <a:ext cx="731520" cy="557784"/>
          </a:xfrm>
          <a:prstGeom prst="roundRect">
            <a:avLst>
              <a:gd name="adj" fmla="val 21311"/>
            </a:avLst>
          </a:prstGeom>
          <a:solidFill>
            <a:srgbClr val="E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独立图标_monitor" descr="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119" y="1344168"/>
            <a:ext cx="523577" cy="466344"/>
          </a:xfrm>
          <a:prstGeom prst="rect">
            <a:avLst/>
          </a:prstGeom>
        </p:spPr>
      </p:pic>
      <p:sp>
        <p:nvSpPr>
          <p:cNvPr id="11" name="前期测序数据"/>
          <p:cNvSpPr txBox="1"/>
          <p:nvPr/>
        </p:nvSpPr>
        <p:spPr>
          <a:xfrm>
            <a:off x="2139696" y="1325880"/>
            <a:ext cx="1837943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>
                <a:solidFill>
                  <a:srgbClr val="081E54"/>
                </a:solidFill>
                <a:latin typeface="Noto Sans CJK SC"/>
                <a:ea typeface="Noto Sans CJK SC"/>
              </a:rPr>
              <a:t>前期测序数据</a:t>
            </a:r>
          </a:p>
        </p:txBody>
      </p:sp>
      <p:sp>
        <p:nvSpPr>
          <p:cNvPr id="12" name="4500 m损伤模型已验证"/>
          <p:cNvSpPr txBox="1"/>
          <p:nvPr/>
        </p:nvSpPr>
        <p:spPr>
          <a:xfrm>
            <a:off x="2139696" y="1600200"/>
            <a:ext cx="1837943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375B87"/>
                </a:solidFill>
                <a:latin typeface="Noto Sans CJK SC"/>
                <a:ea typeface="Noto Sans CJK SC"/>
              </a:rPr>
              <a:t>4500 m损伤模型已验证</a:t>
            </a:r>
          </a:p>
        </p:txBody>
      </p:sp>
      <p:sp>
        <p:nvSpPr>
          <p:cNvPr id="13" name="流程箭头"/>
          <p:cNvSpPr/>
          <p:nvPr/>
        </p:nvSpPr>
        <p:spPr>
          <a:xfrm>
            <a:off x="4087368" y="1481328"/>
            <a:ext cx="676656" cy="173736"/>
          </a:xfrm>
          <a:prstGeom prst="rightArrow">
            <a:avLst>
              <a:gd name="adj1" fmla="val 20000"/>
              <a:gd name="adj2" fmla="val 50000"/>
            </a:avLst>
          </a:prstGeom>
          <a:solidFill>
            <a:srgbClr val="426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生物信息学分析"/>
          <p:cNvSpPr/>
          <p:nvPr/>
        </p:nvSpPr>
        <p:spPr>
          <a:xfrm>
            <a:off x="4773168" y="1207008"/>
            <a:ext cx="3694176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065">
            <a:solidFill>
              <a:srgbClr val="AE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图标底板"/>
          <p:cNvSpPr/>
          <p:nvPr/>
        </p:nvSpPr>
        <p:spPr>
          <a:xfrm>
            <a:off x="5358384" y="1289304"/>
            <a:ext cx="731520" cy="557784"/>
          </a:xfrm>
          <a:prstGeom prst="roundRect">
            <a:avLst>
              <a:gd name="adj" fmla="val 21311"/>
            </a:avLst>
          </a:prstGeom>
          <a:solidFill>
            <a:srgbClr val="E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独立图标_bars" descr="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235" y="1335024"/>
            <a:ext cx="470961" cy="466344"/>
          </a:xfrm>
          <a:prstGeom prst="rect">
            <a:avLst/>
          </a:prstGeom>
        </p:spPr>
      </p:pic>
      <p:sp>
        <p:nvSpPr>
          <p:cNvPr id="17" name="生物信息学分析"/>
          <p:cNvSpPr txBox="1"/>
          <p:nvPr/>
        </p:nvSpPr>
        <p:spPr>
          <a:xfrm>
            <a:off x="6318504" y="1316736"/>
            <a:ext cx="203911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>
                <a:solidFill>
                  <a:srgbClr val="081E54"/>
                </a:solidFill>
                <a:latin typeface="Noto Sans CJK SC"/>
                <a:ea typeface="Noto Sans CJK SC"/>
              </a:rPr>
              <a:t>生物信息学分析</a:t>
            </a:r>
          </a:p>
        </p:txBody>
      </p:sp>
      <p:sp>
        <p:nvSpPr>
          <p:cNvPr id="18" name="差异表达分析·富集分析·核心基因筛选"/>
          <p:cNvSpPr txBox="1"/>
          <p:nvPr/>
        </p:nvSpPr>
        <p:spPr>
          <a:xfrm>
            <a:off x="6318504" y="1591056"/>
            <a:ext cx="2039112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375B87"/>
                </a:solidFill>
                <a:latin typeface="Noto Sans CJK SC"/>
                <a:ea typeface="Noto Sans CJK SC"/>
              </a:rPr>
              <a:t>差异表达分析·富集分析·核心基因筛选</a:t>
            </a:r>
          </a:p>
        </p:txBody>
      </p:sp>
      <p:sp>
        <p:nvSpPr>
          <p:cNvPr id="19" name="流程箭头"/>
          <p:cNvSpPr/>
          <p:nvPr/>
        </p:nvSpPr>
        <p:spPr>
          <a:xfrm>
            <a:off x="8467344" y="1481328"/>
            <a:ext cx="685800" cy="173736"/>
          </a:xfrm>
          <a:prstGeom prst="rightArrow">
            <a:avLst>
              <a:gd name="adj1" fmla="val 20000"/>
              <a:gd name="adj2" fmla="val 50000"/>
            </a:avLst>
          </a:prstGeom>
          <a:solidFill>
            <a:srgbClr val="426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候选核心基因Fam162a"/>
          <p:cNvSpPr/>
          <p:nvPr/>
        </p:nvSpPr>
        <p:spPr>
          <a:xfrm>
            <a:off x="9162288" y="1207008"/>
            <a:ext cx="3438144" cy="722376"/>
          </a:xfrm>
          <a:prstGeom prst="roundRect">
            <a:avLst>
              <a:gd name="adj" fmla="val 12658"/>
            </a:avLst>
          </a:prstGeom>
          <a:solidFill>
            <a:srgbClr val="FFF0EF"/>
          </a:solidFill>
          <a:ln w="12065">
            <a:solidFill>
              <a:srgbClr val="FF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独立图标_dna_red" descr="dna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8814" y="1271016"/>
            <a:ext cx="491778" cy="585216"/>
          </a:xfrm>
          <a:prstGeom prst="rect">
            <a:avLst/>
          </a:prstGeom>
        </p:spPr>
      </p:pic>
      <p:sp>
        <p:nvSpPr>
          <p:cNvPr id="22" name="候选核心基因"/>
          <p:cNvSpPr txBox="1"/>
          <p:nvPr/>
        </p:nvSpPr>
        <p:spPr>
          <a:xfrm>
            <a:off x="10707624" y="1216152"/>
            <a:ext cx="1673352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>
                <a:solidFill>
                  <a:srgbClr val="A70000"/>
                </a:solidFill>
                <a:latin typeface="Noto Sans CJK SC"/>
                <a:ea typeface="Noto Sans CJK SC"/>
              </a:rPr>
              <a:t>候选核心基因</a:t>
            </a:r>
          </a:p>
        </p:txBody>
      </p:sp>
      <p:sp>
        <p:nvSpPr>
          <p:cNvPr id="23" name="表达上调标签"/>
          <p:cNvSpPr/>
          <p:nvPr/>
        </p:nvSpPr>
        <p:spPr>
          <a:xfrm>
            <a:off x="10725912" y="1453896"/>
            <a:ext cx="950976" cy="201168"/>
          </a:xfrm>
          <a:prstGeom prst="roundRect">
            <a:avLst>
              <a:gd name="adj" fmla="val 50000"/>
            </a:avLst>
          </a:prstGeom>
          <a:solidFill>
            <a:srgbClr val="CA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表达上调"/>
          <p:cNvSpPr txBox="1"/>
          <p:nvPr/>
        </p:nvSpPr>
        <p:spPr>
          <a:xfrm>
            <a:off x="10799064" y="1453896"/>
            <a:ext cx="813816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Noto Sans CJK SC"/>
                <a:ea typeface="Noto Sans CJK SC"/>
              </a:rPr>
              <a:t>表达上调</a:t>
            </a:r>
          </a:p>
        </p:txBody>
      </p:sp>
      <p:sp>
        <p:nvSpPr>
          <p:cNvPr id="25" name="Fam162a"/>
          <p:cNvSpPr txBox="1"/>
          <p:nvPr/>
        </p:nvSpPr>
        <p:spPr>
          <a:xfrm>
            <a:off x="10707624" y="1664208"/>
            <a:ext cx="16459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E10000"/>
                </a:solidFill>
                <a:latin typeface="Noto Sans CJK SC"/>
                <a:ea typeface="Noto Sans CJK SC"/>
              </a:rPr>
              <a:t>Fam162a</a:t>
            </a:r>
          </a:p>
        </p:txBody>
      </p:sp>
      <p:sp>
        <p:nvSpPr>
          <p:cNvPr id="26" name="流程向下箭头"/>
          <p:cNvSpPr/>
          <p:nvPr/>
        </p:nvSpPr>
        <p:spPr>
          <a:xfrm>
            <a:off x="6537960" y="2048256"/>
            <a:ext cx="173736" cy="192024"/>
          </a:xfrm>
          <a:prstGeom prst="downArrow">
            <a:avLst>
              <a:gd name="adj1" fmla="val 20000"/>
              <a:gd name="adj2" fmla="val 50000"/>
            </a:avLst>
          </a:prstGeom>
          <a:solidFill>
            <a:srgbClr val="426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阶段二面板"/>
          <p:cNvSpPr/>
          <p:nvPr/>
        </p:nvSpPr>
        <p:spPr>
          <a:xfrm>
            <a:off x="283464" y="2203704"/>
            <a:ext cx="12664440" cy="5202936"/>
          </a:xfrm>
          <a:prstGeom prst="roundRect">
            <a:avLst>
              <a:gd name="adj" fmla="val 1757"/>
            </a:avLst>
          </a:prstGeom>
          <a:solidFill>
            <a:srgbClr val="F0FAFF"/>
          </a:solidFill>
          <a:ln w="12065">
            <a:solidFill>
              <a:srgbClr val="B4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阶段二标签"/>
          <p:cNvSpPr/>
          <p:nvPr/>
        </p:nvSpPr>
        <p:spPr>
          <a:xfrm>
            <a:off x="402336" y="2276856"/>
            <a:ext cx="804672" cy="274320"/>
          </a:xfrm>
          <a:prstGeom prst="roundRect">
            <a:avLst>
              <a:gd name="adj" fmla="val 50000"/>
            </a:avLst>
          </a:prstGeom>
          <a:solidFill>
            <a:srgbClr val="31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阶段二"/>
          <p:cNvSpPr txBox="1"/>
          <p:nvPr/>
        </p:nvSpPr>
        <p:spPr>
          <a:xfrm>
            <a:off x="475488" y="2295144"/>
            <a:ext cx="685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>
                <a:solidFill>
                  <a:srgbClr val="FFFFFF"/>
                </a:solidFill>
                <a:latin typeface="Noto Sans CJK SC"/>
                <a:ea typeface="Noto Sans CJK SC"/>
              </a:rPr>
              <a:t>阶段二</a:t>
            </a:r>
          </a:p>
        </p:txBody>
      </p:sp>
      <p:sp>
        <p:nvSpPr>
          <p:cNvPr id="30" name="体外实验：含药血清制备与药效验证（本研究主体）"/>
          <p:cNvSpPr txBox="1"/>
          <p:nvPr/>
        </p:nvSpPr>
        <p:spPr>
          <a:xfrm>
            <a:off x="1307592" y="2258568"/>
            <a:ext cx="8101583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052A88"/>
                </a:solidFill>
                <a:latin typeface="Noto Sans CJK SC"/>
                <a:ea typeface="Noto Sans CJK SC"/>
              </a:rPr>
              <a:t>体外实验：含药血清制备与药效验证（本研究主体）</a:t>
            </a:r>
          </a:p>
        </p:txBody>
      </p:sp>
      <p:sp>
        <p:nvSpPr>
          <p:cNvPr id="31" name="筋骨蠲痹方"/>
          <p:cNvSpPr/>
          <p:nvPr/>
        </p:nvSpPr>
        <p:spPr>
          <a:xfrm>
            <a:off x="548640" y="2606040"/>
            <a:ext cx="2651760" cy="667512"/>
          </a:xfrm>
          <a:prstGeom prst="roundRect">
            <a:avLst>
              <a:gd name="adj" fmla="val 13698"/>
            </a:avLst>
          </a:prstGeom>
          <a:solidFill>
            <a:srgbClr val="FFFFFF"/>
          </a:solidFill>
          <a:ln w="12065">
            <a:solidFill>
              <a:srgbClr val="AE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图标底板"/>
          <p:cNvSpPr/>
          <p:nvPr/>
        </p:nvSpPr>
        <p:spPr>
          <a:xfrm>
            <a:off x="832104" y="2688336"/>
            <a:ext cx="731520" cy="502920"/>
          </a:xfrm>
          <a:prstGeom prst="roundRect">
            <a:avLst>
              <a:gd name="adj" fmla="val 23636"/>
            </a:avLst>
          </a:prstGeom>
          <a:solidFill>
            <a:srgbClr val="E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独立图标_mortar" descr="mor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599" y="2734056"/>
            <a:ext cx="467673" cy="411480"/>
          </a:xfrm>
          <a:prstGeom prst="rect">
            <a:avLst/>
          </a:prstGeom>
        </p:spPr>
      </p:pic>
      <p:sp>
        <p:nvSpPr>
          <p:cNvPr id="34" name="筋骨蠲痹方"/>
          <p:cNvSpPr txBox="1"/>
          <p:nvPr/>
        </p:nvSpPr>
        <p:spPr>
          <a:xfrm>
            <a:off x="1709928" y="2715768"/>
            <a:ext cx="1380744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081E54"/>
                </a:solidFill>
                <a:latin typeface="Noto Sans CJK SC"/>
                <a:ea typeface="Noto Sans CJK SC"/>
              </a:rPr>
              <a:t>筋骨蠲痹方</a:t>
            </a:r>
          </a:p>
        </p:txBody>
      </p:sp>
      <p:sp>
        <p:nvSpPr>
          <p:cNvPr id="35" name="流程箭头"/>
          <p:cNvSpPr/>
          <p:nvPr/>
        </p:nvSpPr>
        <p:spPr>
          <a:xfrm>
            <a:off x="3200400" y="2852928"/>
            <a:ext cx="310896" cy="173736"/>
          </a:xfrm>
          <a:prstGeom prst="rightArrow">
            <a:avLst>
              <a:gd name="adj1" fmla="val 20000"/>
              <a:gd name="adj2" fmla="val 50000"/>
            </a:avLst>
          </a:prstGeom>
          <a:solidFill>
            <a:srgbClr val="426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动物灌胃·制备血清"/>
          <p:cNvSpPr/>
          <p:nvPr/>
        </p:nvSpPr>
        <p:spPr>
          <a:xfrm>
            <a:off x="3511296" y="2606040"/>
            <a:ext cx="2880360" cy="667512"/>
          </a:xfrm>
          <a:prstGeom prst="roundRect">
            <a:avLst>
              <a:gd name="adj" fmla="val 13698"/>
            </a:avLst>
          </a:prstGeom>
          <a:solidFill>
            <a:srgbClr val="FFFFFF"/>
          </a:solidFill>
          <a:ln w="12065">
            <a:solidFill>
              <a:srgbClr val="AE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图标底板"/>
          <p:cNvSpPr/>
          <p:nvPr/>
        </p:nvSpPr>
        <p:spPr>
          <a:xfrm>
            <a:off x="3794760" y="2688336"/>
            <a:ext cx="731520" cy="502920"/>
          </a:xfrm>
          <a:prstGeom prst="roundRect">
            <a:avLst>
              <a:gd name="adj" fmla="val 23636"/>
            </a:avLst>
          </a:prstGeom>
          <a:solidFill>
            <a:srgbClr val="E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独立图标_mouse" descr="mo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056" y="2761773"/>
            <a:ext cx="576072" cy="356044"/>
          </a:xfrm>
          <a:prstGeom prst="rect">
            <a:avLst/>
          </a:prstGeom>
        </p:spPr>
      </p:pic>
      <p:sp>
        <p:nvSpPr>
          <p:cNvPr id="39" name="动物灌胃·制备血清"/>
          <p:cNvSpPr txBox="1"/>
          <p:nvPr/>
        </p:nvSpPr>
        <p:spPr>
          <a:xfrm>
            <a:off x="4672584" y="2715768"/>
            <a:ext cx="1609344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081E54"/>
                </a:solidFill>
                <a:latin typeface="Noto Sans CJK SC"/>
                <a:ea typeface="Noto Sans CJK SC"/>
              </a:rPr>
              <a:t>动物灌胃·制备血清</a:t>
            </a:r>
          </a:p>
        </p:txBody>
      </p:sp>
      <p:sp>
        <p:nvSpPr>
          <p:cNvPr id="40" name="含药血清 / 空白血清"/>
          <p:cNvSpPr txBox="1"/>
          <p:nvPr/>
        </p:nvSpPr>
        <p:spPr>
          <a:xfrm>
            <a:off x="4672584" y="2990088"/>
            <a:ext cx="1609344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375B87"/>
                </a:solidFill>
                <a:latin typeface="Noto Sans CJK SC"/>
                <a:ea typeface="Noto Sans CJK SC"/>
              </a:rPr>
              <a:t>含药血清 / 空白血清</a:t>
            </a:r>
          </a:p>
        </p:txBody>
      </p:sp>
      <p:sp>
        <p:nvSpPr>
          <p:cNvPr id="41" name="流程箭头"/>
          <p:cNvSpPr/>
          <p:nvPr/>
        </p:nvSpPr>
        <p:spPr>
          <a:xfrm>
            <a:off x="6391656" y="2852928"/>
            <a:ext cx="301752" cy="173736"/>
          </a:xfrm>
          <a:prstGeom prst="rightArrow">
            <a:avLst>
              <a:gd name="adj1" fmla="val 20000"/>
              <a:gd name="adj2" fmla="val 50000"/>
            </a:avLst>
          </a:prstGeom>
          <a:solidFill>
            <a:srgbClr val="426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浓度梯度筛选"/>
          <p:cNvSpPr/>
          <p:nvPr/>
        </p:nvSpPr>
        <p:spPr>
          <a:xfrm>
            <a:off x="6693408" y="2606040"/>
            <a:ext cx="2752344" cy="667512"/>
          </a:xfrm>
          <a:prstGeom prst="roundRect">
            <a:avLst>
              <a:gd name="adj" fmla="val 13698"/>
            </a:avLst>
          </a:prstGeom>
          <a:solidFill>
            <a:srgbClr val="FFFFFF"/>
          </a:solidFill>
          <a:ln w="12065">
            <a:solidFill>
              <a:srgbClr val="AE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图标底板"/>
          <p:cNvSpPr/>
          <p:nvPr/>
        </p:nvSpPr>
        <p:spPr>
          <a:xfrm>
            <a:off x="6976872" y="2688336"/>
            <a:ext cx="731520" cy="502920"/>
          </a:xfrm>
          <a:prstGeom prst="roundRect">
            <a:avLst>
              <a:gd name="adj" fmla="val 23636"/>
            </a:avLst>
          </a:prstGeom>
          <a:solidFill>
            <a:srgbClr val="E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独立图标_tubes" descr="tub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1931" y="2734056"/>
            <a:ext cx="470544" cy="411480"/>
          </a:xfrm>
          <a:prstGeom prst="rect">
            <a:avLst/>
          </a:prstGeom>
        </p:spPr>
      </p:pic>
      <p:sp>
        <p:nvSpPr>
          <p:cNvPr id="45" name="浓度梯度筛选"/>
          <p:cNvSpPr txBox="1"/>
          <p:nvPr/>
        </p:nvSpPr>
        <p:spPr>
          <a:xfrm>
            <a:off x="7854696" y="2715768"/>
            <a:ext cx="148132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>
                <a:solidFill>
                  <a:srgbClr val="081E54"/>
                </a:solidFill>
                <a:latin typeface="Noto Sans CJK SC"/>
                <a:ea typeface="Noto Sans CJK SC"/>
              </a:rPr>
              <a:t>浓度梯度筛选</a:t>
            </a:r>
          </a:p>
        </p:txBody>
      </p:sp>
      <p:sp>
        <p:nvSpPr>
          <p:cNvPr id="46" name="5% / 10% / 15% · CCK-8"/>
          <p:cNvSpPr txBox="1"/>
          <p:nvPr/>
        </p:nvSpPr>
        <p:spPr>
          <a:xfrm>
            <a:off x="7854696" y="2990088"/>
            <a:ext cx="148132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76" b="0">
                <a:solidFill>
                  <a:srgbClr val="375B87"/>
                </a:solidFill>
                <a:latin typeface="Noto Sans CJK SC"/>
                <a:ea typeface="Noto Sans CJK SC"/>
              </a:rPr>
              <a:t>5% / 10% / 15% · CCK-8</a:t>
            </a:r>
          </a:p>
        </p:txBody>
      </p:sp>
      <p:sp>
        <p:nvSpPr>
          <p:cNvPr id="47" name="流程箭头"/>
          <p:cNvSpPr/>
          <p:nvPr/>
        </p:nvSpPr>
        <p:spPr>
          <a:xfrm>
            <a:off x="9445752" y="2852928"/>
            <a:ext cx="402336" cy="173736"/>
          </a:xfrm>
          <a:prstGeom prst="rightArrow">
            <a:avLst>
              <a:gd name="adj1" fmla="val 20000"/>
              <a:gd name="adj2" fmla="val 50000"/>
            </a:avLst>
          </a:prstGeom>
          <a:solidFill>
            <a:srgbClr val="426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最佳浓度含药血清"/>
          <p:cNvSpPr/>
          <p:nvPr/>
        </p:nvSpPr>
        <p:spPr>
          <a:xfrm>
            <a:off x="9857232" y="2606040"/>
            <a:ext cx="2825496" cy="667512"/>
          </a:xfrm>
          <a:prstGeom prst="roundRect">
            <a:avLst>
              <a:gd name="adj" fmla="val 13698"/>
            </a:avLst>
          </a:prstGeom>
          <a:solidFill>
            <a:srgbClr val="E6F5F1"/>
          </a:solidFill>
          <a:ln w="12065">
            <a:solidFill>
              <a:srgbClr val="00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独立图标_greenbars" descr="greenba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2680" y="2688336"/>
            <a:ext cx="507551" cy="521207"/>
          </a:xfrm>
          <a:prstGeom prst="rect">
            <a:avLst/>
          </a:prstGeom>
        </p:spPr>
      </p:pic>
      <p:sp>
        <p:nvSpPr>
          <p:cNvPr id="50" name="最佳浓度含药血清"/>
          <p:cNvSpPr txBox="1"/>
          <p:nvPr/>
        </p:nvSpPr>
        <p:spPr>
          <a:xfrm>
            <a:off x="10945368" y="2761488"/>
            <a:ext cx="1645920" cy="3383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1">
                <a:solidFill>
                  <a:srgbClr val="007F70"/>
                </a:solidFill>
                <a:latin typeface="Noto Sans CJK SC"/>
                <a:ea typeface="Noto Sans CJK SC"/>
              </a:rPr>
              <a:t>最佳浓度含药血清</a:t>
            </a:r>
          </a:p>
        </p:txBody>
      </p:sp>
      <p:sp>
        <p:nvSpPr>
          <p:cNvPr id="51" name="正式实验分组标签"/>
          <p:cNvSpPr/>
          <p:nvPr/>
        </p:nvSpPr>
        <p:spPr>
          <a:xfrm>
            <a:off x="4882896" y="3355848"/>
            <a:ext cx="3465576" cy="265176"/>
          </a:xfrm>
          <a:prstGeom prst="roundRect">
            <a:avLst>
              <a:gd name="adj" fmla="val 4827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正式实验分组（MC3T3-E1 · 3组）"/>
          <p:cNvSpPr txBox="1"/>
          <p:nvPr/>
        </p:nvSpPr>
        <p:spPr>
          <a:xfrm>
            <a:off x="5010912" y="3355848"/>
            <a:ext cx="3209544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79" b="1">
                <a:solidFill>
                  <a:srgbClr val="072E95"/>
                </a:solidFill>
                <a:latin typeface="Noto Sans CJK SC"/>
                <a:ea typeface="Noto Sans CJK SC"/>
              </a:rPr>
              <a:t>正式实验分组（MC3T3-E1 · 3组）</a:t>
            </a:r>
          </a:p>
        </p:txBody>
      </p:sp>
      <p:sp>
        <p:nvSpPr>
          <p:cNvPr id="53" name="正常对照组"/>
          <p:cNvSpPr/>
          <p:nvPr/>
        </p:nvSpPr>
        <p:spPr>
          <a:xfrm>
            <a:off x="548640" y="3657600"/>
            <a:ext cx="3813048" cy="868680"/>
          </a:xfrm>
          <a:prstGeom prst="roundRect">
            <a:avLst>
              <a:gd name="adj" fmla="val 10526"/>
            </a:avLst>
          </a:prstGeom>
          <a:solidFill>
            <a:srgbClr val="EFF7EF"/>
          </a:solidFill>
          <a:ln w="12065">
            <a:solidFill>
              <a:srgbClr val="8EB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独立图标_dish" descr="dis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0406" y="3913632"/>
            <a:ext cx="573827" cy="365760"/>
          </a:xfrm>
          <a:prstGeom prst="rect">
            <a:avLst/>
          </a:prstGeom>
        </p:spPr>
      </p:pic>
      <p:sp>
        <p:nvSpPr>
          <p:cNvPr id="55" name="① 正常对照组"/>
          <p:cNvSpPr txBox="1"/>
          <p:nvPr/>
        </p:nvSpPr>
        <p:spPr>
          <a:xfrm>
            <a:off x="2020824" y="3767328"/>
            <a:ext cx="2212848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101B4B"/>
                </a:solidFill>
                <a:latin typeface="Noto Sans CJK SC"/>
                <a:ea typeface="Noto Sans CJK SC"/>
              </a:rPr>
              <a:t>① 正常对照组</a:t>
            </a:r>
          </a:p>
        </p:txBody>
      </p:sp>
      <p:sp>
        <p:nvSpPr>
          <p:cNvPr id="56" name="常氧培养&#10;+ 空白血清"/>
          <p:cNvSpPr txBox="1"/>
          <p:nvPr/>
        </p:nvSpPr>
        <p:spPr>
          <a:xfrm>
            <a:off x="2304288" y="4050791"/>
            <a:ext cx="1929384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3C5D82"/>
                </a:solidFill>
                <a:latin typeface="Noto Sans CJK SC"/>
                <a:ea typeface="Noto Sans CJK SC"/>
              </a:rPr>
              <a:t>常氧培养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3C5D82"/>
                </a:solidFill>
                <a:latin typeface="Noto Sans CJK SC"/>
                <a:ea typeface="Noto Sans CJK SC"/>
              </a:rPr>
              <a:t>+ 空白血清</a:t>
            </a:r>
          </a:p>
        </p:txBody>
      </p:sp>
      <p:sp>
        <p:nvSpPr>
          <p:cNvPr id="57" name="高海拔模型组"/>
          <p:cNvSpPr/>
          <p:nvPr/>
        </p:nvSpPr>
        <p:spPr>
          <a:xfrm>
            <a:off x="4553712" y="3657600"/>
            <a:ext cx="3941063" cy="868680"/>
          </a:xfrm>
          <a:prstGeom prst="roundRect">
            <a:avLst>
              <a:gd name="adj" fmla="val 10526"/>
            </a:avLst>
          </a:prstGeom>
          <a:solidFill>
            <a:srgbClr val="FFF6E9"/>
          </a:solidFill>
          <a:ln w="12065">
            <a:solidFill>
              <a:srgbClr val="FF9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独立图标_mountains" descr="mountai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7508" y="3904487"/>
            <a:ext cx="640080" cy="411480"/>
          </a:xfrm>
          <a:prstGeom prst="rect">
            <a:avLst/>
          </a:prstGeom>
        </p:spPr>
      </p:pic>
      <p:sp>
        <p:nvSpPr>
          <p:cNvPr id="59" name="② 高海拔模型组"/>
          <p:cNvSpPr txBox="1"/>
          <p:nvPr/>
        </p:nvSpPr>
        <p:spPr>
          <a:xfrm>
            <a:off x="6227064" y="3776472"/>
            <a:ext cx="211226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101B4B"/>
                </a:solidFill>
                <a:latin typeface="Noto Sans CJK SC"/>
                <a:ea typeface="Noto Sans CJK SC"/>
              </a:rPr>
              <a:t>② 高海拔模型组</a:t>
            </a:r>
          </a:p>
        </p:txBody>
      </p:sp>
      <p:sp>
        <p:nvSpPr>
          <p:cNvPr id="60" name="4500 m模拟高海拔72 h&#10;+ 空白血清"/>
          <p:cNvSpPr txBox="1"/>
          <p:nvPr/>
        </p:nvSpPr>
        <p:spPr>
          <a:xfrm>
            <a:off x="6190488" y="4050791"/>
            <a:ext cx="2167128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3C5D82"/>
                </a:solidFill>
                <a:latin typeface="Noto Sans CJK SC"/>
                <a:ea typeface="Noto Sans CJK SC"/>
              </a:rPr>
              <a:t>4500 m模拟高海拔72 h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3C5D82"/>
                </a:solidFill>
                <a:latin typeface="Noto Sans CJK SC"/>
                <a:ea typeface="Noto Sans CJK SC"/>
              </a:rPr>
              <a:t>+ 空白血清</a:t>
            </a:r>
          </a:p>
        </p:txBody>
      </p:sp>
      <p:sp>
        <p:nvSpPr>
          <p:cNvPr id="61" name="高海拔含药血清组"/>
          <p:cNvSpPr/>
          <p:nvPr/>
        </p:nvSpPr>
        <p:spPr>
          <a:xfrm>
            <a:off x="8695944" y="3657600"/>
            <a:ext cx="3977639" cy="868680"/>
          </a:xfrm>
          <a:prstGeom prst="roundRect">
            <a:avLst>
              <a:gd name="adj" fmla="val 10526"/>
            </a:avLst>
          </a:prstGeom>
          <a:solidFill>
            <a:srgbClr val="E9F7F3"/>
          </a:solidFill>
          <a:ln w="12065">
            <a:solidFill>
              <a:srgbClr val="009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独立图标_capsule" descr="capsu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5940" y="3858768"/>
            <a:ext cx="541959" cy="539496"/>
          </a:xfrm>
          <a:prstGeom prst="rect">
            <a:avLst/>
          </a:prstGeom>
        </p:spPr>
      </p:pic>
      <p:sp>
        <p:nvSpPr>
          <p:cNvPr id="63" name="③ 高海拔 + 含药血清组"/>
          <p:cNvSpPr txBox="1"/>
          <p:nvPr/>
        </p:nvSpPr>
        <p:spPr>
          <a:xfrm>
            <a:off x="10104120" y="3767328"/>
            <a:ext cx="2441448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008774"/>
                </a:solidFill>
                <a:latin typeface="Noto Sans CJK SC"/>
                <a:ea typeface="Noto Sans CJK SC"/>
              </a:rPr>
              <a:t>③ 高海拔 + 含药血清组</a:t>
            </a:r>
          </a:p>
        </p:txBody>
      </p:sp>
      <p:sp>
        <p:nvSpPr>
          <p:cNvPr id="64" name="4500 m / 72 h&#10;+ 最佳浓度含药血清"/>
          <p:cNvSpPr txBox="1"/>
          <p:nvPr/>
        </p:nvSpPr>
        <p:spPr>
          <a:xfrm>
            <a:off x="10360152" y="4050791"/>
            <a:ext cx="2176272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3C5D82"/>
                </a:solidFill>
                <a:latin typeface="Noto Sans CJK SC"/>
                <a:ea typeface="Noto Sans CJK SC"/>
              </a:rPr>
              <a:t>4500 m / 72 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3C5D82"/>
                </a:solidFill>
                <a:latin typeface="Noto Sans CJK SC"/>
                <a:ea typeface="Noto Sans CJK SC"/>
              </a:rPr>
              <a:t>+ 最佳浓度含药血清</a:t>
            </a:r>
          </a:p>
        </p:txBody>
      </p:sp>
      <p:cxnSp>
        <p:nvCxnSpPr>
          <p:cNvPr id="65" name="三个实验组汇合"/>
          <p:cNvCxnSpPr/>
          <p:nvPr/>
        </p:nvCxnSpPr>
        <p:spPr>
          <a:xfrm>
            <a:off x="2395728" y="4526280"/>
            <a:ext cx="0" cy="118872"/>
          </a:xfrm>
          <a:prstGeom prst="line">
            <a:avLst/>
          </a:prstGeom>
          <a:ln w="12700">
            <a:solidFill>
              <a:srgbClr val="426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三个实验组汇合"/>
          <p:cNvCxnSpPr/>
          <p:nvPr/>
        </p:nvCxnSpPr>
        <p:spPr>
          <a:xfrm>
            <a:off x="2395728" y="4645152"/>
            <a:ext cx="8449056" cy="0"/>
          </a:xfrm>
          <a:prstGeom prst="line">
            <a:avLst/>
          </a:prstGeom>
          <a:ln w="12700">
            <a:solidFill>
              <a:srgbClr val="426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三个实验组汇合"/>
          <p:cNvCxnSpPr/>
          <p:nvPr/>
        </p:nvCxnSpPr>
        <p:spPr>
          <a:xfrm flipV="1">
            <a:off x="10844784" y="4526280"/>
            <a:ext cx="0" cy="118872"/>
          </a:xfrm>
          <a:prstGeom prst="line">
            <a:avLst/>
          </a:prstGeom>
          <a:ln w="12700">
            <a:solidFill>
              <a:srgbClr val="426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流程向下箭头"/>
          <p:cNvSpPr/>
          <p:nvPr/>
        </p:nvSpPr>
        <p:spPr>
          <a:xfrm>
            <a:off x="6528816" y="4535424"/>
            <a:ext cx="173736" cy="192024"/>
          </a:xfrm>
          <a:prstGeom prst="downArrow">
            <a:avLst>
              <a:gd name="adj1" fmla="val 20000"/>
              <a:gd name="adj2" fmla="val 50000"/>
            </a:avLst>
          </a:prstGeom>
          <a:solidFill>
            <a:srgbClr val="426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共同培养处理条件"/>
          <p:cNvSpPr/>
          <p:nvPr/>
        </p:nvSpPr>
        <p:spPr>
          <a:xfrm>
            <a:off x="1810512" y="4709160"/>
            <a:ext cx="9619488" cy="457200"/>
          </a:xfrm>
          <a:gradFill>
            <a:gsLst>
              <a:gs pos="0">
                <a:srgbClr val="285E98"/>
              </a:gs>
              <a:gs pos="100000">
                <a:srgbClr val="285F98"/>
              </a:gs>
            </a:gsLst>
            <a:lin ang="0" scaled="1"/>
          </a:gradFill>
          <a:prstGeom prst="roundRect">
            <a:avLst>
              <a:gd name="adj" fmla="val 22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独立图标_mountains" descr="mountai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1223" y="4791456"/>
            <a:ext cx="455167" cy="292608"/>
          </a:xfrm>
          <a:prstGeom prst="rect">
            <a:avLst/>
          </a:prstGeom>
        </p:spPr>
      </p:pic>
      <p:sp>
        <p:nvSpPr>
          <p:cNvPr id="71" name="正常组常氧培养；模型组与干预组于4500 m模拟高海拔处理72 h"/>
          <p:cNvSpPr txBox="1"/>
          <p:nvPr/>
        </p:nvSpPr>
        <p:spPr>
          <a:xfrm>
            <a:off x="4517136" y="4773168"/>
            <a:ext cx="6775704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FFFFFF"/>
                </a:solidFill>
                <a:latin typeface="Noto Sans CJK SC"/>
                <a:ea typeface="Noto Sans CJK SC"/>
              </a:rPr>
              <a:t>正常组常氧培养；模型组与干预组于4500 m模拟高海拔处理72 h</a:t>
            </a:r>
          </a:p>
        </p:txBody>
      </p:sp>
      <p:cxnSp>
        <p:nvCxnSpPr>
          <p:cNvPr id="72" name="流程连接线"/>
          <p:cNvCxnSpPr/>
          <p:nvPr/>
        </p:nvCxnSpPr>
        <p:spPr>
          <a:xfrm>
            <a:off x="6620256" y="5166360"/>
            <a:ext cx="0" cy="100584"/>
          </a:xfrm>
          <a:prstGeom prst="line">
            <a:avLst/>
          </a:prstGeom>
          <a:ln w="12700">
            <a:solidFill>
              <a:srgbClr val="426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检测指标标签"/>
          <p:cNvSpPr/>
          <p:nvPr/>
        </p:nvSpPr>
        <p:spPr>
          <a:xfrm>
            <a:off x="5971032" y="5239512"/>
            <a:ext cx="128930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检 测 指 标"/>
          <p:cNvSpPr txBox="1"/>
          <p:nvPr/>
        </p:nvSpPr>
        <p:spPr>
          <a:xfrm>
            <a:off x="6108192" y="5239512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1">
                <a:solidFill>
                  <a:srgbClr val="0B1F44"/>
                </a:solidFill>
                <a:latin typeface="Noto Sans CJK SC"/>
                <a:ea typeface="Noto Sans CJK SC"/>
              </a:rPr>
              <a:t>检 测 指 标</a:t>
            </a:r>
          </a:p>
        </p:txBody>
      </p:sp>
      <p:sp>
        <p:nvSpPr>
          <p:cNvPr id="75" name="细胞凋亡检测卡片"/>
          <p:cNvSpPr/>
          <p:nvPr/>
        </p:nvSpPr>
        <p:spPr>
          <a:xfrm>
            <a:off x="512064" y="5495544"/>
            <a:ext cx="22585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065">
            <a:solidFill>
              <a:srgbClr val="B5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检测图标背景"/>
          <p:cNvSpPr/>
          <p:nvPr/>
        </p:nvSpPr>
        <p:spPr>
          <a:xfrm>
            <a:off x="713232" y="5596128"/>
            <a:ext cx="576072" cy="466344"/>
          </a:xfrm>
          <a:prstGeom prst="roundRect">
            <a:avLst>
              <a:gd name="adj" fmla="val 17647"/>
            </a:avLst>
          </a:prstGeom>
          <a:solidFill>
            <a:srgbClr val="E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独立图标_apoptosis" descr="apoptosi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952" y="5634317"/>
            <a:ext cx="484632" cy="399108"/>
          </a:xfrm>
          <a:prstGeom prst="rect">
            <a:avLst/>
          </a:prstGeom>
        </p:spPr>
      </p:pic>
      <p:sp>
        <p:nvSpPr>
          <p:cNvPr id="78" name="细胞凋亡"/>
          <p:cNvSpPr txBox="1"/>
          <p:nvPr/>
        </p:nvSpPr>
        <p:spPr>
          <a:xfrm>
            <a:off x="1399032" y="5586984"/>
            <a:ext cx="127101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>
                <a:solidFill>
                  <a:srgbClr val="101D4E"/>
                </a:solidFill>
                <a:latin typeface="Noto Sans CJK SC"/>
                <a:ea typeface="Noto Sans CJK SC"/>
              </a:rPr>
              <a:t>细胞凋亡</a:t>
            </a:r>
          </a:p>
        </p:txBody>
      </p:sp>
      <p:sp>
        <p:nvSpPr>
          <p:cNvPr id="79" name="流式 Annexin V/PI"/>
          <p:cNvSpPr txBox="1"/>
          <p:nvPr/>
        </p:nvSpPr>
        <p:spPr>
          <a:xfrm>
            <a:off x="1399032" y="5843016"/>
            <a:ext cx="1271016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>
                <a:solidFill>
                  <a:srgbClr val="3F5D88"/>
                </a:solidFill>
                <a:latin typeface="Noto Sans CJK SC"/>
                <a:ea typeface="Noto Sans CJK SC"/>
              </a:rPr>
              <a:t>流式 Annexin V/PI</a:t>
            </a:r>
          </a:p>
        </p:txBody>
      </p:sp>
      <p:sp>
        <p:nvSpPr>
          <p:cNvPr id="80" name="ROS检测卡片"/>
          <p:cNvSpPr/>
          <p:nvPr/>
        </p:nvSpPr>
        <p:spPr>
          <a:xfrm>
            <a:off x="2907792" y="5495544"/>
            <a:ext cx="2386584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065">
            <a:solidFill>
              <a:srgbClr val="B5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检测图标背景"/>
          <p:cNvSpPr/>
          <p:nvPr/>
        </p:nvSpPr>
        <p:spPr>
          <a:xfrm>
            <a:off x="3108960" y="5596128"/>
            <a:ext cx="576072" cy="466344"/>
          </a:xfrm>
          <a:prstGeom prst="roundRect">
            <a:avLst>
              <a:gd name="adj" fmla="val 17647"/>
            </a:avLst>
          </a:prstGeom>
          <a:solidFill>
            <a:srgbClr val="E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独立图标_ros" descr="ro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93423" y="5632704"/>
            <a:ext cx="407144" cy="402336"/>
          </a:xfrm>
          <a:prstGeom prst="rect">
            <a:avLst/>
          </a:prstGeom>
        </p:spPr>
      </p:pic>
      <p:sp>
        <p:nvSpPr>
          <p:cNvPr id="83" name="ROS"/>
          <p:cNvSpPr txBox="1"/>
          <p:nvPr/>
        </p:nvSpPr>
        <p:spPr>
          <a:xfrm>
            <a:off x="3794760" y="5586984"/>
            <a:ext cx="13990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>
                <a:solidFill>
                  <a:srgbClr val="101D4E"/>
                </a:solidFill>
                <a:latin typeface="Noto Sans CJK SC"/>
                <a:ea typeface="Noto Sans CJK SC"/>
              </a:rPr>
              <a:t>ROS</a:t>
            </a:r>
          </a:p>
        </p:txBody>
      </p:sp>
      <p:sp>
        <p:nvSpPr>
          <p:cNvPr id="84" name="氧化应激·流式"/>
          <p:cNvSpPr txBox="1"/>
          <p:nvPr/>
        </p:nvSpPr>
        <p:spPr>
          <a:xfrm>
            <a:off x="3794760" y="5843016"/>
            <a:ext cx="139903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3F5D88"/>
                </a:solidFill>
                <a:latin typeface="Noto Sans CJK SC"/>
                <a:ea typeface="Noto Sans CJK SC"/>
              </a:rPr>
              <a:t>氧化应激·流式</a:t>
            </a:r>
          </a:p>
        </p:txBody>
      </p:sp>
      <p:sp>
        <p:nvSpPr>
          <p:cNvPr id="85" name="线粒体膜电位检测卡片"/>
          <p:cNvSpPr/>
          <p:nvPr/>
        </p:nvSpPr>
        <p:spPr>
          <a:xfrm>
            <a:off x="5431536" y="5495544"/>
            <a:ext cx="2377440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065">
            <a:solidFill>
              <a:srgbClr val="B5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检测图标背景"/>
          <p:cNvSpPr/>
          <p:nvPr/>
        </p:nvSpPr>
        <p:spPr>
          <a:xfrm>
            <a:off x="5632704" y="5596128"/>
            <a:ext cx="576072" cy="466344"/>
          </a:xfrm>
          <a:prstGeom prst="roundRect">
            <a:avLst>
              <a:gd name="adj" fmla="val 17647"/>
            </a:avLst>
          </a:prstGeom>
          <a:solidFill>
            <a:srgbClr val="E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独立图标_mitochondria" descr="mitochondri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00161" y="5632704"/>
            <a:ext cx="441157" cy="402336"/>
          </a:xfrm>
          <a:prstGeom prst="rect">
            <a:avLst/>
          </a:prstGeom>
        </p:spPr>
      </p:pic>
      <p:sp>
        <p:nvSpPr>
          <p:cNvPr id="88" name="线粒体膜电位"/>
          <p:cNvSpPr txBox="1"/>
          <p:nvPr/>
        </p:nvSpPr>
        <p:spPr>
          <a:xfrm>
            <a:off x="6318504" y="5586984"/>
            <a:ext cx="138988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>
                <a:solidFill>
                  <a:srgbClr val="101D4E"/>
                </a:solidFill>
                <a:latin typeface="Noto Sans CJK SC"/>
                <a:ea typeface="Noto Sans CJK SC"/>
              </a:rPr>
              <a:t>线粒体膜电位</a:t>
            </a:r>
          </a:p>
        </p:txBody>
      </p:sp>
      <p:sp>
        <p:nvSpPr>
          <p:cNvPr id="89" name="JC-1·流式"/>
          <p:cNvSpPr txBox="1"/>
          <p:nvPr/>
        </p:nvSpPr>
        <p:spPr>
          <a:xfrm>
            <a:off x="6318504" y="5843016"/>
            <a:ext cx="138988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3F5D88"/>
                </a:solidFill>
                <a:latin typeface="Noto Sans CJK SC"/>
                <a:ea typeface="Noto Sans CJK SC"/>
              </a:rPr>
              <a:t>JC-1·流式</a:t>
            </a:r>
          </a:p>
        </p:txBody>
      </p:sp>
      <p:sp>
        <p:nvSpPr>
          <p:cNvPr id="90" name="qPCR检测卡片"/>
          <p:cNvSpPr/>
          <p:nvPr/>
        </p:nvSpPr>
        <p:spPr>
          <a:xfrm>
            <a:off x="7946136" y="5495544"/>
            <a:ext cx="239572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065">
            <a:solidFill>
              <a:srgbClr val="B5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检测图标背景"/>
          <p:cNvSpPr/>
          <p:nvPr/>
        </p:nvSpPr>
        <p:spPr>
          <a:xfrm>
            <a:off x="8147304" y="5596128"/>
            <a:ext cx="576072" cy="466344"/>
          </a:xfrm>
          <a:prstGeom prst="roundRect">
            <a:avLst>
              <a:gd name="adj" fmla="val 17647"/>
            </a:avLst>
          </a:prstGeom>
          <a:solidFill>
            <a:srgbClr val="E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独立图标_dna_blue" descr="dna_blu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4372" y="5632704"/>
            <a:ext cx="361934" cy="402336"/>
          </a:xfrm>
          <a:prstGeom prst="rect">
            <a:avLst/>
          </a:prstGeom>
        </p:spPr>
      </p:pic>
      <p:sp>
        <p:nvSpPr>
          <p:cNvPr id="93" name="qPCR"/>
          <p:cNvSpPr txBox="1"/>
          <p:nvPr/>
        </p:nvSpPr>
        <p:spPr>
          <a:xfrm>
            <a:off x="8833104" y="5586984"/>
            <a:ext cx="140817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>
                <a:solidFill>
                  <a:srgbClr val="101D4E"/>
                </a:solidFill>
                <a:latin typeface="Noto Sans CJK SC"/>
                <a:ea typeface="Noto Sans CJK SC"/>
              </a:rPr>
              <a:t>qPCR</a:t>
            </a:r>
          </a:p>
        </p:txBody>
      </p:sp>
      <p:sp>
        <p:nvSpPr>
          <p:cNvPr id="94" name="Fam162a·Runx2·Alp·Ocn"/>
          <p:cNvSpPr txBox="1"/>
          <p:nvPr/>
        </p:nvSpPr>
        <p:spPr>
          <a:xfrm>
            <a:off x="8833104" y="5843016"/>
            <a:ext cx="1408176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3" b="0">
                <a:solidFill>
                  <a:srgbClr val="3F5D88"/>
                </a:solidFill>
                <a:latin typeface="Noto Sans CJK SC"/>
                <a:ea typeface="Noto Sans CJK SC"/>
              </a:rPr>
              <a:t>Fam162a·Runx2·Alp·Ocn</a:t>
            </a:r>
          </a:p>
        </p:txBody>
      </p:sp>
      <p:sp>
        <p:nvSpPr>
          <p:cNvPr id="95" name="Western blot检测卡片"/>
          <p:cNvSpPr/>
          <p:nvPr/>
        </p:nvSpPr>
        <p:spPr>
          <a:xfrm>
            <a:off x="10479024" y="5495544"/>
            <a:ext cx="2240280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065">
            <a:solidFill>
              <a:srgbClr val="B5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检测图标背景"/>
          <p:cNvSpPr/>
          <p:nvPr/>
        </p:nvSpPr>
        <p:spPr>
          <a:xfrm>
            <a:off x="10680192" y="5596128"/>
            <a:ext cx="576072" cy="466344"/>
          </a:xfrm>
          <a:prstGeom prst="roundRect">
            <a:avLst>
              <a:gd name="adj" fmla="val 17647"/>
            </a:avLst>
          </a:prstGeom>
          <a:solidFill>
            <a:srgbClr val="E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独立图标_western" descr="wester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25912" y="5654888"/>
            <a:ext cx="484632" cy="357966"/>
          </a:xfrm>
          <a:prstGeom prst="rect">
            <a:avLst/>
          </a:prstGeom>
        </p:spPr>
      </p:pic>
      <p:sp>
        <p:nvSpPr>
          <p:cNvPr id="98" name="Western blot"/>
          <p:cNvSpPr txBox="1"/>
          <p:nvPr/>
        </p:nvSpPr>
        <p:spPr>
          <a:xfrm>
            <a:off x="11365992" y="5586984"/>
            <a:ext cx="125272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>
                <a:solidFill>
                  <a:srgbClr val="101D4E"/>
                </a:solidFill>
                <a:latin typeface="Noto Sans CJK SC"/>
                <a:ea typeface="Noto Sans CJK SC"/>
              </a:rPr>
              <a:t>Western blot</a:t>
            </a:r>
          </a:p>
        </p:txBody>
      </p:sp>
      <p:sp>
        <p:nvSpPr>
          <p:cNvPr id="99" name="Fam162a"/>
          <p:cNvSpPr txBox="1"/>
          <p:nvPr/>
        </p:nvSpPr>
        <p:spPr>
          <a:xfrm>
            <a:off x="11365992" y="5843016"/>
            <a:ext cx="125272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3F5D88"/>
                </a:solidFill>
                <a:latin typeface="Noto Sans CJK SC"/>
                <a:ea typeface="Noto Sans CJK SC"/>
              </a:rPr>
              <a:t>Fam162a</a:t>
            </a:r>
          </a:p>
        </p:txBody>
      </p:sp>
      <p:cxnSp>
        <p:nvCxnSpPr>
          <p:cNvPr id="100" name="指标到组间比较"/>
          <p:cNvCxnSpPr/>
          <p:nvPr/>
        </p:nvCxnSpPr>
        <p:spPr>
          <a:xfrm>
            <a:off x="6620256" y="6153912"/>
            <a:ext cx="0" cy="365760"/>
          </a:xfrm>
          <a:prstGeom prst="line">
            <a:avLst/>
          </a:prstGeom>
          <a:ln w="12700">
            <a:solidFill>
              <a:srgbClr val="426F9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组间比较标签"/>
          <p:cNvSpPr/>
          <p:nvPr/>
        </p:nvSpPr>
        <p:spPr>
          <a:xfrm>
            <a:off x="5989320" y="6236208"/>
            <a:ext cx="12527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组 间 比 较"/>
          <p:cNvSpPr txBox="1"/>
          <p:nvPr/>
        </p:nvSpPr>
        <p:spPr>
          <a:xfrm>
            <a:off x="6117336" y="6236208"/>
            <a:ext cx="10058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1">
                <a:solidFill>
                  <a:srgbClr val="101D4E"/>
                </a:solidFill>
                <a:latin typeface="Noto Sans CJK SC"/>
                <a:ea typeface="Noto Sans CJK SC"/>
              </a:rPr>
              <a:t>组 间 比 较</a:t>
            </a:r>
          </a:p>
        </p:txBody>
      </p:sp>
      <p:sp>
        <p:nvSpPr>
          <p:cNvPr id="103" name="内部参照比较"/>
          <p:cNvSpPr/>
          <p:nvPr/>
        </p:nvSpPr>
        <p:spPr>
          <a:xfrm>
            <a:off x="1234440" y="6519672"/>
            <a:ext cx="5157216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065">
            <a:solidFill>
              <a:srgbClr val="B2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独立图标_bars" descr="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632" y="6663869"/>
            <a:ext cx="502920" cy="497989"/>
          </a:xfrm>
          <a:prstGeom prst="rect">
            <a:avLst/>
          </a:prstGeom>
        </p:spPr>
      </p:pic>
      <p:sp>
        <p:nvSpPr>
          <p:cNvPr id="105" name="② vs ①"/>
          <p:cNvSpPr txBox="1"/>
          <p:nvPr/>
        </p:nvSpPr>
        <p:spPr>
          <a:xfrm>
            <a:off x="3511296" y="6592824"/>
            <a:ext cx="267004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101D4E"/>
                </a:solidFill>
                <a:latin typeface="Noto Sans CJK SC"/>
                <a:ea typeface="Noto Sans CJK SC"/>
              </a:rPr>
              <a:t>② vs ①</a:t>
            </a:r>
          </a:p>
        </p:txBody>
      </p:sp>
      <p:sp>
        <p:nvSpPr>
          <p:cNvPr id="106" name="复现高海拔成骨细胞损伤模型&#10;（内部参照）"/>
          <p:cNvSpPr txBox="1"/>
          <p:nvPr/>
        </p:nvSpPr>
        <p:spPr>
          <a:xfrm>
            <a:off x="3511296" y="6858000"/>
            <a:ext cx="2697480" cy="3383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3F5D88"/>
                </a:solidFill>
                <a:latin typeface="Noto Sans CJK SC"/>
                <a:ea typeface="Noto Sans CJK SC"/>
              </a:rPr>
              <a:t>复现高海拔成骨细胞损伤模型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3F5D88"/>
                </a:solidFill>
                <a:latin typeface="Noto Sans CJK SC"/>
                <a:ea typeface="Noto Sans CJK SC"/>
              </a:rPr>
              <a:t>（内部参照）</a:t>
            </a:r>
          </a:p>
        </p:txBody>
      </p:sp>
      <p:sp>
        <p:nvSpPr>
          <p:cNvPr id="107" name="核心药效比较"/>
          <p:cNvSpPr/>
          <p:nvPr/>
        </p:nvSpPr>
        <p:spPr>
          <a:xfrm>
            <a:off x="6839712" y="6519672"/>
            <a:ext cx="5175504" cy="749808"/>
          </a:xfrm>
          <a:prstGeom prst="roundRect">
            <a:avLst>
              <a:gd name="adj" fmla="val 12195"/>
            </a:avLst>
          </a:prstGeom>
          <a:solidFill>
            <a:srgbClr val="FFF0F0"/>
          </a:solidFill>
          <a:ln w="12065">
            <a:solidFill>
              <a:srgbClr val="FF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8" name="独立图标_redbars" descr="redbar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55864" y="6630880"/>
            <a:ext cx="630936" cy="554823"/>
          </a:xfrm>
          <a:prstGeom prst="rect">
            <a:avLst/>
          </a:prstGeom>
        </p:spPr>
      </p:pic>
      <p:sp>
        <p:nvSpPr>
          <p:cNvPr id="109" name="③ vs ②  核心比较"/>
          <p:cNvSpPr txBox="1"/>
          <p:nvPr/>
        </p:nvSpPr>
        <p:spPr>
          <a:xfrm>
            <a:off x="8988552" y="6592824"/>
            <a:ext cx="27889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E70000"/>
                </a:solidFill>
                <a:latin typeface="Noto Sans CJK SC"/>
                <a:ea typeface="Noto Sans CJK SC"/>
              </a:rPr>
              <a:t>③ vs ②  核心比较</a:t>
            </a:r>
          </a:p>
        </p:txBody>
      </p:sp>
      <p:sp>
        <p:nvSpPr>
          <p:cNvPr id="110" name="评价含药血清的保护作用&#10;并观察Fam162a表达变化"/>
          <p:cNvSpPr txBox="1"/>
          <p:nvPr/>
        </p:nvSpPr>
        <p:spPr>
          <a:xfrm>
            <a:off x="8988552" y="6848856"/>
            <a:ext cx="2788920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3F5D88"/>
                </a:solidFill>
                <a:latin typeface="Noto Sans CJK SC"/>
                <a:ea typeface="Noto Sans CJK SC"/>
              </a:rPr>
              <a:t>评价含药血清的保护作用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3F5D88"/>
                </a:solidFill>
                <a:latin typeface="Noto Sans CJK SC"/>
                <a:ea typeface="Noto Sans CJK SC"/>
              </a:rPr>
              <a:t>并观察Fam162a表达变化</a:t>
            </a:r>
          </a:p>
        </p:txBody>
      </p:sp>
      <p:sp>
        <p:nvSpPr>
          <p:cNvPr id="111" name="流程向下箭头"/>
          <p:cNvSpPr/>
          <p:nvPr/>
        </p:nvSpPr>
        <p:spPr>
          <a:xfrm>
            <a:off x="6528816" y="7379208"/>
            <a:ext cx="173736" cy="192024"/>
          </a:xfrm>
          <a:prstGeom prst="downArrow">
            <a:avLst>
              <a:gd name="adj1" fmla="val 20000"/>
              <a:gd name="adj2" fmla="val 50000"/>
            </a:avLst>
          </a:prstGeom>
          <a:solidFill>
            <a:srgbClr val="D99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阶段三后续补充面板"/>
          <p:cNvSpPr/>
          <p:nvPr/>
        </p:nvSpPr>
        <p:spPr>
          <a:xfrm>
            <a:off x="283464" y="7552944"/>
            <a:ext cx="12664440" cy="1243584"/>
          </a:xfrm>
          <a:prstGeom prst="roundRect">
            <a:avLst>
              <a:gd name="adj" fmla="val 7352"/>
            </a:avLst>
          </a:prstGeom>
          <a:solidFill>
            <a:srgbClr val="FFFBF0"/>
          </a:solidFill>
          <a:ln w="12065">
            <a:solidFill>
              <a:srgbClr val="FF9B2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阶段三标签"/>
          <p:cNvSpPr/>
          <p:nvPr/>
        </p:nvSpPr>
        <p:spPr>
          <a:xfrm>
            <a:off x="402336" y="7626096"/>
            <a:ext cx="804672" cy="265176"/>
          </a:xfrm>
          <a:prstGeom prst="roundRect">
            <a:avLst>
              <a:gd name="adj" fmla="val 48275"/>
            </a:avLst>
          </a:prstGeom>
          <a:solidFill>
            <a:srgbClr val="B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阶段三"/>
          <p:cNvSpPr txBox="1"/>
          <p:nvPr/>
        </p:nvSpPr>
        <p:spPr>
          <a:xfrm>
            <a:off x="475488" y="7635240"/>
            <a:ext cx="6858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>
                <a:solidFill>
                  <a:srgbClr val="FFFFFF"/>
                </a:solidFill>
                <a:latin typeface="Noto Sans CJK SC"/>
                <a:ea typeface="Noto Sans CJK SC"/>
              </a:rPr>
              <a:t>阶段三</a:t>
            </a:r>
          </a:p>
        </p:txBody>
      </p:sp>
      <p:sp>
        <p:nvSpPr>
          <p:cNvPr id="115" name="入血成分质谱与整合分析（后续补充）"/>
          <p:cNvSpPr txBox="1"/>
          <p:nvPr/>
        </p:nvSpPr>
        <p:spPr>
          <a:xfrm>
            <a:off x="1316736" y="7607808"/>
            <a:ext cx="5833872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B95600"/>
                </a:solidFill>
                <a:latin typeface="Noto Sans CJK SC"/>
                <a:ea typeface="Noto Sans CJK SC"/>
              </a:rPr>
              <a:t>入血成分质谱与整合分析（后续补充）</a:t>
            </a:r>
          </a:p>
        </p:txBody>
      </p:sp>
      <p:sp>
        <p:nvSpPr>
          <p:cNvPr id="116" name="含药血清入血成分"/>
          <p:cNvSpPr/>
          <p:nvPr/>
        </p:nvSpPr>
        <p:spPr>
          <a:xfrm>
            <a:off x="576072" y="7955279"/>
            <a:ext cx="3685032" cy="694944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065">
            <a:solidFill>
              <a:srgbClr val="AE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图标底板"/>
          <p:cNvSpPr/>
          <p:nvPr/>
        </p:nvSpPr>
        <p:spPr>
          <a:xfrm>
            <a:off x="1161288" y="8037575"/>
            <a:ext cx="731520" cy="530352"/>
          </a:xfrm>
          <a:prstGeom prst="roundRect">
            <a:avLst>
              <a:gd name="adj" fmla="val 22413"/>
            </a:avLst>
          </a:prstGeom>
          <a:solidFill>
            <a:srgbClr val="E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8" name="独立图标_spectrum" descr="spectrum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43584" y="8116922"/>
            <a:ext cx="576072" cy="371659"/>
          </a:xfrm>
          <a:prstGeom prst="rect">
            <a:avLst/>
          </a:prstGeom>
        </p:spPr>
      </p:pic>
      <p:sp>
        <p:nvSpPr>
          <p:cNvPr id="119" name="含药血清入血成分"/>
          <p:cNvSpPr txBox="1"/>
          <p:nvPr/>
        </p:nvSpPr>
        <p:spPr>
          <a:xfrm>
            <a:off x="2121408" y="8065008"/>
            <a:ext cx="202996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>
                <a:solidFill>
                  <a:srgbClr val="081E54"/>
                </a:solidFill>
                <a:latin typeface="Noto Sans CJK SC"/>
                <a:ea typeface="Noto Sans CJK SC"/>
              </a:rPr>
              <a:t>含药血清入血成分</a:t>
            </a:r>
          </a:p>
        </p:txBody>
      </p:sp>
      <p:sp>
        <p:nvSpPr>
          <p:cNvPr id="120" name="UPLC-MS/MS 质谱鉴定"/>
          <p:cNvSpPr txBox="1"/>
          <p:nvPr/>
        </p:nvSpPr>
        <p:spPr>
          <a:xfrm>
            <a:off x="2121408" y="8339327"/>
            <a:ext cx="2029968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375B87"/>
                </a:solidFill>
                <a:latin typeface="Noto Sans CJK SC"/>
                <a:ea typeface="Noto Sans CJK SC"/>
              </a:rPr>
              <a:t>UPLC-MS/MS 质谱鉴定</a:t>
            </a:r>
          </a:p>
        </p:txBody>
      </p:sp>
      <p:sp>
        <p:nvSpPr>
          <p:cNvPr id="121" name="流程箭头"/>
          <p:cNvSpPr/>
          <p:nvPr/>
        </p:nvSpPr>
        <p:spPr>
          <a:xfrm>
            <a:off x="4261104" y="8193024"/>
            <a:ext cx="521207" cy="182880"/>
          </a:xfrm>
          <a:prstGeom prst="rightArrow">
            <a:avLst>
              <a:gd name="adj1" fmla="val 20000"/>
              <a:gd name="adj2" fmla="val 50000"/>
            </a:avLst>
          </a:prstGeom>
          <a:solidFill>
            <a:srgbClr val="E4A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入血成分筛选与潜在靶点预测"/>
          <p:cNvSpPr/>
          <p:nvPr/>
        </p:nvSpPr>
        <p:spPr>
          <a:xfrm>
            <a:off x="4791456" y="7955279"/>
            <a:ext cx="3648456" cy="694944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065">
            <a:solidFill>
              <a:srgbClr val="AE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图标底板"/>
          <p:cNvSpPr/>
          <p:nvPr/>
        </p:nvSpPr>
        <p:spPr>
          <a:xfrm>
            <a:off x="5074920" y="8037575"/>
            <a:ext cx="731520" cy="530352"/>
          </a:xfrm>
          <a:prstGeom prst="roundRect">
            <a:avLst>
              <a:gd name="adj" fmla="val 22413"/>
            </a:avLst>
          </a:prstGeom>
          <a:solidFill>
            <a:srgbClr val="E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4" name="独立图标_network" descr="networ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27283" y="8083296"/>
            <a:ext cx="435936" cy="438912"/>
          </a:xfrm>
          <a:prstGeom prst="rect">
            <a:avLst/>
          </a:prstGeom>
        </p:spPr>
      </p:pic>
      <p:sp>
        <p:nvSpPr>
          <p:cNvPr id="125" name="入血成分筛选与潜在靶点预测"/>
          <p:cNvSpPr txBox="1"/>
          <p:nvPr/>
        </p:nvSpPr>
        <p:spPr>
          <a:xfrm>
            <a:off x="5952744" y="8065008"/>
            <a:ext cx="237744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47" b="1">
                <a:solidFill>
                  <a:srgbClr val="081E54"/>
                </a:solidFill>
                <a:latin typeface="Noto Sans CJK SC"/>
                <a:ea typeface="Noto Sans CJK SC"/>
              </a:rPr>
              <a:t>入血成分筛选与潜在靶点预测</a:t>
            </a:r>
          </a:p>
        </p:txBody>
      </p:sp>
      <p:sp>
        <p:nvSpPr>
          <p:cNvPr id="126" name="网络药理学分析"/>
          <p:cNvSpPr txBox="1"/>
          <p:nvPr/>
        </p:nvSpPr>
        <p:spPr>
          <a:xfrm>
            <a:off x="5952744" y="8339327"/>
            <a:ext cx="237744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375B87"/>
                </a:solidFill>
                <a:latin typeface="Noto Sans CJK SC"/>
                <a:ea typeface="Noto Sans CJK SC"/>
              </a:rPr>
              <a:t>网络药理学分析</a:t>
            </a:r>
          </a:p>
        </p:txBody>
      </p:sp>
      <p:sp>
        <p:nvSpPr>
          <p:cNvPr id="127" name="流程箭头"/>
          <p:cNvSpPr/>
          <p:nvPr/>
        </p:nvSpPr>
        <p:spPr>
          <a:xfrm>
            <a:off x="8439912" y="8193024"/>
            <a:ext cx="530352" cy="182880"/>
          </a:xfrm>
          <a:prstGeom prst="rightArrow">
            <a:avLst>
              <a:gd name="adj1" fmla="val 20000"/>
              <a:gd name="adj2" fmla="val 50000"/>
            </a:avLst>
          </a:prstGeom>
          <a:solidFill>
            <a:srgbClr val="E4A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对接候选核心基因"/>
          <p:cNvSpPr/>
          <p:nvPr/>
        </p:nvSpPr>
        <p:spPr>
          <a:xfrm>
            <a:off x="8979408" y="7955279"/>
            <a:ext cx="3666744" cy="694944"/>
          </a:xfrm>
          <a:prstGeom prst="roundRect">
            <a:avLst>
              <a:gd name="adj" fmla="val 13157"/>
            </a:avLst>
          </a:prstGeom>
          <a:solidFill>
            <a:srgbClr val="FFF5E5"/>
          </a:solidFill>
          <a:ln w="12065">
            <a:solidFill>
              <a:srgbClr val="FF9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9" name="独立图标_target" descr="targe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89650" y="8055864"/>
            <a:ext cx="515706" cy="502920"/>
          </a:xfrm>
          <a:prstGeom prst="rect">
            <a:avLst/>
          </a:prstGeom>
        </p:spPr>
      </p:pic>
      <p:sp>
        <p:nvSpPr>
          <p:cNvPr id="130" name="对接候选核心基因 Fam162a"/>
          <p:cNvSpPr txBox="1"/>
          <p:nvPr/>
        </p:nvSpPr>
        <p:spPr>
          <a:xfrm>
            <a:off x="10186416" y="8083296"/>
            <a:ext cx="231343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43" b="1">
                <a:solidFill>
                  <a:srgbClr val="BF5700"/>
                </a:solidFill>
                <a:latin typeface="Noto Sans CJK SC"/>
                <a:ea typeface="Noto Sans CJK SC"/>
              </a:rPr>
              <a:t>对接候选核心基因 Fam162a</a:t>
            </a:r>
          </a:p>
        </p:txBody>
      </p:sp>
      <p:sp>
        <p:nvSpPr>
          <p:cNvPr id="131" name="构建“成分—靶点—效应”关联"/>
          <p:cNvSpPr txBox="1"/>
          <p:nvPr/>
        </p:nvSpPr>
        <p:spPr>
          <a:xfrm>
            <a:off x="10186416" y="8339327"/>
            <a:ext cx="2313432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44" b="0">
                <a:solidFill>
                  <a:srgbClr val="385B86"/>
                </a:solidFill>
                <a:latin typeface="Noto Sans CJK SC"/>
                <a:ea typeface="Noto Sans CJK SC"/>
              </a:rPr>
              <a:t>构建“成分—靶点—效应”关联</a:t>
            </a:r>
          </a:p>
        </p:txBody>
      </p:sp>
      <p:sp>
        <p:nvSpPr>
          <p:cNvPr id="132" name="流程向下箭头"/>
          <p:cNvSpPr/>
          <p:nvPr/>
        </p:nvSpPr>
        <p:spPr>
          <a:xfrm>
            <a:off x="6537960" y="8778240"/>
            <a:ext cx="173736" cy="182880"/>
          </a:xfrm>
          <a:prstGeom prst="downArrow">
            <a:avLst>
              <a:gd name="adj1" fmla="val 20000"/>
              <a:gd name="adj2" fmla="val 50000"/>
            </a:avLst>
          </a:prstGeom>
          <a:solidFill>
            <a:srgbClr val="B96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关联分析反馈路径"/>
          <p:cNvSpPr/>
          <p:nvPr/>
        </p:nvSpPr>
        <p:spPr>
          <a:xfrm>
            <a:off x="12637008" y="1545336"/>
            <a:ext cx="429768" cy="6784848"/>
          </a:xfrm>
          <a:custGeom>
            <a:avLst/>
            <a:gdLst/>
            <a:ahLst/>
            <a:cxnLst/>
            <a:rect l="l" t="t" r="r" b="b"/>
            <a:pathLst>
              <a:path w="47" h="742" fill="none">
                <a:moveTo>
                  <a:pt x="0" y="742"/>
                </a:moveTo>
                <a:lnTo>
                  <a:pt x="47" y="742"/>
                </a:lnTo>
                <a:lnTo>
                  <a:pt x="47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FF303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关联分析文字背景"/>
          <p:cNvSpPr/>
          <p:nvPr/>
        </p:nvSpPr>
        <p:spPr>
          <a:xfrm>
            <a:off x="12966192" y="4764024"/>
            <a:ext cx="228600" cy="704088"/>
          </a:xfrm>
          <a:prstGeom prst="rect">
            <a:avLst/>
          </a:prstGeom>
          <a:solidFill>
            <a:srgbClr val="F7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关&#10;联&#10;分&#10;析"/>
          <p:cNvSpPr txBox="1"/>
          <p:nvPr/>
        </p:nvSpPr>
        <p:spPr>
          <a:xfrm>
            <a:off x="12984480" y="4773168"/>
            <a:ext cx="201168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FF2020"/>
                </a:solidFill>
                <a:latin typeface="Noto Sans CJK SC"/>
                <a:ea typeface="Noto Sans CJK SC"/>
              </a:rPr>
              <a:t>关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FF2020"/>
                </a:solidFill>
                <a:latin typeface="Noto Sans CJK SC"/>
                <a:ea typeface="Noto Sans CJK SC"/>
              </a:rPr>
              <a:t>联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FF2020"/>
                </a:solidFill>
                <a:latin typeface="Noto Sans CJK SC"/>
                <a:ea typeface="Noto Sans CJK SC"/>
              </a:rPr>
              <a:t>分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FF2020"/>
                </a:solidFill>
                <a:latin typeface="Noto Sans CJK SC"/>
                <a:ea typeface="Noto Sans CJK SC"/>
              </a:rPr>
              <a:t>析</a:t>
            </a:r>
          </a:p>
        </p:txBody>
      </p:sp>
      <p:sp>
        <p:nvSpPr>
          <p:cNvPr id="136" name="研究结论栏"/>
          <p:cNvSpPr/>
          <p:nvPr/>
        </p:nvSpPr>
        <p:spPr>
          <a:xfrm>
            <a:off x="274320" y="8970264"/>
            <a:ext cx="12691872" cy="804672"/>
          </a:xfrm>
          <a:prstGeom prst="roundRect">
            <a:avLst>
              <a:gd name="adj" fmla="val 14772"/>
            </a:avLst>
          </a:prstGeom>
          <a:solidFill>
            <a:srgbClr val="244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7" name="独立图标_bulb" descr="bulb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3493" y="9107424"/>
            <a:ext cx="391540" cy="539496"/>
          </a:xfrm>
          <a:prstGeom prst="rect">
            <a:avLst/>
          </a:prstGeom>
        </p:spPr>
      </p:pic>
      <p:sp>
        <p:nvSpPr>
          <p:cNvPr id="138" name="结论："/>
          <p:cNvSpPr txBox="1"/>
          <p:nvPr/>
        </p:nvSpPr>
        <p:spPr>
          <a:xfrm>
            <a:off x="1353312" y="9125712"/>
            <a:ext cx="722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FFFFFF"/>
                </a:solidFill>
                <a:latin typeface="Noto Sans CJK SC"/>
                <a:ea typeface="Noto Sans CJK SC"/>
              </a:rPr>
              <a:t>结论：</a:t>
            </a:r>
          </a:p>
        </p:txBody>
      </p:sp>
      <p:sp>
        <p:nvSpPr>
          <p:cNvPr id="139" name="筋骨蠲痹方含药血清可改善高海拔诱导的MC3T3-E1成骨细胞损伤，并伴随Fam162a表达变化，"/>
          <p:cNvSpPr txBox="1"/>
          <p:nvPr/>
        </p:nvSpPr>
        <p:spPr>
          <a:xfrm>
            <a:off x="1984248" y="9125712"/>
            <a:ext cx="10808208" cy="557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2" b="0">
                <a:solidFill>
                  <a:srgbClr val="FFFFFF"/>
                </a:solidFill>
                <a:latin typeface="Noto Sans CJK SC"/>
                <a:ea typeface="Noto Sans CJK SC"/>
              </a:rPr>
              <a:t>筋骨蠲痹方含药血清可改善高海拔诱导的MC3T3-E1成骨细胞损伤，并伴随Fam162a表达变化，提示其保护作用可能与Fam162a相关；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2" b="0">
                <a:solidFill>
                  <a:srgbClr val="FFFFFF"/>
                </a:solidFill>
                <a:latin typeface="Noto Sans CJK SC"/>
                <a:ea typeface="Noto Sans CJK SC"/>
              </a:rPr>
              <a:t>结合入血成分质谱与生物信息学分析，构建“生信—药效—成分—靶点”研究闭环。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