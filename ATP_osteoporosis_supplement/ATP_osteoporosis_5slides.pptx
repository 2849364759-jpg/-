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衔接前页：演化分析解释了ATP感知、应激和死亡模块如何形成；本节解释这些模块在骨组织中如何被异常动员。必须区分胞内ATP和胞外ATP：胞内ATP不足体现能量危机，胞外ATP持续异常升高则可作为危险信号，二者可同时出现。机械负荷引起的短时ATP释放也参与正常骨稳态，因此不能把ATP升高或P2X7激活直接等同于病理性死亡。本页是两篇综述基础上的机制整合，并非团队完成的一条全链条因果实验。来源：2023综述第4、5节；2026综述AICD机制与OP小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典NLRP3框架包含预激活与激活两个过程。TNF或TLR相关炎症信号可通过NF-κB提供NLRP3和pro-IL-1β等的预激活；ATP–P2X7激活造成K+外流，Ca2+与线粒体ROS亦可参与放大，继而促进NLRP3–ASC–caspase-1的组装和活化。GSDMD被切割后成孔，并伴随IL-1β/IL-18成熟与释放。线粒体损伤还可能导向凋亡。焦亡与凋亡不是所有骨细胞同时发生的必然结局；具体细胞、病程与实验条件决定分支。本页经典通路参考两篇综述的机制部分；在骨质疏松中整条链的细胞特异性贡献仍需要逐段验证。不能把其他组织的焦亡证据直接作为骨细胞已获证实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将成骨谱系、骨细胞和破骨谱系放在同一骨重建单元中。BMSC在应激条件下存活和成骨分化受损，减少成骨细胞补充；成骨细胞损伤或死亡削弱基质生成和矿化；骨细胞功能异常与死亡可影响机械应答和RANKL相关的重建调控。以上是病理整合模型，并不表示全部变化均已被证明由ATP独立造成。破骨端尤其要避免误解：P2X7及其他嘌呤能受体信号可调节前体融合、分化、存活与吸收功能；极端条件下也可能引发死亡，因此“ATP使所有骨细胞死亡”无法解释骨量净丢失。2023综述§4.1–4.3、2026综述OP小节均呈现双向调节。新增概括为机制整理，未加入定量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证据定位：2023年团队综述提出ATP诱导细胞死亡参与骨质疏松的新假说；2026年团队综述进一步整合ATP–P2X7–NLRP3框架。不能把综述中引用的实验说成团队原创实验。三个锚点均来自2026综述引用文献：①Lu J等，2020，TNF-α在雌激素缺乏背景下通过提高P2X7促进骨髓造血干细胞相关分化，doi:10.1111/jcmm.16048（参考文献115）；②Wang N等，2018，P2X7 receptor regulates osteoclast function and bone loss in a mouse model of osteoporosis，doi:10.1038/s41598-018-21574-9（参考文献37）；③Xu L等，2024，成骨细胞靶向CH6-LNPs-siNLRP3在绝经后骨质疏松大鼠中改善骨质量，doi:10.7150/thno.95423（参考文献112）。这里只按所提供综述引用呈现，未宣称独立重现其结果。下游NLRP3干预有效不能单独证明ATP是上游原因；上述证据也不能自动推出人类疗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研究展望，不是临床治疗推荐。干预层次包括：调控ATP释放与CD39/CD73介导的代谢清除；按细胞与病程选择P2X7干预；靶向NLRP3或保护线粒体。CD39/CD73将ATP逐步转向腺苷，但腺苷信号也依受体和场景而异，不宜简单说清除越多越好。可优先在OVX模型中结合体外成骨细胞/破骨前体共培养设计因果链实验：建立eATP剂量与时间曲线，测局部eATP、受体活性和细胞特异性执行指标；加入ATP降解干预、P2X7遗传缺失或药理抑制，并以回补及下游救援排查非特异效应。焦亡用GSDMD-N、caspase-1及膜通透等组合证据，凋亡用caspase-3等，不能只靠单一细胞活力下降判断。骨终点包含micro-CT、动态骨组织形态计量、成骨/骨吸收指标及力学验证。具体干预效果必须通过实验而非机制图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骨质疏松：古老ATP信号在骨微环境中的病理转向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从“能量货币—嘌呤能信号—死亡执行”演化框架，落到骨重建失衡。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Wang et al., 2023 · doi:10.3389/fcell.2023.1324213；Zhang et al., 2026 · doi:10.2147/JIR.S584582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56231"/>
            <a:ext cx="5285232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56231"/>
            <a:ext cx="64008" cy="2176272"/>
          </a:xfrm>
          <a:prstGeom prst="rect">
            <a:avLst/>
          </a:prstGeom>
          <a:solidFill>
            <a:srgbClr val="1D8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2996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1D827F"/>
                </a:solidFill>
                <a:latin typeface="Noto Sans CJK SC"/>
              </a:defRPr>
            </a:pPr>
            <a:r>
              <a:t>生理：短时、可控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65176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263445"/>
                </a:solidFill>
                <a:latin typeface="Noto Sans CJK SC"/>
              </a:defRPr>
            </a:pPr>
            <a:r>
              <a:t>机械负荷 → ATP脉冲</a:t>
            </a:r>
          </a:p>
          <a:p>
            <a:pPr>
              <a:spcAft>
                <a:spcPts val="400"/>
              </a:spcAft>
              <a:defRPr sz="2200" b="0">
                <a:solidFill>
                  <a:srgbClr val="263445"/>
                </a:solidFill>
                <a:latin typeface="Noto Sans CJK SC"/>
              </a:defRPr>
            </a:pPr>
            <a:r>
              <a:t>P2X / P2Y受体应答</a:t>
            </a:r>
          </a:p>
          <a:p>
            <a:pPr>
              <a:spcAft>
                <a:spcPts val="400"/>
              </a:spcAft>
              <a:defRPr sz="2200" b="0">
                <a:solidFill>
                  <a:srgbClr val="263445"/>
                </a:solidFill>
                <a:latin typeface="Noto Sans CJK SC"/>
              </a:defRPr>
            </a:pPr>
            <a:r>
              <a:t>支持成骨与机械感知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56231"/>
            <a:ext cx="5285232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856231"/>
            <a:ext cx="64008" cy="2176272"/>
          </a:xfrm>
          <a:prstGeom prst="rect">
            <a:avLst/>
          </a:prstGeom>
          <a:solidFill>
            <a:srgbClr val="AE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AE4949"/>
                </a:solidFill>
                <a:latin typeface="Noto Sans CJK SC"/>
              </a:defRPr>
            </a:pPr>
            <a:r>
              <a:t>病理：持续、失衡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65176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263445"/>
                </a:solidFill>
                <a:latin typeface="Noto Sans CJK SC"/>
              </a:defRPr>
            </a:pPr>
            <a:r>
              <a:t>损伤／炎症 → eATP异常暴露</a:t>
            </a:r>
          </a:p>
          <a:p>
            <a:pPr>
              <a:spcAft>
                <a:spcPts val="400"/>
              </a:spcAft>
              <a:defRPr sz="2200" b="0">
                <a:solidFill>
                  <a:srgbClr val="263445"/>
                </a:solidFill>
                <a:latin typeface="Noto Sans CJK SC"/>
              </a:defRPr>
            </a:pPr>
            <a:r>
              <a:t>P2X7相关离子与线粒体应激</a:t>
            </a:r>
          </a:p>
          <a:p>
            <a:pPr>
              <a:spcAft>
                <a:spcPts val="400"/>
              </a:spcAft>
              <a:defRPr sz="2200" b="0">
                <a:solidFill>
                  <a:srgbClr val="263445"/>
                </a:solidFill>
                <a:latin typeface="Noto Sans CJK SC"/>
              </a:defRPr>
            </a:pPr>
            <a:r>
              <a:t>促进损伤及炎症放大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073F7B"/>
                </a:solidFill>
                <a:latin typeface="Noto Sans CJK SC"/>
              </a:defRPr>
            </a:pPr>
            <a:r>
              <a:t>关键分界：浓度 × 持续时间 × 受体谱 × 炎症背景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074920"/>
            <a:ext cx="10972800" cy="850392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6694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073F7B"/>
                </a:solidFill>
                <a:latin typeface="Noto Sans CJK SC"/>
              </a:defRPr>
            </a:pPr>
            <a:r>
              <a:t>骨形成不足  ＋  骨吸收相对增强  →  骨量下降与骨微结构受损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机制主轴：ATP–P2X7R如何连接细胞死亡与炎症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焦亡需要炎症背景与执行证据；ATP信号本身并不足以证明细胞死亡。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Wang et al., 2023 · doi:10.3389/fcell.2023.1324213；Zhang et al., 2026 · doi:10.2147/JIR.S584582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3291840" cy="960120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01952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73F7B"/>
                </a:solidFill>
                <a:latin typeface="Noto Sans CJK SC"/>
              </a:defRPr>
            </a:pPr>
            <a:r>
              <a:t>炎症预激活：NF-κB</a:t>
            </a:r>
          </a:p>
          <a:p>
            <a:pPr>
              <a:spcAft>
                <a:spcPts val="400"/>
              </a:spcAft>
              <a:defRPr sz="1800" b="1">
                <a:solidFill>
                  <a:srgbClr val="073F7B"/>
                </a:solidFill>
                <a:latin typeface="Noto Sans CJK SC"/>
              </a:defRPr>
            </a:pPr>
            <a:r>
              <a:t>NLRP3 / pro-IL-1β表达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83080"/>
            <a:ext cx="72694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901952"/>
            <a:ext cx="6812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eATP → P2X7R → K+外流／Ca2+失衡</a:t>
            </a:r>
          </a:p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线粒体功能障碍与ROS放大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8036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687585"/>
                </a:solidFill>
                <a:latin typeface="Noto Sans CJK SC"/>
              </a:defRPr>
            </a:pPr>
            <a:r>
              <a:t>预激活 + ATP相关激活信号，汇入炎症小体通路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6616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712463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73F7B"/>
                </a:solidFill>
                <a:latin typeface="Noto Sans CJK SC"/>
              </a:defRPr>
            </a:pPr>
            <a:r>
              <a:t>NLRP3炎症小体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197096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ASC组装</a:t>
            </a:r>
          </a:p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caspase-1活化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56616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712463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73F7B"/>
                </a:solidFill>
                <a:latin typeface="Noto Sans CJK SC"/>
              </a:defRPr>
            </a:pPr>
            <a:r>
              <a:t>执行与释放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197096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GSDMD切割与成孔</a:t>
            </a:r>
          </a:p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IL-1β / IL-18释放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356616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3712463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73F7B"/>
                </a:solidFill>
                <a:latin typeface="Noto Sans CJK SC"/>
              </a:defRPr>
            </a:pPr>
            <a:r>
              <a:t>组织后果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4197096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炎症性细胞损伤</a:t>
            </a:r>
          </a:p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骨重建耦联被扰动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014215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73F7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014215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73F7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257800"/>
            <a:ext cx="10972800" cy="694944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404104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073F7B"/>
                </a:solidFill>
                <a:latin typeface="Noto Sans CJK SC"/>
              </a:defRPr>
            </a:pPr>
            <a:r>
              <a:t>并行分支：线粒体应激可参与凋亡；损伤释放ATP可进一步放大局部信号。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细胞层面：骨形成端受损，骨吸收端被放大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同一ATP信号在不同细胞中产生不同结局，最终汇聚为骨重建失耦。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Wang et al., 2023 · doi:10.3389/fcell.2023.1324213 §4；Zhang et al., 2026 · doi:10.2147/JIR.S584582 OP小节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10512"/>
            <a:ext cx="2377440" cy="521207"/>
          </a:xfrm>
          <a:prstGeom prst="rect">
            <a:avLst/>
          </a:prstGeom>
          <a:solidFill>
            <a:srgbClr val="073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911095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作用细胞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1810512"/>
            <a:ext cx="4206240" cy="521207"/>
          </a:xfrm>
          <a:prstGeom prst="rect">
            <a:avLst/>
          </a:prstGeom>
          <a:solidFill>
            <a:srgbClr val="073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1911095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病理条件下的可能变化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810512"/>
            <a:ext cx="4206240" cy="521207"/>
          </a:xfrm>
          <a:prstGeom prst="rect">
            <a:avLst/>
          </a:prstGeom>
          <a:solidFill>
            <a:srgbClr val="073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4" y="1911095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骨重建后果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368296"/>
            <a:ext cx="2377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459736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73F7B"/>
                </a:solidFill>
                <a:latin typeface="Noto Sans CJK SC"/>
              </a:defRPr>
            </a:pPr>
            <a:r>
              <a:t>骨髓间充质干细胞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2368296"/>
            <a:ext cx="4206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9544" y="2459736"/>
            <a:ext cx="39502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存活／成骨分化受损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2368296"/>
            <a:ext cx="4206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7224" y="2459736"/>
            <a:ext cx="39502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成骨细胞补充不足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81528"/>
            <a:ext cx="2377440" cy="658368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72968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73F7B"/>
                </a:solidFill>
                <a:latin typeface="Noto Sans CJK SC"/>
              </a:defRPr>
            </a:pPr>
            <a:r>
              <a:t>成骨细胞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3081528"/>
            <a:ext cx="4206240" cy="658368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9544" y="3172968"/>
            <a:ext cx="39502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线粒体应激、损伤与死亡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3081528"/>
            <a:ext cx="4206240" cy="658368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07224" y="3172968"/>
            <a:ext cx="39502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基质生成与矿化能力下降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794760"/>
            <a:ext cx="2377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86200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73F7B"/>
                </a:solidFill>
                <a:latin typeface="Noto Sans CJK SC"/>
              </a:defRPr>
            </a:pPr>
            <a:r>
              <a:t>骨细胞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794760"/>
            <a:ext cx="4206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9544" y="3886200"/>
            <a:ext cx="39502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机械感知及存活受扰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RANKL相关调控改变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3794760"/>
            <a:ext cx="4206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07224" y="3886200"/>
            <a:ext cx="39502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损伤修复与重建信号失衡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507992"/>
            <a:ext cx="2377440" cy="658368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599431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73F7B"/>
                </a:solidFill>
                <a:latin typeface="Noto Sans CJK SC"/>
              </a:defRPr>
            </a:pPr>
            <a:r>
              <a:t>破骨细胞及前体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4507992"/>
            <a:ext cx="4206240" cy="658368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9544" y="4599431"/>
            <a:ext cx="39502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融合／分化／活性改变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作用方向依条件而定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4507992"/>
            <a:ext cx="4206240" cy="658368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07224" y="4599431"/>
            <a:ext cx="39502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病理背景下可增强骨吸收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513832"/>
            <a:ext cx="10972800" cy="521207"/>
          </a:xfrm>
          <a:prstGeom prst="rect">
            <a:avLst/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614416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AE4949"/>
                </a:solidFill>
                <a:latin typeface="Noto Sans CJK SC"/>
              </a:defRPr>
            </a:pPr>
            <a:r>
              <a:t>骨量净丢失的关键是“细胞命运失衡”，而非所有骨细胞都发生同一种死亡。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骨质疏松证据：从团队假说走向可检验的机制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两篇团队论文均为综述；机制证据主要来自其引用的原始研究。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Wang et al., 2023 · doi:10.3389/fcell.2023.1324213；Zhang et al., 2026 · doi:10.2147/JIR.S584582（原始研究见讲稿备注）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38528"/>
            <a:ext cx="3447288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66543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EE751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73F7B"/>
                </a:solidFill>
                <a:latin typeface="Noto Sans CJK SC"/>
              </a:defRPr>
            </a:pPr>
            <a:r>
              <a:t>雌激素缺乏与炎症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55848"/>
            <a:ext cx="3072384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TNF-α与P2X7相关调节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促进破骨谱系分化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[Lu et al., 2020]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938528"/>
            <a:ext cx="3447288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066543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EE751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2491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73F7B"/>
                </a:solidFill>
                <a:latin typeface="Noto Sans CJK SC"/>
              </a:defRPr>
            </a:pPr>
            <a:r>
              <a:t>破骨功能与骨丢失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355848"/>
            <a:ext cx="3072384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P2X7参与破骨功能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及小鼠模型中的骨丢失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[Wang et al., 2018]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6" y="1938528"/>
            <a:ext cx="3447288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066543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EE751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724912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73F7B"/>
                </a:solidFill>
                <a:latin typeface="Noto Sans CJK SC"/>
              </a:defRPr>
            </a:pPr>
            <a:r>
              <a:t>成骨端炎症小体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355848"/>
            <a:ext cx="3072384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靶向下调成骨细胞NLRP3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改善绝经后模型骨质量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[Xu et al., 2024]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956048"/>
            <a:ext cx="10972800" cy="1005840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084064"/>
            <a:ext cx="10561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73F7B"/>
                </a:solidFill>
                <a:latin typeface="Noto Sans CJK SC"/>
              </a:defRPr>
            </a:pPr>
            <a:r>
              <a:t>证据边界：受体或下游干预有效 ≠ 完整证明“ATP诱导死亡导致骨质疏松”。</a:t>
            </a:r>
          </a:p>
          <a:p>
            <a:pPr>
              <a:spcAft>
                <a:spcPts val="400"/>
              </a:spcAft>
              <a:defRPr sz="1900" b="1">
                <a:solidFill>
                  <a:srgbClr val="073F7B"/>
                </a:solidFill>
                <a:latin typeface="Noto Sans CJK SC"/>
              </a:defRPr>
            </a:pPr>
            <a:r>
              <a:t>仍需串联验证ATP来源、靶细胞死亡类型及骨表型之间的因果关系。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从机制到干预：恢复ATP稳态，验证骨保护因果链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延伸思路：保留生理嘌呤能信号，抑制持续异常刺激及其病理放大。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Wang et al., 2023 · doi:10.3389/fcell.2023.1324213；Zhang et al., 2026 · doi:10.2147/JIR.S584582；研究设计为基于综述的延伸建议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3447288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0253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73F7B"/>
                </a:solidFill>
                <a:latin typeface="Noto Sans CJK SC"/>
              </a:defRPr>
            </a:pPr>
            <a:r>
              <a:t>上游：ATP稳态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31089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调控异常释放</a:t>
            </a:r>
          </a:p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CD39 / CD73相关代谢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828800"/>
            <a:ext cx="3447288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0253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73F7B"/>
                </a:solidFill>
                <a:latin typeface="Noto Sans CJK SC"/>
              </a:defRPr>
            </a:pPr>
            <a:r>
              <a:t>中游：受体与应激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69464"/>
            <a:ext cx="31089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P2X7R的选择性干预</a:t>
            </a:r>
          </a:p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线粒体与ROS保护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9016" y="1828800"/>
            <a:ext cx="3447288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200253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73F7B"/>
                </a:solidFill>
                <a:latin typeface="Noto Sans CJK SC"/>
              </a:defRPr>
            </a:pPr>
            <a:r>
              <a:t>下游：死亡与炎症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569464"/>
            <a:ext cx="31089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NLRP3相关通路调控</a:t>
            </a:r>
          </a:p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优先考虑骨细胞靶向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73F7B"/>
                </a:solidFill>
                <a:latin typeface="Noto Sans CJK SC"/>
              </a:defRPr>
            </a:pPr>
            <a:r>
              <a:t>下一步：在同一模型中串联验证，而非只测一项炎症指标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270248"/>
            <a:ext cx="2468880" cy="1298448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4379976"/>
            <a:ext cx="21762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暴露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846320"/>
            <a:ext cx="21762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局部eATP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浓度／时间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4270248"/>
            <a:ext cx="2468880" cy="1298448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5304" y="4379976"/>
            <a:ext cx="21762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通路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4846320"/>
            <a:ext cx="21762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P2X7依赖性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与干预救援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270248"/>
            <a:ext cx="2468880" cy="1298448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4379976"/>
            <a:ext cx="21762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命运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4846320"/>
            <a:ext cx="21762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细胞特异性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死亡执行证据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4270248"/>
            <a:ext cx="2468880" cy="1298448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4584" y="4379976"/>
            <a:ext cx="217627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骨表型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4846320"/>
            <a:ext cx="21762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micro-CT／骨转换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组织学与力学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384" y="4672584"/>
            <a:ext cx="3566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73F7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7024" y="4672584"/>
            <a:ext cx="3566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73F7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41664" y="4672584"/>
            <a:ext cx="3566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73F7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797296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AE4949"/>
                </a:solidFill>
                <a:latin typeface="Noto Sans CJK SC"/>
              </a:defRPr>
            </a:pPr>
            <a:r>
              <a:t>核心判断：阻断异常ATP信号后，细胞命运与骨重建能否同步得到纠正？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