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中央的线粒体应激环讲起：ATP异常信号经嘌呤能受体与离子失衡、线粒体功能障碍和ROS放大相联系。再指向左下方OP区域，强调骨质疏松中的成骨细胞和骨细胞命运与功能受扰。OA、IVDD和OP共享部分应激模块，但靶细胞、组织损伤和疾病结局不同，不能把其他骨退行性疾病的证据直接视为OP的证据。讲解落点是骨形成与骨吸收的失衡，不能把细胞死亡单独等同于骨质疏松。该图属于2026年综述的整合示意，不是团队完成全链条实验的结果。原图完整保留，右侧中文解读为根据综述形成的概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图的上部讲解：死亡细胞可释放ATP和炎症相关信号，ATP也可通过P2受体直接参与BMSC信号调控。图中列出ERK、p38、JNK和NF-κB等通路，并显示BMSC向成骨细胞、脂肪细胞、软骨细胞等分化的关系。不要把所有箭头解释为抑制：原图及综述包含嘌呤能信号支持成骨分化的作用。联系骨质疏松时，重点提出病理微环境是否改变BMSC存活和成骨命运，从而削弱成骨细胞的补充。这是综述基础上的疾病机制解读，不代表原图独立证明了ATP诱导BMSC死亡导致骨质疏松。刺激强度、持续时间、受体类型和炎症背景决定作用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图是ATP诱导细胞死亡与焦亡组分串扰的通用机制图，不是骨细胞特异性实验。左侧可沿经典炎症小体–caspase-1–Gasdermin成孔支路讲解；图中右侧还包含caspase-4/5/11相关非经典支路，不能把它直接讲成由P2X7单独启动的必然链条，也不能将所有组分拼成唯一线性通路。经典NLRP3活化通常还需要炎症预激活及适当细胞背景。Gasdermin切割、膜成孔与炎症因子成熟释放共同构成判断焦亡的证据；单测ATP、NLRP3表达或细胞活力下降并不充分。联系骨质疏松时，表述为焦亡相关炎症可能扰动骨微环境，需要在具体骨细胞和疾病模型中验证，不宣称整条链已获临床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ATP异常信号：从共同损伤轴到骨质疏松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聚焦骨质疏松（OP）区域：共同应激通路如何影响骨重建？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Zhang et al., 2026, Figure 2 · doi:10.2147/JIR.S584582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1</a:t>
            </a:r>
          </a:p>
        </p:txBody>
      </p:sp>
      <p:pic>
        <p:nvPicPr>
          <p:cNvPr id="9" name="Picture 8" descr="2026_Fig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399" y="1737360"/>
            <a:ext cx="465048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80960" y="1856231"/>
            <a:ext cx="3867912" cy="147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856231"/>
            <a:ext cx="45720" cy="1472184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965960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共同通路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459736"/>
            <a:ext cx="3529584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胞外ATP异常暴露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嘌呤能受体应答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离子失衡、线粒体应激与ROS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493008"/>
            <a:ext cx="3867912" cy="147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493008"/>
            <a:ext cx="45720" cy="1472184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602736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骨组织落点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4096511"/>
            <a:ext cx="3529584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成骨细胞与骨细胞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存活及功能受到扰动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骨形成与骨吸收耦联失衡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5166360"/>
            <a:ext cx="3867912" cy="813816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5294376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E4949"/>
                </a:solidFill>
                <a:latin typeface="Noto Sans CJK SC"/>
              </a:defRPr>
            </a:pPr>
            <a:r>
              <a:t>综述整合模型，不能视为</a:t>
            </a:r>
          </a:p>
          <a:p>
            <a:pPr>
              <a:spcAft>
                <a:spcPts val="400"/>
              </a:spcAft>
              <a:defRPr sz="1600" b="1">
                <a:solidFill>
                  <a:srgbClr val="AE4949"/>
                </a:solidFill>
                <a:latin typeface="Noto Sans CJK SC"/>
              </a:defRPr>
            </a:pPr>
            <a:r>
              <a:t>骨质疏松全链条因果证据。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成骨端：ATP与炎症微环境影响干细胞命运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骨髓间充质干细胞（BMSC）是成骨细胞的重要来源，ATP作用具有双向性。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al., 2023, Figure 2 · doi:10.3389/fcell.2023.1324213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2</a:t>
            </a:r>
          </a:p>
        </p:txBody>
      </p:sp>
      <p:pic>
        <p:nvPicPr>
          <p:cNvPr id="9" name="Picture 8" descr="2023_Figur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24285"/>
            <a:ext cx="6766560" cy="40781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80960" y="1856231"/>
            <a:ext cx="3867912" cy="147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856231"/>
            <a:ext cx="45720" cy="1472184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965960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图中主要关系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459736"/>
            <a:ext cx="3529584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ATP与炎症因子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共同影响P2受体相关信号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涉及MAPK与NF-κB等通路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493008"/>
            <a:ext cx="3867912" cy="147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493008"/>
            <a:ext cx="45720" cy="1472184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602736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骨质疏松的启示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4096511"/>
            <a:ext cx="3529584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关注BMSC存活与成骨分化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病理应激下成骨补充可能不足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不能将所有ATP信号视为有害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5166360"/>
            <a:ext cx="3867912" cy="813816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5294376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E4949"/>
                </a:solidFill>
                <a:latin typeface="Noto Sans CJK SC"/>
              </a:defRPr>
            </a:pPr>
            <a:r>
              <a:t>图中包含促成骨作用；方向</a:t>
            </a:r>
          </a:p>
          <a:p>
            <a:pPr>
              <a:spcAft>
                <a:spcPts val="400"/>
              </a:spcAft>
              <a:defRPr sz="1600" b="1">
                <a:solidFill>
                  <a:srgbClr val="AE4949"/>
                </a:solidFill>
                <a:latin typeface="Noto Sans CJK SC"/>
              </a:defRPr>
            </a:pPr>
            <a:r>
              <a:t>取决于刺激条件与受体背景。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炎症放大：ATP相关信号与焦亡执行相连接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从受体与炎症小体信号，落到Gasdermin成孔及炎症因子释放。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  <a:r>
              <a:t>Wang et al., 2023, Figure 5 · doi:10.3389/fcell.2023.1324213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3</a:t>
            </a:r>
          </a:p>
        </p:txBody>
      </p:sp>
      <p:pic>
        <p:nvPicPr>
          <p:cNvPr id="9" name="Picture 8" descr="2023_Figure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1737360"/>
            <a:ext cx="643128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80960" y="1856231"/>
            <a:ext cx="3867912" cy="147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856231"/>
            <a:ext cx="45720" cy="1472184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965960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执行通路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459736"/>
            <a:ext cx="3529584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图示包含炎症小体／caspase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与Gasdermin相关成孔支路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伴随IL-1β、IL-18释放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493008"/>
            <a:ext cx="3867912" cy="1472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493008"/>
            <a:ext cx="45720" cy="1472184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602736"/>
            <a:ext cx="352958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骨微环境的启示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4096511"/>
            <a:ext cx="3529584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炎症与损伤可相互放大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成骨谱系可能受到间接影响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具体骨细胞因果链仍需验证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5166360"/>
            <a:ext cx="3867912" cy="813816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5294376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E4949"/>
                </a:solidFill>
                <a:latin typeface="Noto Sans CJK SC"/>
              </a:defRPr>
            </a:pPr>
            <a:r>
              <a:t>焦亡须有执行证据；ATP升高</a:t>
            </a:r>
          </a:p>
          <a:p>
            <a:pPr>
              <a:spcAft>
                <a:spcPts val="400"/>
              </a:spcAft>
              <a:defRPr sz="1600" b="1">
                <a:solidFill>
                  <a:srgbClr val="AE4949"/>
                </a:solidFill>
                <a:latin typeface="Noto Sans CJK SC"/>
              </a:defRPr>
            </a:pPr>
            <a:r>
              <a:t>或炎症指标不能单独判定。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