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578840" cy="6949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用户在聊天中提供的图进行逐项内容转录和原生PowerPoint结构重建。所有文字、参数、面板、采集流程卡片、箭头及研究流程扇区均为可编辑矢量对象；小图标由图片工具依据原图分离重建，可独立移动和缩放，内部细节不是原生矢量。未使用整页图片叠加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顶部研究设计标题条"/>
          <p:cNvSpPr/>
          <p:nvPr/>
        </p:nvSpPr>
        <p:spPr>
          <a:xfrm>
            <a:off x="0" y="9144"/>
            <a:ext cx="13578840" cy="484632"/>
          </a:xfrm>
          <a:gradFill>
            <a:gsLst>
              <a:gs pos="0">
                <a:srgbClr val="003F85"/>
              </a:gs>
              <a:gs pos="100000">
                <a:srgbClr val="217AC6"/>
              </a:gs>
            </a:gsLst>
            <a:lin ang="0" scaled="1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研究设计与采集安排：单中心横断面研究 · 前瞻性连续纳入 · 治疗前基线评价"/>
          <p:cNvSpPr txBox="1"/>
          <p:nvPr/>
        </p:nvSpPr>
        <p:spPr>
          <a:xfrm>
            <a:off x="1298448" y="36576"/>
            <a:ext cx="1106424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88" b="1">
                <a:solidFill>
                  <a:srgbClr val="FFFFFF"/>
                </a:solidFill>
                <a:latin typeface="Noto Sans CJK SC"/>
                <a:ea typeface="Noto Sans CJK SC"/>
              </a:rPr>
              <a:t>研究设计与采集安排：单中心横断面研究 · 前瞻性连续纳入 · 治疗前基线评价</a:t>
            </a:r>
          </a:p>
        </p:txBody>
      </p:sp>
      <p:sp>
        <p:nvSpPr>
          <p:cNvPr id="4" name="01研究设计面板"/>
          <p:cNvSpPr/>
          <p:nvPr/>
        </p:nvSpPr>
        <p:spPr>
          <a:xfrm>
            <a:off x="118872" y="658368"/>
            <a:ext cx="5138928" cy="3511296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4427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章节标题_研究设计与样本量"/>
          <p:cNvSpPr/>
          <p:nvPr/>
        </p:nvSpPr>
        <p:spPr>
          <a:xfrm>
            <a:off x="210312" y="676656"/>
            <a:ext cx="3300984" cy="448056"/>
          </a:xfrm>
          <a:gradFill>
            <a:gsLst>
              <a:gs pos="0">
                <a:srgbClr val="003B87"/>
              </a:gs>
              <a:gs pos="100000">
                <a:srgbClr val="137BD4"/>
              </a:gs>
            </a:gsLst>
            <a:lin ang="0" scaled="1"/>
          </a:gradFill>
          <a:prstGeom prst="roundRect">
            <a:avLst>
              <a:gd name="adj" fmla="val 48979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章节编号底色"/>
          <p:cNvSpPr/>
          <p:nvPr/>
        </p:nvSpPr>
        <p:spPr>
          <a:xfrm>
            <a:off x="210312" y="676656"/>
            <a:ext cx="676656" cy="448056"/>
          </a:xfrm>
          <a:prstGeom prst="roundRect">
            <a:avLst>
              <a:gd name="adj" fmla="val 48979"/>
            </a:avLst>
          </a:prstGeom>
          <a:solidFill>
            <a:srgbClr val="07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283464" y="694944"/>
            <a:ext cx="53949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研究设计与样本量"/>
          <p:cNvSpPr txBox="1"/>
          <p:nvPr/>
        </p:nvSpPr>
        <p:spPr>
          <a:xfrm>
            <a:off x="1014984" y="704088"/>
            <a:ext cx="2340864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95" b="1">
                <a:solidFill>
                  <a:srgbClr val="FFFFFF"/>
                </a:solidFill>
                <a:latin typeface="Noto Sans CJK SC"/>
                <a:ea typeface="Noto Sans CJK SC"/>
              </a:rPr>
              <a:t>研究设计与样本量</a:t>
            </a:r>
          </a:p>
        </p:txBody>
      </p:sp>
      <p:sp>
        <p:nvSpPr>
          <p:cNvPr id="9" name="研究设计项目符号"/>
          <p:cNvSpPr/>
          <p:nvPr/>
        </p:nvSpPr>
        <p:spPr>
          <a:xfrm>
            <a:off x="301752" y="1325880"/>
            <a:ext cx="109728" cy="109728"/>
          </a:xfrm>
          <a:prstGeom prst="ellipse">
            <a:avLst/>
          </a:prstGeom>
          <a:solidFill>
            <a:srgbClr val="102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单中心、横断面研究，前瞻性连续纳入190例独立TMD患者，&#10;均在治疗前完成一次基线评价。"/>
          <p:cNvSpPr txBox="1"/>
          <p:nvPr/>
        </p:nvSpPr>
        <p:spPr>
          <a:xfrm>
            <a:off x="512064" y="1243584"/>
            <a:ext cx="4572000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02768"/>
                </a:solidFill>
                <a:latin typeface="Noto Sans CJK SC"/>
                <a:ea typeface="Noto Sans CJK SC"/>
              </a:rPr>
              <a:t>单中心、横断面研究，前瞻性连续纳入190例独立TMD患者，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02768"/>
                </a:solidFill>
                <a:latin typeface="Noto Sans CJK SC"/>
                <a:ea typeface="Noto Sans CJK SC"/>
              </a:rPr>
              <a:t>均在治疗前完成一次基线评价。</a:t>
            </a:r>
          </a:p>
        </p:txBody>
      </p:sp>
      <p:sp>
        <p:nvSpPr>
          <p:cNvPr id="11" name="样本量参数框"/>
          <p:cNvSpPr/>
          <p:nvPr/>
        </p:nvSpPr>
        <p:spPr>
          <a:xfrm>
            <a:off x="256032" y="1883664"/>
            <a:ext cx="4864608" cy="1463040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10625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样本量参数标题条"/>
          <p:cNvSpPr/>
          <p:nvPr/>
        </p:nvSpPr>
        <p:spPr>
          <a:xfrm>
            <a:off x="256032" y="1883664"/>
            <a:ext cx="2505456" cy="365760"/>
          </a:xfrm>
          <a:gradFill>
            <a:gsLst>
              <a:gs pos="0">
                <a:srgbClr val="0769CA"/>
              </a:gs>
              <a:gs pos="100000">
                <a:srgbClr val="36A8F5"/>
              </a:gs>
            </a:gsLst>
            <a:lin ang="0" scaled="1"/>
          </a:gradFill>
          <a:prstGeom prst="roundRect">
            <a:avLst>
              <a:gd name="adj" fmla="val 275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样本量依据（与报告一致）"/>
          <p:cNvSpPr txBox="1"/>
          <p:nvPr/>
        </p:nvSpPr>
        <p:spPr>
          <a:xfrm>
            <a:off x="484632" y="1911095"/>
            <a:ext cx="211226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98" b="1">
                <a:solidFill>
                  <a:srgbClr val="FFFFFF"/>
                </a:solidFill>
                <a:latin typeface="Noto Sans CJK SC"/>
                <a:ea typeface="Noto Sans CJK SC"/>
              </a:rPr>
              <a:t>样本量依据（与报告一致）</a:t>
            </a:r>
          </a:p>
        </p:txBody>
      </p:sp>
      <p:sp>
        <p:nvSpPr>
          <p:cNvPr id="14" name="样本量参数分隔线"/>
          <p:cNvSpPr/>
          <p:nvPr/>
        </p:nvSpPr>
        <p:spPr>
          <a:xfrm>
            <a:off x="2587752" y="2377440"/>
            <a:ext cx="11887" cy="822960"/>
          </a:xfrm>
          <a:prstGeom prst="rect">
            <a:avLst/>
          </a:prstGeom>
          <a:solidFill>
            <a:srgbClr val="C5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预设效应量"/>
          <p:cNvSpPr txBox="1"/>
          <p:nvPr/>
        </p:nvSpPr>
        <p:spPr>
          <a:xfrm>
            <a:off x="512064" y="2350008"/>
            <a:ext cx="102412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预设效应量</a:t>
            </a:r>
          </a:p>
        </p:txBody>
      </p:sp>
      <p:sp>
        <p:nvSpPr>
          <p:cNvPr id="16" name="检验效能"/>
          <p:cNvSpPr txBox="1"/>
          <p:nvPr/>
        </p:nvSpPr>
        <p:spPr>
          <a:xfrm>
            <a:off x="512064" y="2679192"/>
            <a:ext cx="9509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检验效能</a:t>
            </a:r>
          </a:p>
        </p:txBody>
      </p:sp>
      <p:sp>
        <p:nvSpPr>
          <p:cNvPr id="17" name="无效资料比例"/>
          <p:cNvSpPr txBox="1"/>
          <p:nvPr/>
        </p:nvSpPr>
        <p:spPr>
          <a:xfrm>
            <a:off x="512064" y="3008376"/>
            <a:ext cx="115214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02768"/>
                </a:solidFill>
                <a:latin typeface="Noto Sans CJK SC"/>
                <a:ea typeface="Noto Sans CJK SC"/>
              </a:rPr>
              <a:t>无效资料比例</a:t>
            </a:r>
          </a:p>
        </p:txBody>
      </p:sp>
      <p:sp>
        <p:nvSpPr>
          <p:cNvPr id="18" name="显著性水平"/>
          <p:cNvSpPr txBox="1"/>
          <p:nvPr/>
        </p:nvSpPr>
        <p:spPr>
          <a:xfrm>
            <a:off x="2843784" y="2350008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显著性水平</a:t>
            </a:r>
          </a:p>
        </p:txBody>
      </p:sp>
      <p:sp>
        <p:nvSpPr>
          <p:cNvPr id="19" name="协变量数量"/>
          <p:cNvSpPr txBox="1"/>
          <p:nvPr/>
        </p:nvSpPr>
        <p:spPr>
          <a:xfrm>
            <a:off x="2843784" y="2688336"/>
            <a:ext cx="996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协变量数量</a:t>
            </a:r>
          </a:p>
        </p:txBody>
      </p:sp>
      <p:sp>
        <p:nvSpPr>
          <p:cNvPr id="20" name="rₚ = 0.22"/>
          <p:cNvSpPr txBox="1"/>
          <p:nvPr/>
        </p:nvSpPr>
        <p:spPr>
          <a:xfrm>
            <a:off x="1527048" y="235000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1">
                <a:solidFill>
                  <a:srgbClr val="102768"/>
                </a:solidFill>
                <a:latin typeface="Noto Sans CJK SC"/>
                <a:ea typeface="Noto Sans CJK SC"/>
              </a:rPr>
              <a:t>r</a:t>
            </a:r>
            <a:r>
              <a:rPr sz="1008" b="1" baseline="-25000">
                <a:solidFill>
                  <a:srgbClr val="102768"/>
                </a:solidFill>
                <a:latin typeface="Noto Sans CJK SC"/>
                <a:ea typeface="Noto Sans CJK SC"/>
              </a:rPr>
              <a:t>p</a:t>
            </a:r>
            <a:r>
              <a:rPr sz="1368" b="1">
                <a:solidFill>
                  <a:srgbClr val="102768"/>
                </a:solidFill>
                <a:latin typeface="Noto Sans CJK SC"/>
                <a:ea typeface="Noto Sans CJK SC"/>
              </a:rPr>
              <a:t> = 0.22</a:t>
            </a:r>
          </a:p>
        </p:txBody>
      </p:sp>
      <p:sp>
        <p:nvSpPr>
          <p:cNvPr id="21" name="1 − β = 0.80"/>
          <p:cNvSpPr txBox="1"/>
          <p:nvPr/>
        </p:nvSpPr>
        <p:spPr>
          <a:xfrm>
            <a:off x="1536192" y="2679192"/>
            <a:ext cx="98755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02768"/>
                </a:solidFill>
                <a:latin typeface="Noto Sans CJK SC"/>
                <a:ea typeface="Noto Sans CJK SC"/>
              </a:rPr>
              <a:t>1 − β = 0.80</a:t>
            </a:r>
          </a:p>
        </p:txBody>
      </p:sp>
      <p:sp>
        <p:nvSpPr>
          <p:cNvPr id="22" name="10%"/>
          <p:cNvSpPr txBox="1"/>
          <p:nvPr/>
        </p:nvSpPr>
        <p:spPr>
          <a:xfrm>
            <a:off x="1618488" y="3008376"/>
            <a:ext cx="79552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102768"/>
                </a:solidFill>
                <a:latin typeface="Noto Sans CJK SC"/>
                <a:ea typeface="Noto Sans CJK SC"/>
              </a:rPr>
              <a:t>10%</a:t>
            </a:r>
          </a:p>
        </p:txBody>
      </p:sp>
      <p:sp>
        <p:nvSpPr>
          <p:cNvPr id="23" name="α = 0.05（双侧）"/>
          <p:cNvSpPr txBox="1"/>
          <p:nvPr/>
        </p:nvSpPr>
        <p:spPr>
          <a:xfrm>
            <a:off x="3858768" y="2350008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102768"/>
                </a:solidFill>
                <a:latin typeface="Noto Sans CJK SC"/>
                <a:ea typeface="Noto Sans CJK SC"/>
              </a:rPr>
              <a:t>α = 0.05（双侧）</a:t>
            </a:r>
          </a:p>
        </p:txBody>
      </p:sp>
      <p:sp>
        <p:nvSpPr>
          <p:cNvPr id="24" name="k = 5"/>
          <p:cNvSpPr txBox="1"/>
          <p:nvPr/>
        </p:nvSpPr>
        <p:spPr>
          <a:xfrm>
            <a:off x="3858768" y="2688336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102768"/>
                </a:solidFill>
                <a:latin typeface="Noto Sans CJK SC"/>
                <a:ea typeface="Noto Sans CJK SC"/>
              </a:rPr>
              <a:t>k = 5</a:t>
            </a:r>
          </a:p>
        </p:txBody>
      </p:sp>
      <p:sp>
        <p:nvSpPr>
          <p:cNvPr id="25" name="样本量推导提示"/>
          <p:cNvSpPr/>
          <p:nvPr/>
        </p:nvSpPr>
        <p:spPr>
          <a:xfrm>
            <a:off x="228600" y="3502152"/>
            <a:ext cx="5138928" cy="557784"/>
          </a:xfrm>
          <a:prstGeom prst="roundRect">
            <a:avLst>
              <a:gd name="adj" fmla="val 29508"/>
            </a:avLst>
          </a:prstGeom>
          <a:solidFill>
            <a:srgbClr val="FFF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有效样本约165例 → 至少184例 → 计划纳入190例"/>
          <p:cNvSpPr txBox="1"/>
          <p:nvPr/>
        </p:nvSpPr>
        <p:spPr>
          <a:xfrm>
            <a:off x="448056" y="3593592"/>
            <a:ext cx="47274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1">
                <a:solidFill>
                  <a:srgbClr val="102768"/>
                </a:solidFill>
                <a:latin typeface="Noto Sans CJK SC"/>
                <a:ea typeface="Noto Sans CJK SC"/>
              </a:rPr>
              <a:t>有效样本约165例 → 至少184例 → 计划纳入190例</a:t>
            </a:r>
          </a:p>
        </p:txBody>
      </p:sp>
      <p:sp>
        <p:nvSpPr>
          <p:cNvPr id="27" name="流程外环"/>
          <p:cNvSpPr/>
          <p:nvPr/>
        </p:nvSpPr>
        <p:spPr>
          <a:xfrm>
            <a:off x="5239512" y="740664"/>
            <a:ext cx="3172968" cy="3319272"/>
          </a:xfrm>
          <a:gradFill>
            <a:gsLst>
              <a:gs pos="0">
                <a:srgbClr val="2F9DC8"/>
              </a:gs>
              <a:gs pos="100000">
                <a:srgbClr val="DAEEFB"/>
              </a:gs>
            </a:gsLst>
            <a:lin ang="5400000" scaled="1"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流程扇区_连续筛查"/>
          <p:cNvSpPr/>
          <p:nvPr/>
        </p:nvSpPr>
        <p:spPr>
          <a:xfrm>
            <a:off x="5422392" y="1014984"/>
            <a:ext cx="2807208" cy="2779776"/>
          </a:xfrm>
          <a:gradFill>
            <a:gsLst>
              <a:gs pos="0">
                <a:srgbClr val="056CC3"/>
              </a:gs>
              <a:gs pos="100000">
                <a:srgbClr val="003D91"/>
              </a:gs>
            </a:gsLst>
            <a:lin ang="5400000" scaled="1"/>
          </a:gradFill>
          <a:prstGeom prst="pie">
            <a:avLst>
              <a:gd name="adj1" fmla="val 10800000"/>
              <a:gd name="adj2" fmla="val 1620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流程扇区_190例基线评价"/>
          <p:cNvSpPr/>
          <p:nvPr/>
        </p:nvSpPr>
        <p:spPr>
          <a:xfrm>
            <a:off x="5422392" y="1014984"/>
            <a:ext cx="2807208" cy="2779776"/>
          </a:xfrm>
          <a:gradFill>
            <a:gsLst>
              <a:gs pos="0">
                <a:srgbClr val="075AAE"/>
              </a:gs>
              <a:gs pos="100000">
                <a:srgbClr val="0C84D8"/>
              </a:gs>
            </a:gsLst>
            <a:lin ang="5400000" scaled="1"/>
          </a:gradFill>
          <a:prstGeom prst="pie">
            <a:avLst>
              <a:gd name="adj1" fmla="val 16200000"/>
              <a:gd name="adj2" fmla="val 2160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流程扇区_治疗前同步采集"/>
          <p:cNvSpPr/>
          <p:nvPr/>
        </p:nvSpPr>
        <p:spPr>
          <a:xfrm>
            <a:off x="5422392" y="1014984"/>
            <a:ext cx="2807208" cy="2779776"/>
          </a:xfrm>
          <a:gradFill>
            <a:gsLst>
              <a:gs pos="0">
                <a:srgbClr val="0375C5"/>
              </a:gs>
              <a:gs pos="100000">
                <a:srgbClr val="034493"/>
              </a:gs>
            </a:gsLst>
            <a:lin ang="5400000" scaled="1"/>
          </a:gradFill>
          <a:prstGeom prst="pie">
            <a:avLst>
              <a:gd name="adj1" fmla="val 0"/>
              <a:gd name="adj2" fmla="val 540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流程扇区_其中50例重复性评价"/>
          <p:cNvSpPr/>
          <p:nvPr/>
        </p:nvSpPr>
        <p:spPr>
          <a:xfrm>
            <a:off x="5422392" y="1014984"/>
            <a:ext cx="2807208" cy="2779776"/>
          </a:xfrm>
          <a:gradFill>
            <a:gsLst>
              <a:gs pos="0">
                <a:srgbClr val="22B6DB"/>
              </a:gs>
              <a:gs pos="100000">
                <a:srgbClr val="0875AE"/>
              </a:gs>
            </a:gsLst>
            <a:lin ang="5400000" scaled="1"/>
          </a:gradFill>
          <a:prstGeom prst="pie">
            <a:avLst>
              <a:gd name="adj1" fmla="val 5400000"/>
              <a:gd name="adj2" fmla="val 1080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流程纵向分隔线"/>
          <p:cNvSpPr/>
          <p:nvPr/>
        </p:nvSpPr>
        <p:spPr>
          <a:xfrm>
            <a:off x="6766560" y="731520"/>
            <a:ext cx="100584" cy="3328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流程横向分隔线"/>
          <p:cNvSpPr/>
          <p:nvPr/>
        </p:nvSpPr>
        <p:spPr>
          <a:xfrm>
            <a:off x="5266944" y="2340864"/>
            <a:ext cx="297180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研究流程中心"/>
          <p:cNvSpPr/>
          <p:nvPr/>
        </p:nvSpPr>
        <p:spPr>
          <a:xfrm>
            <a:off x="6291072" y="1874519"/>
            <a:ext cx="1060704" cy="10241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研究&#10;流程"/>
          <p:cNvSpPr txBox="1"/>
          <p:nvPr/>
        </p:nvSpPr>
        <p:spPr>
          <a:xfrm>
            <a:off x="6492240" y="2029968"/>
            <a:ext cx="658368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102768"/>
                </a:solidFill>
                <a:latin typeface="Noto Sans CJK SC"/>
                <a:ea typeface="Noto Sans CJK SC"/>
              </a:rPr>
              <a:t>研究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102768"/>
                </a:solidFill>
                <a:latin typeface="Noto Sans CJK SC"/>
                <a:ea typeface="Noto Sans CJK SC"/>
              </a:rPr>
              <a:t>流程</a:t>
            </a:r>
          </a:p>
        </p:txBody>
      </p:sp>
      <p:pic>
        <p:nvPicPr>
          <p:cNvPr id="36" name="独立图标_people_white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207" y="1207008"/>
            <a:ext cx="393697" cy="310896"/>
          </a:xfrm>
          <a:prstGeom prst="rect">
            <a:avLst/>
          </a:prstGeom>
        </p:spPr>
      </p:pic>
      <p:sp>
        <p:nvSpPr>
          <p:cNvPr id="37" name="连续&#10;筛查"/>
          <p:cNvSpPr txBox="1"/>
          <p:nvPr/>
        </p:nvSpPr>
        <p:spPr>
          <a:xfrm>
            <a:off x="5641848" y="1554480"/>
            <a:ext cx="1014984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FFFFFF"/>
                </a:solidFill>
                <a:latin typeface="Noto Sans CJK SC"/>
                <a:ea typeface="Noto Sans CJK SC"/>
              </a:rPr>
              <a:t>连续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FFFFFF"/>
                </a:solidFill>
                <a:latin typeface="Noto Sans CJK SC"/>
                <a:ea typeface="Noto Sans CJK SC"/>
              </a:rPr>
              <a:t>筛查</a:t>
            </a:r>
          </a:p>
        </p:txBody>
      </p:sp>
      <p:pic>
        <p:nvPicPr>
          <p:cNvPr id="38" name="独立图标_clipboard_white" descr="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299" y="1161288"/>
            <a:ext cx="316121" cy="402336"/>
          </a:xfrm>
          <a:prstGeom prst="rect">
            <a:avLst/>
          </a:prstGeom>
        </p:spPr>
      </p:pic>
      <p:sp>
        <p:nvSpPr>
          <p:cNvPr id="39" name="190例&#10;基线评价"/>
          <p:cNvSpPr txBox="1"/>
          <p:nvPr/>
        </p:nvSpPr>
        <p:spPr>
          <a:xfrm>
            <a:off x="7324344" y="1563624"/>
            <a:ext cx="85953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</a:rPr>
              <a:t>190例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</a:rPr>
              <a:t>基线评价</a:t>
            </a:r>
          </a:p>
        </p:txBody>
      </p:sp>
      <p:pic>
        <p:nvPicPr>
          <p:cNvPr id="40" name="独立图标_bars_white" descr="ba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646646"/>
            <a:ext cx="356616" cy="321123"/>
          </a:xfrm>
          <a:prstGeom prst="rect">
            <a:avLst/>
          </a:prstGeom>
        </p:spPr>
      </p:pic>
      <p:sp>
        <p:nvSpPr>
          <p:cNvPr id="41" name="其中50例&#10;重复性评价"/>
          <p:cNvSpPr txBox="1"/>
          <p:nvPr/>
        </p:nvSpPr>
        <p:spPr>
          <a:xfrm>
            <a:off x="5605272" y="2980944"/>
            <a:ext cx="1097280" cy="6126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69" b="1">
                <a:solidFill>
                  <a:srgbClr val="FFFFFF"/>
                </a:solidFill>
                <a:latin typeface="Noto Sans CJK SC"/>
                <a:ea typeface="Noto Sans CJK SC"/>
              </a:rPr>
              <a:t>其中50例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69" b="1">
                <a:solidFill>
                  <a:srgbClr val="FFFFFF"/>
                </a:solidFill>
                <a:latin typeface="Noto Sans CJK SC"/>
                <a:ea typeface="Noto Sans CJK SC"/>
              </a:rPr>
              <a:t>重复性评价</a:t>
            </a:r>
          </a:p>
        </p:txBody>
      </p:sp>
      <p:pic>
        <p:nvPicPr>
          <p:cNvPr id="42" name="独立图标_clock_white" descr="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616760"/>
            <a:ext cx="365760" cy="362606"/>
          </a:xfrm>
          <a:prstGeom prst="rect">
            <a:avLst/>
          </a:prstGeom>
        </p:spPr>
      </p:pic>
      <p:sp>
        <p:nvSpPr>
          <p:cNvPr id="43" name="治疗前&#10;同步采集"/>
          <p:cNvSpPr txBox="1"/>
          <p:nvPr/>
        </p:nvSpPr>
        <p:spPr>
          <a:xfrm>
            <a:off x="7050024" y="2990088"/>
            <a:ext cx="1005840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Noto Sans CJK SC"/>
                <a:ea typeface="Noto Sans CJK SC"/>
              </a:rPr>
              <a:t>治疗前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Noto Sans CJK SC"/>
                <a:ea typeface="Noto Sans CJK SC"/>
              </a:rPr>
              <a:t>同步采集</a:t>
            </a:r>
          </a:p>
        </p:txBody>
      </p:sp>
      <p:sp>
        <p:nvSpPr>
          <p:cNvPr id="44" name="研究流程环形方向箭头"/>
          <p:cNvSpPr/>
          <p:nvPr/>
        </p:nvSpPr>
        <p:spPr>
          <a:xfrm rot="1560000">
            <a:off x="5230368" y="1307592"/>
            <a:ext cx="310896" cy="356616"/>
          </a:xfrm>
          <a:prstGeom prst="upArrow">
            <a:avLst/>
          </a:prstGeom>
          <a:solidFill>
            <a:srgbClr val="22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研究流程环形方向箭头"/>
          <p:cNvSpPr/>
          <p:nvPr/>
        </p:nvSpPr>
        <p:spPr>
          <a:xfrm rot="11580000">
            <a:off x="8193024" y="2935224"/>
            <a:ext cx="310896" cy="356616"/>
          </a:xfrm>
          <a:prstGeom prst="upArrow">
            <a:avLst/>
          </a:prstGeom>
          <a:solidFill>
            <a:srgbClr val="25B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研究流程环形方向箭头"/>
          <p:cNvSpPr/>
          <p:nvPr/>
        </p:nvSpPr>
        <p:spPr>
          <a:xfrm>
            <a:off x="5157216" y="2523744"/>
            <a:ext cx="310896" cy="356616"/>
          </a:xfrm>
          <a:prstGeom prst="upArrow">
            <a:avLst/>
          </a:prstGeom>
          <a:solidFill>
            <a:srgbClr val="31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2研究对象与纳排标准面板"/>
          <p:cNvSpPr/>
          <p:nvPr/>
        </p:nvSpPr>
        <p:spPr>
          <a:xfrm>
            <a:off x="8394192" y="658368"/>
            <a:ext cx="5120640" cy="3511296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4427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章节标题_研究对象与主要纳排标准"/>
          <p:cNvSpPr/>
          <p:nvPr/>
        </p:nvSpPr>
        <p:spPr>
          <a:xfrm>
            <a:off x="8485632" y="676656"/>
            <a:ext cx="3986784" cy="448056"/>
          </a:xfrm>
          <a:gradFill>
            <a:gsLst>
              <a:gs pos="0">
                <a:srgbClr val="003B87"/>
              </a:gs>
              <a:gs pos="100000">
                <a:srgbClr val="137BD4"/>
              </a:gs>
            </a:gsLst>
            <a:lin ang="0" scaled="1"/>
          </a:gradFill>
          <a:prstGeom prst="roundRect">
            <a:avLst>
              <a:gd name="adj" fmla="val 48979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章节编号底色"/>
          <p:cNvSpPr/>
          <p:nvPr/>
        </p:nvSpPr>
        <p:spPr>
          <a:xfrm>
            <a:off x="8485632" y="676656"/>
            <a:ext cx="676656" cy="448056"/>
          </a:xfrm>
          <a:prstGeom prst="roundRect">
            <a:avLst>
              <a:gd name="adj" fmla="val 48979"/>
            </a:avLst>
          </a:prstGeom>
          <a:solidFill>
            <a:srgbClr val="07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02"/>
          <p:cNvSpPr txBox="1"/>
          <p:nvPr/>
        </p:nvSpPr>
        <p:spPr>
          <a:xfrm>
            <a:off x="8558784" y="694944"/>
            <a:ext cx="53949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51" name="研究对象与主要纳排标准"/>
          <p:cNvSpPr txBox="1"/>
          <p:nvPr/>
        </p:nvSpPr>
        <p:spPr>
          <a:xfrm>
            <a:off x="9290304" y="704088"/>
            <a:ext cx="3026664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3" b="1">
                <a:solidFill>
                  <a:srgbClr val="FFFFFF"/>
                </a:solidFill>
                <a:latin typeface="Noto Sans CJK SC"/>
                <a:ea typeface="Noto Sans CJK SC"/>
              </a:rPr>
              <a:t>研究对象与主要纳排标准</a:t>
            </a:r>
          </a:p>
        </p:txBody>
      </p:sp>
      <p:sp>
        <p:nvSpPr>
          <p:cNvPr id="52" name="纳入标准卡片"/>
          <p:cNvSpPr/>
          <p:nvPr/>
        </p:nvSpPr>
        <p:spPr>
          <a:xfrm>
            <a:off x="8503920" y="1197864"/>
            <a:ext cx="2478024" cy="2404872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6463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排除标准卡片"/>
          <p:cNvSpPr/>
          <p:nvPr/>
        </p:nvSpPr>
        <p:spPr>
          <a:xfrm>
            <a:off x="11082528" y="1197864"/>
            <a:ext cx="2331720" cy="2404872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6666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纳入标准标题栏"/>
          <p:cNvSpPr/>
          <p:nvPr/>
        </p:nvSpPr>
        <p:spPr>
          <a:xfrm>
            <a:off x="8503920" y="1197864"/>
            <a:ext cx="2478024" cy="374904"/>
          </a:xfrm>
          <a:gradFill>
            <a:gsLst>
              <a:gs pos="0">
                <a:srgbClr val="0E77D3"/>
              </a:gs>
              <a:gs pos="100000">
                <a:srgbClr val="39ADF5"/>
              </a:gs>
            </a:gsLst>
            <a:lin ang="0" scaled="1"/>
          </a:gradFill>
          <a:prstGeom prst="roundRect">
            <a:avLst>
              <a:gd name="adj" fmla="val 2926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纳入标准"/>
          <p:cNvSpPr txBox="1"/>
          <p:nvPr/>
        </p:nvSpPr>
        <p:spPr>
          <a:xfrm>
            <a:off x="8613648" y="1216152"/>
            <a:ext cx="22585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Noto Sans CJK SC"/>
                <a:ea typeface="Noto Sans CJK SC"/>
              </a:rPr>
              <a:t>纳入标准</a:t>
            </a:r>
          </a:p>
        </p:txBody>
      </p:sp>
      <p:sp>
        <p:nvSpPr>
          <p:cNvPr id="56" name="排除标准标题栏"/>
          <p:cNvSpPr/>
          <p:nvPr/>
        </p:nvSpPr>
        <p:spPr>
          <a:xfrm>
            <a:off x="11082528" y="1197864"/>
            <a:ext cx="2331720" cy="374904"/>
          </a:xfrm>
          <a:gradFill>
            <a:gsLst>
              <a:gs pos="0">
                <a:srgbClr val="0E77D3"/>
              </a:gs>
              <a:gs pos="100000">
                <a:srgbClr val="39ADF5"/>
              </a:gs>
            </a:gsLst>
            <a:lin ang="0" scaled="1"/>
          </a:gradFill>
          <a:prstGeom prst="roundRect">
            <a:avLst>
              <a:gd name="adj" fmla="val 2926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排除标准"/>
          <p:cNvSpPr txBox="1"/>
          <p:nvPr/>
        </p:nvSpPr>
        <p:spPr>
          <a:xfrm>
            <a:off x="11192256" y="1216152"/>
            <a:ext cx="21122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Noto Sans CJK SC"/>
                <a:ea typeface="Noto Sans CJK SC"/>
              </a:rPr>
              <a:t>排除标准</a:t>
            </a:r>
          </a:p>
        </p:txBody>
      </p:sp>
      <p:pic>
        <p:nvPicPr>
          <p:cNvPr id="58" name="独立图标_check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709928"/>
            <a:ext cx="219456" cy="219456"/>
          </a:xfrm>
          <a:prstGeom prst="rect">
            <a:avLst/>
          </a:prstGeom>
        </p:spPr>
      </p:pic>
      <p:sp>
        <p:nvSpPr>
          <p:cNvPr id="59" name="18–65岁"/>
          <p:cNvSpPr txBox="1"/>
          <p:nvPr/>
        </p:nvSpPr>
        <p:spPr>
          <a:xfrm>
            <a:off x="8897112" y="1691640"/>
            <a:ext cx="202082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18–65岁</a:t>
            </a:r>
          </a:p>
        </p:txBody>
      </p:sp>
      <p:pic>
        <p:nvPicPr>
          <p:cNvPr id="60" name="独立图标_check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039112"/>
            <a:ext cx="219456" cy="219456"/>
          </a:xfrm>
          <a:prstGeom prst="rect">
            <a:avLst/>
          </a:prstGeom>
        </p:spPr>
      </p:pic>
      <p:sp>
        <p:nvSpPr>
          <p:cNvPr id="61" name="≥1项DC/TMD临床诊断"/>
          <p:cNvSpPr txBox="1"/>
          <p:nvPr/>
        </p:nvSpPr>
        <p:spPr>
          <a:xfrm>
            <a:off x="8897112" y="2020824"/>
            <a:ext cx="202082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≥1项DC/TMD临床诊断</a:t>
            </a:r>
          </a:p>
        </p:txBody>
      </p:sp>
      <p:pic>
        <p:nvPicPr>
          <p:cNvPr id="62" name="独立图标_check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368296"/>
            <a:ext cx="219456" cy="219456"/>
          </a:xfrm>
          <a:prstGeom prst="rect">
            <a:avLst/>
          </a:prstGeom>
        </p:spPr>
      </p:pic>
      <p:sp>
        <p:nvSpPr>
          <p:cNvPr id="63" name="已有临床开具的双侧开、闭口DR"/>
          <p:cNvSpPr txBox="1"/>
          <p:nvPr/>
        </p:nvSpPr>
        <p:spPr>
          <a:xfrm>
            <a:off x="8897112" y="2350008"/>
            <a:ext cx="202082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102768"/>
                </a:solidFill>
                <a:latin typeface="Noto Sans CJK SC"/>
                <a:ea typeface="Noto Sans CJK SC"/>
              </a:rPr>
              <a:t>已有临床开具的双侧开、闭口DR</a:t>
            </a:r>
          </a:p>
        </p:txBody>
      </p:sp>
      <p:pic>
        <p:nvPicPr>
          <p:cNvPr id="64" name="独立图标_check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697480"/>
            <a:ext cx="219456" cy="219456"/>
          </a:xfrm>
          <a:prstGeom prst="rect">
            <a:avLst/>
          </a:prstGeom>
        </p:spPr>
      </p:pic>
      <p:sp>
        <p:nvSpPr>
          <p:cNvPr id="65" name="双侧影像可配对且标志清晰"/>
          <p:cNvSpPr txBox="1"/>
          <p:nvPr/>
        </p:nvSpPr>
        <p:spPr>
          <a:xfrm>
            <a:off x="8897112" y="2679192"/>
            <a:ext cx="202082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45" b="1">
                <a:solidFill>
                  <a:srgbClr val="102768"/>
                </a:solidFill>
                <a:latin typeface="Noto Sans CJK SC"/>
                <a:ea typeface="Noto Sans CJK SC"/>
              </a:rPr>
              <a:t>双侧影像可配对且标志清晰</a:t>
            </a:r>
          </a:p>
        </p:txBody>
      </p:sp>
      <p:pic>
        <p:nvPicPr>
          <p:cNvPr id="66" name="独立图标_check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026664"/>
            <a:ext cx="219456" cy="219456"/>
          </a:xfrm>
          <a:prstGeom prst="rect">
            <a:avLst/>
          </a:prstGeom>
        </p:spPr>
      </p:pic>
      <p:sp>
        <p:nvSpPr>
          <p:cNvPr id="67" name="知情同意"/>
          <p:cNvSpPr txBox="1"/>
          <p:nvPr/>
        </p:nvSpPr>
        <p:spPr>
          <a:xfrm>
            <a:off x="8897112" y="3008376"/>
            <a:ext cx="202082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知情同意</a:t>
            </a:r>
          </a:p>
        </p:txBody>
      </p:sp>
      <p:pic>
        <p:nvPicPr>
          <p:cNvPr id="68" name="独立图标_cross" descr="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6868" y="1700784"/>
            <a:ext cx="206222" cy="201168"/>
          </a:xfrm>
          <a:prstGeom prst="rect">
            <a:avLst/>
          </a:prstGeom>
        </p:spPr>
      </p:pic>
      <p:sp>
        <p:nvSpPr>
          <p:cNvPr id="69" name="近期颌面骨折、感染或肿瘤"/>
          <p:cNvSpPr txBox="1"/>
          <p:nvPr/>
        </p:nvSpPr>
        <p:spPr>
          <a:xfrm>
            <a:off x="11475720" y="1682496"/>
            <a:ext cx="1874519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1" b="1">
                <a:solidFill>
                  <a:srgbClr val="102768"/>
                </a:solidFill>
                <a:latin typeface="Noto Sans CJK SC"/>
                <a:ea typeface="Noto Sans CJK SC"/>
              </a:rPr>
              <a:t>近期颌面骨折、感染或肿瘤</a:t>
            </a:r>
          </a:p>
        </p:txBody>
      </p:sp>
      <p:pic>
        <p:nvPicPr>
          <p:cNvPr id="70" name="独立图标_cross" descr="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6868" y="1993392"/>
            <a:ext cx="206222" cy="201168"/>
          </a:xfrm>
          <a:prstGeom prst="rect">
            <a:avLst/>
          </a:prstGeom>
        </p:spPr>
      </p:pic>
      <p:sp>
        <p:nvSpPr>
          <p:cNvPr id="71" name="既往TMJ手术/关节置换"/>
          <p:cNvSpPr txBox="1"/>
          <p:nvPr/>
        </p:nvSpPr>
        <p:spPr>
          <a:xfrm>
            <a:off x="11475720" y="1975104"/>
            <a:ext cx="1874519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2768"/>
                </a:solidFill>
                <a:latin typeface="Noto Sans CJK SC"/>
                <a:ea typeface="Noto Sans CJK SC"/>
              </a:rPr>
              <a:t>既往TMJ手术/关节置换</a:t>
            </a:r>
          </a:p>
        </p:txBody>
      </p:sp>
      <p:pic>
        <p:nvPicPr>
          <p:cNvPr id="72" name="独立图标_cross" descr="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6868" y="2258568"/>
            <a:ext cx="206222" cy="201168"/>
          </a:xfrm>
          <a:prstGeom prst="rect">
            <a:avLst/>
          </a:prstGeom>
        </p:spPr>
      </p:pic>
      <p:sp>
        <p:nvSpPr>
          <p:cNvPr id="73" name="神经肌肉病或活动性炎症性&#10;关节病"/>
          <p:cNvSpPr txBox="1"/>
          <p:nvPr/>
        </p:nvSpPr>
        <p:spPr>
          <a:xfrm>
            <a:off x="11475720" y="2240280"/>
            <a:ext cx="1874519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1" b="1">
                <a:solidFill>
                  <a:srgbClr val="102768"/>
                </a:solidFill>
                <a:latin typeface="Noto Sans CJK SC"/>
                <a:ea typeface="Noto Sans CJK SC"/>
              </a:rPr>
              <a:t>神经肌肉病或活动性炎症性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1" b="1">
                <a:solidFill>
                  <a:srgbClr val="102768"/>
                </a:solidFill>
                <a:latin typeface="Noto Sans CJK SC"/>
                <a:ea typeface="Noto Sans CJK SC"/>
              </a:rPr>
              <a:t>关节病</a:t>
            </a:r>
          </a:p>
        </p:txBody>
      </p:sp>
      <p:pic>
        <p:nvPicPr>
          <p:cNvPr id="74" name="独立图标_cross" descr="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6868" y="2798064"/>
            <a:ext cx="206222" cy="201168"/>
          </a:xfrm>
          <a:prstGeom prst="rect">
            <a:avLst/>
          </a:prstGeom>
        </p:spPr>
      </p:pic>
      <p:sp>
        <p:nvSpPr>
          <p:cNvPr id="75" name="近期主动改变咬合或侵入性&#10;治疗"/>
          <p:cNvSpPr txBox="1"/>
          <p:nvPr/>
        </p:nvSpPr>
        <p:spPr>
          <a:xfrm>
            <a:off x="11475720" y="2779776"/>
            <a:ext cx="1874519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1" b="1">
                <a:solidFill>
                  <a:srgbClr val="102768"/>
                </a:solidFill>
                <a:latin typeface="Noto Sans CJK SC"/>
                <a:ea typeface="Noto Sans CJK SC"/>
              </a:rPr>
              <a:t>近期主动改变咬合或侵入性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1" b="1">
                <a:solidFill>
                  <a:srgbClr val="102768"/>
                </a:solidFill>
                <a:latin typeface="Noto Sans CJK SC"/>
                <a:ea typeface="Noto Sans CJK SC"/>
              </a:rPr>
              <a:t>治疗</a:t>
            </a:r>
          </a:p>
        </p:txBody>
      </p:sp>
      <p:pic>
        <p:nvPicPr>
          <p:cNvPr id="76" name="独立图标_cross" descr="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6868" y="3300984"/>
            <a:ext cx="206222" cy="201168"/>
          </a:xfrm>
          <a:prstGeom prst="rect">
            <a:avLst/>
          </a:prstGeom>
        </p:spPr>
      </p:pic>
      <p:sp>
        <p:nvSpPr>
          <p:cNvPr id="77" name="不能完成规范测量者"/>
          <p:cNvSpPr txBox="1"/>
          <p:nvPr/>
        </p:nvSpPr>
        <p:spPr>
          <a:xfrm>
            <a:off x="11475720" y="3282696"/>
            <a:ext cx="1874519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02768"/>
                </a:solidFill>
                <a:latin typeface="Noto Sans CJK SC"/>
                <a:ea typeface="Noto Sans CJK SC"/>
              </a:rPr>
              <a:t>不能完成规范测量者</a:t>
            </a:r>
          </a:p>
        </p:txBody>
      </p:sp>
      <p:sp>
        <p:nvSpPr>
          <p:cNvPr id="78" name="连续筛查规则"/>
          <p:cNvSpPr/>
          <p:nvPr/>
        </p:nvSpPr>
        <p:spPr>
          <a:xfrm>
            <a:off x="8503920" y="3685032"/>
            <a:ext cx="4910328" cy="402336"/>
          </a:xfrm>
          <a:prstGeom prst="roundRect">
            <a:avLst>
              <a:gd name="adj" fmla="val 31818"/>
            </a:avLst>
          </a:prstGeom>
          <a:solidFill>
            <a:srgbClr val="DEF1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连续筛查，同一患者仅纳入一次"/>
          <p:cNvSpPr txBox="1"/>
          <p:nvPr/>
        </p:nvSpPr>
        <p:spPr>
          <a:xfrm>
            <a:off x="9070848" y="3712463"/>
            <a:ext cx="393192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768"/>
                </a:solidFill>
                <a:latin typeface="Noto Sans CJK SC"/>
                <a:ea typeface="Noto Sans CJK SC"/>
              </a:rPr>
              <a:t>连续筛查，同一患者仅纳入一次</a:t>
            </a:r>
          </a:p>
        </p:txBody>
      </p:sp>
      <p:sp>
        <p:nvSpPr>
          <p:cNvPr id="80" name="03治疗前资料采集流程面板"/>
          <p:cNvSpPr/>
          <p:nvPr/>
        </p:nvSpPr>
        <p:spPr>
          <a:xfrm>
            <a:off x="118872" y="4306824"/>
            <a:ext cx="8138160" cy="2587752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6007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章节标题_治疗前资料采集流程"/>
          <p:cNvSpPr/>
          <p:nvPr/>
        </p:nvSpPr>
        <p:spPr>
          <a:xfrm>
            <a:off x="210312" y="4343400"/>
            <a:ext cx="3520440" cy="448056"/>
          </a:xfrm>
          <a:gradFill>
            <a:gsLst>
              <a:gs pos="0">
                <a:srgbClr val="003B87"/>
              </a:gs>
              <a:gs pos="100000">
                <a:srgbClr val="137BD4"/>
              </a:gs>
            </a:gsLst>
            <a:lin ang="0" scaled="1"/>
          </a:gradFill>
          <a:prstGeom prst="roundRect">
            <a:avLst>
              <a:gd name="adj" fmla="val 48979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章节编号底色"/>
          <p:cNvSpPr/>
          <p:nvPr/>
        </p:nvSpPr>
        <p:spPr>
          <a:xfrm>
            <a:off x="210312" y="4343400"/>
            <a:ext cx="676656" cy="448056"/>
          </a:xfrm>
          <a:prstGeom prst="roundRect">
            <a:avLst>
              <a:gd name="adj" fmla="val 48979"/>
            </a:avLst>
          </a:prstGeom>
          <a:solidFill>
            <a:srgbClr val="07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03"/>
          <p:cNvSpPr txBox="1"/>
          <p:nvPr/>
        </p:nvSpPr>
        <p:spPr>
          <a:xfrm>
            <a:off x="283464" y="4361688"/>
            <a:ext cx="53949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84" name="治疗前资料采集流程"/>
          <p:cNvSpPr txBox="1"/>
          <p:nvPr/>
        </p:nvSpPr>
        <p:spPr>
          <a:xfrm>
            <a:off x="1014984" y="4370832"/>
            <a:ext cx="256032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FFFFFF"/>
                </a:solidFill>
                <a:latin typeface="Noto Sans CJK SC"/>
                <a:ea typeface="Noto Sans CJK SC"/>
              </a:rPr>
              <a:t>治疗前资料采集流程</a:t>
            </a:r>
          </a:p>
        </p:txBody>
      </p:sp>
      <p:sp>
        <p:nvSpPr>
          <p:cNvPr id="85" name="采集卡片_知情同意与病史登记"/>
          <p:cNvSpPr/>
          <p:nvPr/>
        </p:nvSpPr>
        <p:spPr>
          <a:xfrm>
            <a:off x="237744" y="4901184"/>
            <a:ext cx="987552" cy="1179576"/>
          </a:xfrm>
          <a:prstGeom prst="roundRect">
            <a:avLst>
              <a:gd name="adj" fmla="val 8333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独立图标_document" descr="docum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463" y="4983480"/>
            <a:ext cx="334113" cy="402336"/>
          </a:xfrm>
          <a:prstGeom prst="rect">
            <a:avLst/>
          </a:prstGeom>
        </p:spPr>
      </p:pic>
      <p:sp>
        <p:nvSpPr>
          <p:cNvPr id="87" name="知情同意&#10;与病史登记"/>
          <p:cNvSpPr txBox="1"/>
          <p:nvPr/>
        </p:nvSpPr>
        <p:spPr>
          <a:xfrm>
            <a:off x="292608" y="5394960"/>
            <a:ext cx="877824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02768"/>
                </a:solidFill>
                <a:latin typeface="Noto Sans CJK SC"/>
                <a:ea typeface="Noto Sans CJK SC"/>
              </a:rPr>
              <a:t>知情同意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02768"/>
                </a:solidFill>
                <a:latin typeface="Noto Sans CJK SC"/>
                <a:ea typeface="Noto Sans CJK SC"/>
              </a:rPr>
              <a:t>与病史登记</a:t>
            </a:r>
          </a:p>
        </p:txBody>
      </p:sp>
      <p:sp>
        <p:nvSpPr>
          <p:cNvPr id="88" name="采集卡片_症状问询与量表评估（疼痛、JFLS-8）"/>
          <p:cNvSpPr/>
          <p:nvPr/>
        </p:nvSpPr>
        <p:spPr>
          <a:xfrm>
            <a:off x="1389888" y="4901184"/>
            <a:ext cx="1179576" cy="1179576"/>
          </a:xfrm>
          <a:prstGeom prst="roundRect">
            <a:avLst>
              <a:gd name="adj" fmla="val 6976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独立图标_checklist" descr="checkli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4492" y="4983480"/>
            <a:ext cx="350367" cy="402336"/>
          </a:xfrm>
          <a:prstGeom prst="rect">
            <a:avLst/>
          </a:prstGeom>
        </p:spPr>
      </p:pic>
      <p:sp>
        <p:nvSpPr>
          <p:cNvPr id="90" name="症状问询&#10;与量表评估&#10;（疼痛、JFLS-8）"/>
          <p:cNvSpPr txBox="1"/>
          <p:nvPr/>
        </p:nvSpPr>
        <p:spPr>
          <a:xfrm>
            <a:off x="1444752" y="5394960"/>
            <a:ext cx="1069848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102768"/>
                </a:solidFill>
                <a:latin typeface="Noto Sans CJK SC"/>
                <a:ea typeface="Noto Sans CJK SC"/>
              </a:rPr>
              <a:t>症状问询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102768"/>
                </a:solidFill>
                <a:latin typeface="Noto Sans CJK SC"/>
                <a:ea typeface="Noto Sans CJK SC"/>
              </a:rPr>
              <a:t>与量表评估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102768"/>
                </a:solidFill>
                <a:latin typeface="Noto Sans CJK SC"/>
                <a:ea typeface="Noto Sans CJK SC"/>
              </a:rPr>
              <a:t>（疼痛、JFLS-8）</a:t>
            </a:r>
          </a:p>
        </p:txBody>
      </p:sp>
      <p:sp>
        <p:nvSpPr>
          <p:cNvPr id="91" name="采集卡片_静坐5 min"/>
          <p:cNvSpPr/>
          <p:nvPr/>
        </p:nvSpPr>
        <p:spPr>
          <a:xfrm>
            <a:off x="2734056" y="4901184"/>
            <a:ext cx="896112" cy="1179576"/>
          </a:xfrm>
          <a:prstGeom prst="roundRect">
            <a:avLst>
              <a:gd name="adj" fmla="val 9183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独立图标_clock" descr="c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81792" y="4983480"/>
            <a:ext cx="400638" cy="402336"/>
          </a:xfrm>
          <a:prstGeom prst="rect">
            <a:avLst/>
          </a:prstGeom>
        </p:spPr>
      </p:pic>
      <p:sp>
        <p:nvSpPr>
          <p:cNvPr id="93" name="静坐&#10;5 min"/>
          <p:cNvSpPr txBox="1"/>
          <p:nvPr/>
        </p:nvSpPr>
        <p:spPr>
          <a:xfrm>
            <a:off x="2788920" y="5394960"/>
            <a:ext cx="786384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静坐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5 min</a:t>
            </a:r>
          </a:p>
        </p:txBody>
      </p:sp>
      <p:sp>
        <p:nvSpPr>
          <p:cNvPr id="94" name="采集卡片_开闭口视频采集"/>
          <p:cNvSpPr/>
          <p:nvPr/>
        </p:nvSpPr>
        <p:spPr>
          <a:xfrm>
            <a:off x="3785615" y="4901184"/>
            <a:ext cx="960120" cy="1179576"/>
          </a:xfrm>
          <a:prstGeom prst="roundRect">
            <a:avLst>
              <a:gd name="adj" fmla="val 8571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独立图标_camera" descr="camer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508" y="5018249"/>
            <a:ext cx="402336" cy="332796"/>
          </a:xfrm>
          <a:prstGeom prst="rect">
            <a:avLst/>
          </a:prstGeom>
        </p:spPr>
      </p:pic>
      <p:sp>
        <p:nvSpPr>
          <p:cNvPr id="96" name="开闭口&#10;视频采集"/>
          <p:cNvSpPr txBox="1"/>
          <p:nvPr/>
        </p:nvSpPr>
        <p:spPr>
          <a:xfrm>
            <a:off x="3840480" y="5394960"/>
            <a:ext cx="850392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开闭口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视频采集</a:t>
            </a:r>
          </a:p>
        </p:txBody>
      </p:sp>
      <p:sp>
        <p:nvSpPr>
          <p:cNvPr id="97" name="采集卡片_PPT测量"/>
          <p:cNvSpPr/>
          <p:nvPr/>
        </p:nvSpPr>
        <p:spPr>
          <a:xfrm>
            <a:off x="4882896" y="4901184"/>
            <a:ext cx="914400" cy="1179576"/>
          </a:xfrm>
          <a:prstGeom prst="roundRect">
            <a:avLst>
              <a:gd name="adj" fmla="val 9000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独立图标_algometer" descr="algome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8928" y="4991827"/>
            <a:ext cx="402336" cy="385641"/>
          </a:xfrm>
          <a:prstGeom prst="rect">
            <a:avLst/>
          </a:prstGeom>
        </p:spPr>
      </p:pic>
      <p:sp>
        <p:nvSpPr>
          <p:cNvPr id="99" name="PPT&#10;测量"/>
          <p:cNvSpPr txBox="1"/>
          <p:nvPr/>
        </p:nvSpPr>
        <p:spPr>
          <a:xfrm>
            <a:off x="4937760" y="5394960"/>
            <a:ext cx="804672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PPT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测量</a:t>
            </a:r>
          </a:p>
        </p:txBody>
      </p:sp>
      <p:sp>
        <p:nvSpPr>
          <p:cNvPr id="100" name="采集卡片_最大无辅助张口度"/>
          <p:cNvSpPr/>
          <p:nvPr/>
        </p:nvSpPr>
        <p:spPr>
          <a:xfrm>
            <a:off x="5961888" y="4901184"/>
            <a:ext cx="987552" cy="1179576"/>
          </a:xfrm>
          <a:prstGeom prst="roundRect">
            <a:avLst>
              <a:gd name="adj" fmla="val 8333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独立图标_mouth" descr="mout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4496" y="5015562"/>
            <a:ext cx="402336" cy="338170"/>
          </a:xfrm>
          <a:prstGeom prst="rect">
            <a:avLst/>
          </a:prstGeom>
        </p:spPr>
      </p:pic>
      <p:sp>
        <p:nvSpPr>
          <p:cNvPr id="102" name="最大&#10;无辅助&#10;张口度"/>
          <p:cNvSpPr txBox="1"/>
          <p:nvPr/>
        </p:nvSpPr>
        <p:spPr>
          <a:xfrm>
            <a:off x="6016752" y="5394960"/>
            <a:ext cx="877824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最大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无辅助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张口度</a:t>
            </a:r>
          </a:p>
        </p:txBody>
      </p:sp>
      <p:sp>
        <p:nvSpPr>
          <p:cNvPr id="103" name="采集卡片_DC/TMD临床检查"/>
          <p:cNvSpPr/>
          <p:nvPr/>
        </p:nvSpPr>
        <p:spPr>
          <a:xfrm>
            <a:off x="7141464" y="4901184"/>
            <a:ext cx="987552" cy="1179576"/>
          </a:xfrm>
          <a:prstGeom prst="roundRect">
            <a:avLst>
              <a:gd name="adj" fmla="val 8333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独立图标_stethoscope" descr="stethosco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0275" y="4983480"/>
            <a:ext cx="389929" cy="402336"/>
          </a:xfrm>
          <a:prstGeom prst="rect">
            <a:avLst/>
          </a:prstGeom>
        </p:spPr>
      </p:pic>
      <p:sp>
        <p:nvSpPr>
          <p:cNvPr id="105" name="DC/TMD&#10;临床检查"/>
          <p:cNvSpPr txBox="1"/>
          <p:nvPr/>
        </p:nvSpPr>
        <p:spPr>
          <a:xfrm>
            <a:off x="7196328" y="5394960"/>
            <a:ext cx="877824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DC/TMD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>
                <a:solidFill>
                  <a:srgbClr val="102768"/>
                </a:solidFill>
                <a:latin typeface="Noto Sans CJK SC"/>
                <a:ea typeface="Noto Sans CJK SC"/>
              </a:rPr>
              <a:t>临床检查</a:t>
            </a:r>
          </a:p>
        </p:txBody>
      </p:sp>
      <p:sp>
        <p:nvSpPr>
          <p:cNvPr id="106" name="资料采集顺序箭头"/>
          <p:cNvSpPr/>
          <p:nvPr/>
        </p:nvSpPr>
        <p:spPr>
          <a:xfrm>
            <a:off x="1225296" y="5230368"/>
            <a:ext cx="182880" cy="338328"/>
          </a:xfrm>
          <a:gradFill>
            <a:gsLst>
              <a:gs pos="0">
                <a:srgbClr val="83D8FD"/>
              </a:gs>
              <a:gs pos="100000">
                <a:srgbClr val="2598E4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资料采集顺序箭头"/>
          <p:cNvSpPr/>
          <p:nvPr/>
        </p:nvSpPr>
        <p:spPr>
          <a:xfrm>
            <a:off x="2569464" y="5230368"/>
            <a:ext cx="182880" cy="338328"/>
          </a:xfrm>
          <a:gradFill>
            <a:gsLst>
              <a:gs pos="0">
                <a:srgbClr val="83D8FD"/>
              </a:gs>
              <a:gs pos="100000">
                <a:srgbClr val="2598E4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资料采集顺序箭头"/>
          <p:cNvSpPr/>
          <p:nvPr/>
        </p:nvSpPr>
        <p:spPr>
          <a:xfrm>
            <a:off x="3630168" y="5230368"/>
            <a:ext cx="182880" cy="338328"/>
          </a:xfrm>
          <a:gradFill>
            <a:gsLst>
              <a:gs pos="0">
                <a:srgbClr val="83D8FD"/>
              </a:gs>
              <a:gs pos="100000">
                <a:srgbClr val="2598E4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资料采集顺序箭头"/>
          <p:cNvSpPr/>
          <p:nvPr/>
        </p:nvSpPr>
        <p:spPr>
          <a:xfrm>
            <a:off x="4745736" y="5230368"/>
            <a:ext cx="182880" cy="338328"/>
          </a:xfrm>
          <a:gradFill>
            <a:gsLst>
              <a:gs pos="0">
                <a:srgbClr val="83D8FD"/>
              </a:gs>
              <a:gs pos="100000">
                <a:srgbClr val="2598E4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资料采集顺序箭头"/>
          <p:cNvSpPr/>
          <p:nvPr/>
        </p:nvSpPr>
        <p:spPr>
          <a:xfrm>
            <a:off x="5797296" y="5230368"/>
            <a:ext cx="182880" cy="338328"/>
          </a:xfrm>
          <a:gradFill>
            <a:gsLst>
              <a:gs pos="0">
                <a:srgbClr val="83D8FD"/>
              </a:gs>
              <a:gs pos="100000">
                <a:srgbClr val="2598E4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资料采集顺序箭头"/>
          <p:cNvSpPr/>
          <p:nvPr/>
        </p:nvSpPr>
        <p:spPr>
          <a:xfrm>
            <a:off x="6949440" y="5230368"/>
            <a:ext cx="182880" cy="338328"/>
          </a:xfrm>
          <a:gradFill>
            <a:gsLst>
              <a:gs pos="0">
                <a:srgbClr val="83D8FD"/>
              </a:gs>
              <a:gs pos="100000">
                <a:srgbClr val="2598E4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采集时间窗口提示"/>
          <p:cNvSpPr/>
          <p:nvPr/>
        </p:nvSpPr>
        <p:spPr>
          <a:xfrm>
            <a:off x="228600" y="6217920"/>
            <a:ext cx="4251960" cy="576072"/>
          </a:xfrm>
          <a:prstGeom prst="roundRect">
            <a:avLst>
              <a:gd name="adj" fmla="val 26984"/>
            </a:avLst>
          </a:prstGeom>
          <a:solidFill>
            <a:srgbClr val="FFF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独立图标_calendar" descr="calenda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0051" y="6318504"/>
            <a:ext cx="326321" cy="329184"/>
          </a:xfrm>
          <a:prstGeom prst="rect">
            <a:avLst/>
          </a:prstGeom>
        </p:spPr>
      </p:pic>
      <p:sp>
        <p:nvSpPr>
          <p:cNvPr id="114" name="采集时间窗口：视频、PPT及临床检查原则上同日完成"/>
          <p:cNvSpPr txBox="1"/>
          <p:nvPr/>
        </p:nvSpPr>
        <p:spPr>
          <a:xfrm>
            <a:off x="841248" y="6272784"/>
            <a:ext cx="3511296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1">
                <a:solidFill>
                  <a:srgbClr val="102768"/>
                </a:solidFill>
                <a:latin typeface="Noto Sans CJK SC"/>
                <a:ea typeface="Noto Sans CJK SC"/>
              </a:rPr>
              <a:t>采集时间窗口：视频、PPT及临床检查原则上同日完成</a:t>
            </a:r>
          </a:p>
        </p:txBody>
      </p:sp>
      <p:sp>
        <p:nvSpPr>
          <p:cNvPr id="115" name="时间窗口提示分隔线"/>
          <p:cNvSpPr/>
          <p:nvPr/>
        </p:nvSpPr>
        <p:spPr>
          <a:xfrm>
            <a:off x="4654296" y="6281928"/>
            <a:ext cx="18288" cy="438912"/>
          </a:xfrm>
          <a:prstGeom prst="rect">
            <a:avLst/>
          </a:prstGeom>
          <a:solidFill>
            <a:srgbClr val="317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DR影像时间窗口提示"/>
          <p:cNvSpPr/>
          <p:nvPr/>
        </p:nvSpPr>
        <p:spPr>
          <a:xfrm>
            <a:off x="4873752" y="6217920"/>
            <a:ext cx="3264408" cy="585216"/>
          </a:xfrm>
          <a:prstGeom prst="roundRect">
            <a:avLst>
              <a:gd name="adj" fmla="val 28125"/>
            </a:avLst>
          </a:prstGeom>
          <a:solidFill>
            <a:srgbClr val="FFF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独立图标_clock" descr="c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1664" y="6318504"/>
            <a:ext cx="355111" cy="356616"/>
          </a:xfrm>
          <a:prstGeom prst="rect">
            <a:avLst/>
          </a:prstGeom>
        </p:spPr>
      </p:pic>
      <p:sp>
        <p:nvSpPr>
          <p:cNvPr id="118" name="DR：优先同日，最长间隔 ≤7 d；&#10;期间无明显症状变化及影响测量的治疗"/>
          <p:cNvSpPr txBox="1"/>
          <p:nvPr/>
        </p:nvSpPr>
        <p:spPr>
          <a:xfrm>
            <a:off x="5440680" y="6272784"/>
            <a:ext cx="2587752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9" b="1">
                <a:solidFill>
                  <a:srgbClr val="102768"/>
                </a:solidFill>
                <a:latin typeface="Noto Sans CJK SC"/>
                <a:ea typeface="Noto Sans CJK SC"/>
              </a:rPr>
              <a:t>DR：优先同日，最长间隔 ≤7 d；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9" b="1">
                <a:solidFill>
                  <a:srgbClr val="102768"/>
                </a:solidFill>
                <a:latin typeface="Noto Sans CJK SC"/>
                <a:ea typeface="Noto Sans CJK SC"/>
              </a:rPr>
              <a:t>期间无明显症状变化及影响测量的治疗</a:t>
            </a:r>
          </a:p>
        </p:txBody>
      </p:sp>
      <p:sp>
        <p:nvSpPr>
          <p:cNvPr id="119" name="04嵌套重复测量面板"/>
          <p:cNvSpPr/>
          <p:nvPr/>
        </p:nvSpPr>
        <p:spPr>
          <a:xfrm>
            <a:off x="8394192" y="4306824"/>
            <a:ext cx="5120640" cy="2587752"/>
          </a:xfrm>
          <a:gradFill>
            <a:gsLst>
              <a:gs pos="0">
                <a:srgbClr val="FFFFFF"/>
              </a:gs>
              <a:gs pos="100000">
                <a:srgbClr val="F5FCFF"/>
              </a:gs>
            </a:gsLst>
            <a:lin ang="0" scaled="1"/>
          </a:gradFill>
          <a:prstGeom prst="roundRect">
            <a:avLst>
              <a:gd name="adj" fmla="val 6007"/>
            </a:avLst>
          </a:prstGeom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章节标题_50例嵌套重复测量"/>
          <p:cNvSpPr/>
          <p:nvPr/>
        </p:nvSpPr>
        <p:spPr>
          <a:xfrm>
            <a:off x="8485632" y="4343400"/>
            <a:ext cx="3209544" cy="448056"/>
          </a:xfrm>
          <a:gradFill>
            <a:gsLst>
              <a:gs pos="0">
                <a:srgbClr val="003B87"/>
              </a:gs>
              <a:gs pos="100000">
                <a:srgbClr val="137BD4"/>
              </a:gs>
            </a:gsLst>
            <a:lin ang="0" scaled="1"/>
          </a:gradFill>
          <a:prstGeom prst="roundRect">
            <a:avLst>
              <a:gd name="adj" fmla="val 48979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章节编号底色"/>
          <p:cNvSpPr/>
          <p:nvPr/>
        </p:nvSpPr>
        <p:spPr>
          <a:xfrm>
            <a:off x="8485632" y="4343400"/>
            <a:ext cx="676656" cy="448056"/>
          </a:xfrm>
          <a:prstGeom prst="roundRect">
            <a:avLst>
              <a:gd name="adj" fmla="val 48979"/>
            </a:avLst>
          </a:prstGeom>
          <a:solidFill>
            <a:srgbClr val="07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04"/>
          <p:cNvSpPr txBox="1"/>
          <p:nvPr/>
        </p:nvSpPr>
        <p:spPr>
          <a:xfrm>
            <a:off x="8558784" y="4361688"/>
            <a:ext cx="53949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123" name="50例嵌套重复测量"/>
          <p:cNvSpPr txBox="1"/>
          <p:nvPr/>
        </p:nvSpPr>
        <p:spPr>
          <a:xfrm>
            <a:off x="9290304" y="4370832"/>
            <a:ext cx="2249424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74" b="1">
                <a:solidFill>
                  <a:srgbClr val="FFFFFF"/>
                </a:solidFill>
                <a:latin typeface="Noto Sans CJK SC"/>
                <a:ea typeface="Noto Sans CJK SC"/>
              </a:rPr>
              <a:t>50例嵌套重复测量</a:t>
            </a:r>
          </a:p>
        </p:txBody>
      </p:sp>
      <p:sp>
        <p:nvSpPr>
          <p:cNvPr id="124" name="研究对象190例"/>
          <p:cNvSpPr/>
          <p:nvPr/>
        </p:nvSpPr>
        <p:spPr>
          <a:xfrm>
            <a:off x="8503920" y="5056632"/>
            <a:ext cx="1005840" cy="658368"/>
          </a:xfrm>
          <a:prstGeom prst="roundRect">
            <a:avLst>
              <a:gd name="adj" fmla="val 16666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190例&#10;研究对象"/>
          <p:cNvSpPr txBox="1"/>
          <p:nvPr/>
        </p:nvSpPr>
        <p:spPr>
          <a:xfrm>
            <a:off x="8604504" y="5093208"/>
            <a:ext cx="804672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02768"/>
                </a:solidFill>
                <a:latin typeface="Noto Sans CJK SC"/>
                <a:ea typeface="Noto Sans CJK SC"/>
              </a:rPr>
              <a:t>190例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02768"/>
                </a:solidFill>
                <a:latin typeface="Noto Sans CJK SC"/>
                <a:ea typeface="Noto Sans CJK SC"/>
              </a:rPr>
              <a:t>研究对象</a:t>
            </a:r>
          </a:p>
        </p:txBody>
      </p:sp>
      <p:sp>
        <p:nvSpPr>
          <p:cNvPr id="126" name="嵌套样本抽取箭头"/>
          <p:cNvSpPr/>
          <p:nvPr/>
        </p:nvSpPr>
        <p:spPr>
          <a:xfrm>
            <a:off x="9509760" y="5221224"/>
            <a:ext cx="301752" cy="338328"/>
          </a:xfrm>
          <a:gradFill>
            <a:gsLst>
              <a:gs pos="0">
                <a:srgbClr val="8CDBFE"/>
              </a:gs>
              <a:gs pos="100000">
                <a:srgbClr val="2695E6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预先抽取50例"/>
          <p:cNvSpPr/>
          <p:nvPr/>
        </p:nvSpPr>
        <p:spPr>
          <a:xfrm>
            <a:off x="9811512" y="5056632"/>
            <a:ext cx="1124712" cy="658368"/>
          </a:xfrm>
          <a:prstGeom prst="roundRect">
            <a:avLst>
              <a:gd name="adj" fmla="val 16666"/>
            </a:avLst>
          </a:prstGeom>
          <a:solidFill>
            <a:srgbClr val="F3FAFE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从中预先抽取"/>
          <p:cNvSpPr txBox="1"/>
          <p:nvPr/>
        </p:nvSpPr>
        <p:spPr>
          <a:xfrm>
            <a:off x="9884664" y="5102352"/>
            <a:ext cx="97840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>
                <a:solidFill>
                  <a:srgbClr val="102768"/>
                </a:solidFill>
                <a:latin typeface="Noto Sans CJK SC"/>
                <a:ea typeface="Noto Sans CJK SC"/>
              </a:rPr>
              <a:t>从中预先抽取</a:t>
            </a:r>
          </a:p>
        </p:txBody>
      </p:sp>
      <p:sp>
        <p:nvSpPr>
          <p:cNvPr id="129" name="50例"/>
          <p:cNvSpPr txBox="1"/>
          <p:nvPr/>
        </p:nvSpPr>
        <p:spPr>
          <a:xfrm>
            <a:off x="9976104" y="5340096"/>
            <a:ext cx="80467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102768"/>
                </a:solidFill>
                <a:latin typeface="Noto Sans CJK SC"/>
                <a:ea typeface="Noto Sans CJK SC"/>
              </a:rPr>
              <a:t>50例</a:t>
            </a:r>
          </a:p>
        </p:txBody>
      </p:sp>
      <p:cxnSp>
        <p:nvCxnSpPr>
          <p:cNvPr id="130" name="嵌套测量分支横线"/>
          <p:cNvCxnSpPr/>
          <p:nvPr/>
        </p:nvCxnSpPr>
        <p:spPr>
          <a:xfrm>
            <a:off x="10945368" y="5422392"/>
            <a:ext cx="182880" cy="0"/>
          </a:xfrm>
          <a:prstGeom prst="line">
            <a:avLst/>
          </a:prstGeom>
          <a:ln w="12700">
            <a:solidFill>
              <a:srgbClr val="3AAB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嵌套测量分支纵线"/>
          <p:cNvCxnSpPr/>
          <p:nvPr/>
        </p:nvCxnSpPr>
        <p:spPr>
          <a:xfrm>
            <a:off x="11128248" y="5047488"/>
            <a:ext cx="0" cy="1051560"/>
          </a:xfrm>
          <a:prstGeom prst="line">
            <a:avLst/>
          </a:prstGeom>
          <a:ln w="12700">
            <a:solidFill>
              <a:srgbClr val="3AAB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分支指向箭头"/>
          <p:cNvCxnSpPr/>
          <p:nvPr/>
        </p:nvCxnSpPr>
        <p:spPr>
          <a:xfrm>
            <a:off x="11128248" y="5047488"/>
            <a:ext cx="64008" cy="0"/>
          </a:xfrm>
          <a:prstGeom prst="line">
            <a:avLst/>
          </a:prstGeom>
          <a:ln w="12700">
            <a:solidFill>
              <a:srgbClr val="3AAB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分支指向箭头"/>
          <p:cNvCxnSpPr/>
          <p:nvPr/>
        </p:nvCxnSpPr>
        <p:spPr>
          <a:xfrm>
            <a:off x="11128248" y="5550408"/>
            <a:ext cx="64008" cy="0"/>
          </a:xfrm>
          <a:prstGeom prst="line">
            <a:avLst/>
          </a:prstGeom>
          <a:ln w="12700">
            <a:solidFill>
              <a:srgbClr val="3AAB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分支指向箭头"/>
          <p:cNvCxnSpPr/>
          <p:nvPr/>
        </p:nvCxnSpPr>
        <p:spPr>
          <a:xfrm>
            <a:off x="11128248" y="6099048"/>
            <a:ext cx="64008" cy="0"/>
          </a:xfrm>
          <a:prstGeom prst="line">
            <a:avLst/>
          </a:prstGeom>
          <a:ln w="12700">
            <a:solidFill>
              <a:srgbClr val="3AAB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重复测量_PPT"/>
          <p:cNvSpPr/>
          <p:nvPr/>
        </p:nvSpPr>
        <p:spPr>
          <a:xfrm>
            <a:off x="11183112" y="4864608"/>
            <a:ext cx="2221992" cy="384048"/>
          </a:xfrm>
          <a:prstGeom prst="roundRect">
            <a:avLst>
              <a:gd name="adj" fmla="val 19047"/>
            </a:avLst>
          </a:prstGeom>
          <a:solidFill>
            <a:srgbClr val="FAFDFF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PT内容分隔线"/>
          <p:cNvSpPr/>
          <p:nvPr/>
        </p:nvSpPr>
        <p:spPr>
          <a:xfrm>
            <a:off x="12006072" y="4882896"/>
            <a:ext cx="9144" cy="347472"/>
          </a:xfrm>
          <a:prstGeom prst="rect">
            <a:avLst/>
          </a:prstGeom>
          <a:solidFill>
            <a:srgbClr val="D6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独立图标_bars_blue" descr="bars_blu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56264" y="4932215"/>
            <a:ext cx="283464" cy="248832"/>
          </a:xfrm>
          <a:prstGeom prst="rect">
            <a:avLst/>
          </a:prstGeom>
        </p:spPr>
      </p:pic>
      <p:sp>
        <p:nvSpPr>
          <p:cNvPr id="138" name="PPT"/>
          <p:cNvSpPr txBox="1"/>
          <p:nvPr/>
        </p:nvSpPr>
        <p:spPr>
          <a:xfrm>
            <a:off x="11594592" y="4901184"/>
            <a:ext cx="40233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6" b="1">
                <a:solidFill>
                  <a:srgbClr val="102768"/>
                </a:solidFill>
                <a:latin typeface="Noto Sans CJK SC"/>
                <a:ea typeface="Noto Sans CJK SC"/>
              </a:rPr>
              <a:t>PPT</a:t>
            </a:r>
          </a:p>
        </p:txBody>
      </p:sp>
      <p:sp>
        <p:nvSpPr>
          <p:cNvPr id="139" name="同日重复测量"/>
          <p:cNvSpPr txBox="1"/>
          <p:nvPr/>
        </p:nvSpPr>
        <p:spPr>
          <a:xfrm>
            <a:off x="12134088" y="4892040"/>
            <a:ext cx="118872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102768"/>
                </a:solidFill>
                <a:latin typeface="Noto Sans CJK SC"/>
                <a:ea typeface="Noto Sans CJK SC"/>
              </a:rPr>
              <a:t>同日重复测量</a:t>
            </a:r>
          </a:p>
        </p:txBody>
      </p:sp>
      <p:sp>
        <p:nvSpPr>
          <p:cNvPr id="140" name="重复测量_视频"/>
          <p:cNvSpPr/>
          <p:nvPr/>
        </p:nvSpPr>
        <p:spPr>
          <a:xfrm>
            <a:off x="11183112" y="5303520"/>
            <a:ext cx="2221992" cy="493776"/>
          </a:xfrm>
          <a:prstGeom prst="roundRect">
            <a:avLst>
              <a:gd name="adj" fmla="val 14814"/>
            </a:avLst>
          </a:prstGeom>
          <a:solidFill>
            <a:srgbClr val="FAFDFF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视频内容分隔线"/>
          <p:cNvSpPr/>
          <p:nvPr/>
        </p:nvSpPr>
        <p:spPr>
          <a:xfrm>
            <a:off x="12006072" y="5321808"/>
            <a:ext cx="9144" cy="457200"/>
          </a:xfrm>
          <a:prstGeom prst="rect">
            <a:avLst/>
          </a:prstGeom>
          <a:solidFill>
            <a:srgbClr val="D6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独立图标_camera" descr="camer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56264" y="5433172"/>
            <a:ext cx="283464" cy="234470"/>
          </a:xfrm>
          <a:prstGeom prst="rect">
            <a:avLst/>
          </a:prstGeom>
        </p:spPr>
      </p:pic>
      <p:sp>
        <p:nvSpPr>
          <p:cNvPr id="143" name="视频"/>
          <p:cNvSpPr txBox="1"/>
          <p:nvPr/>
        </p:nvSpPr>
        <p:spPr>
          <a:xfrm>
            <a:off x="11594592" y="5340096"/>
            <a:ext cx="402336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1">
                <a:solidFill>
                  <a:srgbClr val="102768"/>
                </a:solidFill>
                <a:latin typeface="Noto Sans CJK SC"/>
                <a:ea typeface="Noto Sans CJK SC"/>
              </a:rPr>
              <a:t>视频</a:t>
            </a:r>
          </a:p>
        </p:txBody>
      </p:sp>
      <p:sp>
        <p:nvSpPr>
          <p:cNvPr id="144" name="同日重复采集，&#10;两次间隔 ≥20 min"/>
          <p:cNvSpPr txBox="1"/>
          <p:nvPr/>
        </p:nvSpPr>
        <p:spPr>
          <a:xfrm>
            <a:off x="12134088" y="5330952"/>
            <a:ext cx="1188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4" b="1">
                <a:solidFill>
                  <a:srgbClr val="102768"/>
                </a:solidFill>
                <a:latin typeface="Noto Sans CJK SC"/>
                <a:ea typeface="Noto Sans CJK SC"/>
              </a:rPr>
              <a:t>同日重复采集，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4" b="1">
                <a:solidFill>
                  <a:srgbClr val="102768"/>
                </a:solidFill>
                <a:latin typeface="Noto Sans CJK SC"/>
                <a:ea typeface="Noto Sans CJK SC"/>
              </a:rPr>
              <a:t>两次间隔 ≥20 min</a:t>
            </a:r>
          </a:p>
        </p:txBody>
      </p:sp>
      <p:sp>
        <p:nvSpPr>
          <p:cNvPr id="145" name="重复测量_DR"/>
          <p:cNvSpPr/>
          <p:nvPr/>
        </p:nvSpPr>
        <p:spPr>
          <a:xfrm>
            <a:off x="11183112" y="5852160"/>
            <a:ext cx="2221992" cy="493776"/>
          </a:xfrm>
          <a:prstGeom prst="roundRect">
            <a:avLst>
              <a:gd name="adj" fmla="val 14814"/>
            </a:avLst>
          </a:prstGeom>
          <a:solidFill>
            <a:srgbClr val="FAFDFF"/>
          </a:solidFill>
          <a:ln w="12065">
            <a:solidFill>
              <a:srgbClr val="8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DR内容分隔线"/>
          <p:cNvSpPr/>
          <p:nvPr/>
        </p:nvSpPr>
        <p:spPr>
          <a:xfrm>
            <a:off x="12006072" y="5870448"/>
            <a:ext cx="9144" cy="457200"/>
          </a:xfrm>
          <a:prstGeom prst="rect">
            <a:avLst/>
          </a:prstGeom>
          <a:solidFill>
            <a:srgbClr val="D6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独立图标_imageframe" descr="imagefram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56264" y="5976292"/>
            <a:ext cx="283464" cy="245510"/>
          </a:xfrm>
          <a:prstGeom prst="rect">
            <a:avLst/>
          </a:prstGeom>
        </p:spPr>
      </p:pic>
      <p:sp>
        <p:nvSpPr>
          <p:cNvPr id="148" name="DR"/>
          <p:cNvSpPr txBox="1"/>
          <p:nvPr/>
        </p:nvSpPr>
        <p:spPr>
          <a:xfrm>
            <a:off x="11594592" y="5888736"/>
            <a:ext cx="402336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102768"/>
                </a:solidFill>
                <a:latin typeface="Noto Sans CJK SC"/>
                <a:ea typeface="Noto Sans CJK SC"/>
              </a:rPr>
              <a:t>DR</a:t>
            </a:r>
          </a:p>
        </p:txBody>
      </p:sp>
      <p:sp>
        <p:nvSpPr>
          <p:cNvPr id="149" name="仅对既有影像重复标注&#10;（不重复曝光）"/>
          <p:cNvSpPr txBox="1"/>
          <p:nvPr/>
        </p:nvSpPr>
        <p:spPr>
          <a:xfrm>
            <a:off x="12134088" y="5879592"/>
            <a:ext cx="1188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02768"/>
                </a:solidFill>
                <a:latin typeface="Noto Sans CJK SC"/>
                <a:ea typeface="Noto Sans CJK SC"/>
              </a:rPr>
              <a:t>仅对既有影像重复标注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02768"/>
                </a:solidFill>
                <a:latin typeface="Noto Sans CJK SC"/>
                <a:ea typeface="Noto Sans CJK SC"/>
              </a:rPr>
              <a:t>（不重复曝光）</a:t>
            </a:r>
          </a:p>
        </p:txBody>
      </p:sp>
      <p:sp>
        <p:nvSpPr>
          <p:cNvPr id="150" name="嵌套子样本说明"/>
          <p:cNvSpPr/>
          <p:nvPr/>
        </p:nvSpPr>
        <p:spPr>
          <a:xfrm>
            <a:off x="8467344" y="5806440"/>
            <a:ext cx="2551176" cy="548640"/>
          </a:xfrm>
          <a:prstGeom prst="roundRect">
            <a:avLst>
              <a:gd name="adj" fmla="val 26666"/>
            </a:avLst>
          </a:prstGeom>
          <a:solidFill>
            <a:srgbClr val="FFF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50例为190例中的质量评价子样本，&#10;并非另外的50名患者"/>
          <p:cNvSpPr txBox="1"/>
          <p:nvPr/>
        </p:nvSpPr>
        <p:spPr>
          <a:xfrm>
            <a:off x="8586216" y="5852160"/>
            <a:ext cx="2313432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9" b="1">
                <a:solidFill>
                  <a:srgbClr val="102768"/>
                </a:solidFill>
                <a:latin typeface="Noto Sans CJK SC"/>
                <a:ea typeface="Noto Sans CJK SC"/>
              </a:rPr>
              <a:t>50例为190例中的质量评价子样本，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9" b="1">
                <a:solidFill>
                  <a:srgbClr val="102768"/>
                </a:solidFill>
                <a:latin typeface="Noto Sans CJK SC"/>
                <a:ea typeface="Noto Sans CJK SC"/>
              </a:rPr>
              <a:t>并非另外的50名患者</a:t>
            </a:r>
          </a:p>
        </p:txBody>
      </p:sp>
      <p:sp>
        <p:nvSpPr>
          <p:cNvPr id="152" name="重复性评价指标"/>
          <p:cNvSpPr/>
          <p:nvPr/>
        </p:nvSpPr>
        <p:spPr>
          <a:xfrm>
            <a:off x="8494776" y="6428232"/>
            <a:ext cx="4919472" cy="411480"/>
          </a:xfrm>
          <a:prstGeom prst="roundRect">
            <a:avLst>
              <a:gd name="adj" fmla="val 33333"/>
            </a:avLst>
          </a:prstGeom>
          <a:solidFill>
            <a:srgbClr val="DD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独立图标_bars_blue" descr="bars_blu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6333" y="6483096"/>
            <a:ext cx="354165" cy="310896"/>
          </a:xfrm>
          <a:prstGeom prst="rect">
            <a:avLst/>
          </a:prstGeom>
        </p:spPr>
      </p:pic>
      <p:sp>
        <p:nvSpPr>
          <p:cNvPr id="154" name="评价指标：ICC / Bland–Altman / 算法误差指标"/>
          <p:cNvSpPr txBox="1"/>
          <p:nvPr/>
        </p:nvSpPr>
        <p:spPr>
          <a:xfrm>
            <a:off x="9317736" y="6473952"/>
            <a:ext cx="3977639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3" b="1">
                <a:solidFill>
                  <a:srgbClr val="102768"/>
                </a:solidFill>
                <a:latin typeface="Noto Sans CJK SC"/>
                <a:ea typeface="Noto Sans CJK SC"/>
              </a:rPr>
              <a:t>评价指标：ICC / Bland–Altman / 算法误差指标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