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59993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甘特图重绘。表格线、文字、阶段编号、图例和16条进度条全部为PowerPoint原生对象，无栅格底图。进度按原图对应月份转录，未改变四周造模/干预等文字，也未自行调整跨月安排。当前聊天原图无本地文件路径，本次为原生矢量重绘，未运行完整editppt prepare/record/finalize流程，不宣称经过该CLI验证。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0056" y="41148"/>
            <a:ext cx="5248656" cy="557784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 rotWithShape="1">
            <a:gsLst>
              <a:gs pos="0">
                <a:srgbClr val="DDF1FF"/>
              </a:gs>
              <a:gs pos="100000">
                <a:srgbClr val="CEEAFE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7488" y="68580"/>
            <a:ext cx="519379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3800" b="1">
                <a:solidFill>
                  <a:srgbClr val="073168"/>
                </a:solidFill>
                <a:latin typeface="Noto Sans CJK SC"/>
              </a:defRPr>
            </a:pPr>
            <a:r>
              <a:t>研究计划甘特图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58768" y="640080"/>
            <a:ext cx="7571231" cy="393192"/>
          </a:xfrm>
          <a:prstGeom prst="roundRect">
            <a:avLst>
              <a:gd name="adj" fmla="val 20000"/>
            </a:avLst>
          </a:prstGeom>
          <a:solidFill>
            <a:srgbClr val="E0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95344" y="694944"/>
            <a:ext cx="74980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610" b="1">
                <a:solidFill>
                  <a:srgbClr val="073168"/>
                </a:solidFill>
                <a:latin typeface="Noto Sans CJK SC"/>
              </a:defRPr>
            </a:pPr>
            <a:r>
              <a:t>逍遥散调控SIRT1/PGC-1α通路改善CUMS大鼠抑郁状态的机制研究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1124712"/>
            <a:ext cx="15032736" cy="374904"/>
          </a:xfrm>
          <a:prstGeom prst="roundRect">
            <a:avLst>
              <a:gd name="adj" fmla="val 9000"/>
            </a:avLst>
          </a:prstGeom>
          <a:solidFill>
            <a:srgbClr val="E0F2FF"/>
          </a:solidFill>
          <a:ln w="6985">
            <a:solidFill>
              <a:srgbClr val="9ED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1124712"/>
            <a:ext cx="3611880" cy="374904"/>
          </a:xfrm>
          <a:prstGeom prst="rect">
            <a:avLst/>
          </a:prstGeom>
          <a:solidFill>
            <a:srgbClr val="D5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179576"/>
            <a:ext cx="3538728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073168"/>
                </a:solidFill>
                <a:latin typeface="Noto Sans CJK SC"/>
              </a:defRPr>
            </a:pPr>
            <a:r>
              <a:t>研究内容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39896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53611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2026.10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01286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15002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2026.11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62676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76392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2026.12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24067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37783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2027.01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85457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99173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2027.02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46848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60564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2027.03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08238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21954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69628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083344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31019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844735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2027.06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92409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606125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2027.07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353800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367516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2027.08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115190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128906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2027.09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876580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2890296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2027.10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637971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651687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2027.11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399361" y="1124712"/>
            <a:ext cx="0" cy="374904"/>
          </a:xfrm>
          <a:prstGeom prst="line">
            <a:avLst/>
          </a:prstGeom>
          <a:ln w="8255">
            <a:solidFill>
              <a:srgbClr val="A9D7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413077" y="1229868"/>
            <a:ext cx="73395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1170" b="0">
                <a:solidFill>
                  <a:srgbClr val="073168"/>
                </a:solidFill>
                <a:latin typeface="Noto Sans CJK SC"/>
              </a:defRPr>
            </a:pPr>
            <a:r>
              <a:t>2027.12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" y="1545336"/>
            <a:ext cx="15032736" cy="1554480"/>
          </a:xfrm>
          <a:prstGeom prst="roundRect">
            <a:avLst>
              <a:gd name="adj" fmla="val 6500"/>
            </a:avLst>
          </a:prstGeom>
          <a:solidFill>
            <a:srgbClr val="F0F8FE"/>
          </a:solidFill>
          <a:ln w="6985">
            <a:solidFill>
              <a:srgbClr val="9CD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588" y="1549907"/>
            <a:ext cx="15023592" cy="356616"/>
          </a:xfrm>
          <a:prstGeom prst="roundRect">
            <a:avLst>
              <a:gd name="adj" fmla="val 6000"/>
            </a:avLst>
          </a:prstGeom>
          <a:solidFill>
            <a:srgbClr val="D5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2588" y="1901952"/>
            <a:ext cx="438912" cy="1193292"/>
          </a:xfrm>
          <a:prstGeom prst="rect">
            <a:avLst/>
          </a:prstGeom>
          <a:solidFill>
            <a:srgbClr val="D5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7452" y="1581912"/>
            <a:ext cx="393192" cy="393192"/>
          </a:xfrm>
          <a:prstGeom prst="ellipse">
            <a:avLst/>
          </a:prstGeom>
          <a:solidFill>
            <a:srgbClr val="238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7452" y="1595628"/>
            <a:ext cx="3931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" y="1641348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430" b="1">
                <a:solidFill>
                  <a:srgbClr val="073168"/>
                </a:solidFill>
                <a:latin typeface="Noto Sans CJK SC"/>
              </a:defRPr>
            </a:pPr>
            <a:r>
              <a:t>第一阶段：前期准备与实验方案完善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739896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01286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262676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24067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785457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46848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08238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069628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831019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592409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53800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115190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2876580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3637971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4399361" y="1545336"/>
            <a:ext cx="0" cy="1554479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66928" y="2203703"/>
            <a:ext cx="14593824" cy="0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66928" y="2496312"/>
            <a:ext cx="14593824" cy="0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66928" y="2788920"/>
            <a:ext cx="14593824" cy="0"/>
          </a:xfrm>
          <a:prstGeom prst="line">
            <a:avLst/>
          </a:prstGeom>
          <a:ln w="5715">
            <a:solidFill>
              <a:srgbClr val="C9E4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94944" y="1947672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1">
                <a:solidFill>
                  <a:srgbClr val="073168"/>
                </a:solidFill>
                <a:latin typeface="Noto Sans CJK SC"/>
              </a:defRPr>
            </a:pPr>
            <a:r>
              <a:t>文献查阅与方案完善</a:t>
            </a:r>
          </a:p>
        </p:txBody>
      </p:sp>
      <p:sp>
        <p:nvSpPr>
          <p:cNvPr id="64" name="进度条｜文献查阅与方案完善｜2026.10—2026.12"/>
          <p:cNvSpPr/>
          <p:nvPr/>
        </p:nvSpPr>
        <p:spPr>
          <a:xfrm>
            <a:off x="3790187" y="1952243"/>
            <a:ext cx="2183587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57BAF6"/>
              </a:gs>
              <a:gs pos="100000">
                <a:srgbClr val="379D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944" y="2240279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1">
                <a:solidFill>
                  <a:srgbClr val="073168"/>
                </a:solidFill>
                <a:latin typeface="Noto Sans CJK SC"/>
              </a:defRPr>
            </a:pPr>
            <a:r>
              <a:t>开题报告修改与完善</a:t>
            </a:r>
          </a:p>
        </p:txBody>
      </p:sp>
      <p:sp>
        <p:nvSpPr>
          <p:cNvPr id="66" name="进度条｜开题报告修改与完善｜2026.10—2026.12"/>
          <p:cNvSpPr/>
          <p:nvPr/>
        </p:nvSpPr>
        <p:spPr>
          <a:xfrm>
            <a:off x="3790187" y="2244851"/>
            <a:ext cx="2183587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57BAF6"/>
              </a:gs>
              <a:gs pos="100000">
                <a:srgbClr val="379D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944" y="2532888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1">
                <a:solidFill>
                  <a:srgbClr val="073168"/>
                </a:solidFill>
                <a:latin typeface="Noto Sans CJK SC"/>
              </a:defRPr>
            </a:pPr>
            <a:r>
              <a:t>伦理审批与实验条件落实</a:t>
            </a:r>
          </a:p>
        </p:txBody>
      </p:sp>
      <p:sp>
        <p:nvSpPr>
          <p:cNvPr id="68" name="进度条｜伦理审批与实验条件落实｜2026.11—2026.12"/>
          <p:cNvSpPr/>
          <p:nvPr/>
        </p:nvSpPr>
        <p:spPr>
          <a:xfrm>
            <a:off x="4551578" y="2537460"/>
            <a:ext cx="142219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57BAF6"/>
              </a:gs>
              <a:gs pos="100000">
                <a:srgbClr val="379D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" y="2825496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1">
                <a:solidFill>
                  <a:srgbClr val="073168"/>
                </a:solidFill>
                <a:latin typeface="Noto Sans CJK SC"/>
              </a:defRPr>
            </a:pPr>
            <a:r>
              <a:t>逍遥散制备与剂量确定</a:t>
            </a:r>
          </a:p>
        </p:txBody>
      </p:sp>
      <p:sp>
        <p:nvSpPr>
          <p:cNvPr id="70" name="进度条｜逍遥散制备与剂量确定｜2026.11—2026.12"/>
          <p:cNvSpPr/>
          <p:nvPr/>
        </p:nvSpPr>
        <p:spPr>
          <a:xfrm>
            <a:off x="4551578" y="2830068"/>
            <a:ext cx="142219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57BAF6"/>
              </a:gs>
              <a:gs pos="100000">
                <a:srgbClr val="379D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28016" y="3182112"/>
            <a:ext cx="15032736" cy="1572768"/>
          </a:xfrm>
          <a:prstGeom prst="roundRect">
            <a:avLst>
              <a:gd name="adj" fmla="val 6500"/>
            </a:avLst>
          </a:prstGeom>
          <a:solidFill>
            <a:srgbClr val="F1FAF5"/>
          </a:solidFill>
          <a:ln w="6985">
            <a:solidFill>
              <a:srgbClr val="98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32588" y="3186684"/>
            <a:ext cx="15023592" cy="356616"/>
          </a:xfrm>
          <a:prstGeom prst="roundRect">
            <a:avLst>
              <a:gd name="adj" fmla="val 6000"/>
            </a:avLst>
          </a:prstGeom>
          <a:solidFill>
            <a:srgbClr val="D9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2588" y="3538728"/>
            <a:ext cx="438912" cy="1211580"/>
          </a:xfrm>
          <a:prstGeom prst="rect">
            <a:avLst/>
          </a:prstGeom>
          <a:solidFill>
            <a:srgbClr val="D9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87452" y="3218688"/>
            <a:ext cx="393192" cy="393192"/>
          </a:xfrm>
          <a:prstGeom prst="ellipse">
            <a:avLst/>
          </a:prstGeom>
          <a:solidFill>
            <a:srgbClr val="199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87452" y="3232404"/>
            <a:ext cx="3931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4088" y="3278124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430" b="1">
                <a:solidFill>
                  <a:srgbClr val="075F66"/>
                </a:solidFill>
                <a:latin typeface="Noto Sans CJK SC"/>
              </a:defRPr>
            </a:pPr>
            <a:r>
              <a:t>第二阶段：动物模型建立与药物干预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739896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501286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262676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024067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785457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546848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308238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069628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831019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592409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1353800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2115190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2876580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3637971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4399361" y="3182112"/>
            <a:ext cx="0" cy="1572768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66928" y="3840480"/>
            <a:ext cx="14593824" cy="0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66928" y="4133087"/>
            <a:ext cx="14593824" cy="0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66928" y="4425696"/>
            <a:ext cx="14593824" cy="0"/>
          </a:xfrm>
          <a:prstGeom prst="line">
            <a:avLst/>
          </a:prstGeom>
          <a:ln w="5715">
            <a:solidFill>
              <a:srgbClr val="CE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94944" y="3584448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073168"/>
                </a:solidFill>
                <a:latin typeface="Noto Sans CJK SC"/>
              </a:defRPr>
            </a:pPr>
            <a:r>
              <a:t>适应性饲养与基线行为学评价</a:t>
            </a:r>
          </a:p>
        </p:txBody>
      </p:sp>
      <p:sp>
        <p:nvSpPr>
          <p:cNvPr id="96" name="进度条｜适应性饲养与基线行为学评价｜2027.01—2027.01"/>
          <p:cNvSpPr/>
          <p:nvPr/>
        </p:nvSpPr>
        <p:spPr>
          <a:xfrm>
            <a:off x="6074359" y="3589020"/>
            <a:ext cx="66080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67D4A7"/>
              </a:gs>
              <a:gs pos="100000">
                <a:srgbClr val="39B77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4944" y="3877056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073168"/>
                </a:solidFill>
                <a:latin typeface="Noto Sans CJK SC"/>
              </a:defRPr>
            </a:pPr>
            <a:r>
              <a:t>CUMS造模4周与模型评价</a:t>
            </a:r>
          </a:p>
        </p:txBody>
      </p:sp>
      <p:sp>
        <p:nvSpPr>
          <p:cNvPr id="98" name="进度条｜CUMS造模4周与模型评价｜2027.01—2027.02"/>
          <p:cNvSpPr/>
          <p:nvPr/>
        </p:nvSpPr>
        <p:spPr>
          <a:xfrm>
            <a:off x="6074359" y="3881628"/>
            <a:ext cx="142219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67D4A7"/>
              </a:gs>
              <a:gs pos="100000">
                <a:srgbClr val="39B77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4944" y="4169663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073168"/>
                </a:solidFill>
                <a:latin typeface="Noto Sans CJK SC"/>
              </a:defRPr>
            </a:pPr>
            <a:r>
              <a:t>分组与逍遥散灌胃干预4周</a:t>
            </a:r>
          </a:p>
        </p:txBody>
      </p:sp>
      <p:sp>
        <p:nvSpPr>
          <p:cNvPr id="100" name="进度条｜分组与逍遥散灌胃干预4周｜2027.03—2027.04"/>
          <p:cNvSpPr/>
          <p:nvPr/>
        </p:nvSpPr>
        <p:spPr>
          <a:xfrm>
            <a:off x="7597140" y="4174235"/>
            <a:ext cx="142219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67D4A7"/>
              </a:gs>
              <a:gs pos="100000">
                <a:srgbClr val="39B77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94944" y="4462272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073168"/>
                </a:solidFill>
                <a:latin typeface="Noto Sans CJK SC"/>
              </a:defRPr>
            </a:pPr>
            <a:r>
              <a:t>行为学复测与脑组织取材</a:t>
            </a:r>
          </a:p>
        </p:txBody>
      </p:sp>
      <p:sp>
        <p:nvSpPr>
          <p:cNvPr id="102" name="进度条｜行为学复测与脑组织取材｜2027.04—2027.04"/>
          <p:cNvSpPr/>
          <p:nvPr/>
        </p:nvSpPr>
        <p:spPr>
          <a:xfrm>
            <a:off x="8358530" y="4466844"/>
            <a:ext cx="66080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67D4A7"/>
              </a:gs>
              <a:gs pos="100000">
                <a:srgbClr val="39B77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28016" y="4837176"/>
            <a:ext cx="15032736" cy="1856231"/>
          </a:xfrm>
          <a:prstGeom prst="roundRect">
            <a:avLst>
              <a:gd name="adj" fmla="val 6500"/>
            </a:avLst>
          </a:prstGeom>
          <a:solidFill>
            <a:srgbClr val="FFFAF0"/>
          </a:solidFill>
          <a:ln w="6985">
            <a:solidFill>
              <a:srgbClr val="F2C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32588" y="4841748"/>
            <a:ext cx="15023592" cy="356616"/>
          </a:xfrm>
          <a:prstGeom prst="roundRect">
            <a:avLst>
              <a:gd name="adj" fmla="val 6000"/>
            </a:avLst>
          </a:prstGeom>
          <a:solidFill>
            <a:srgbClr val="FFE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32588" y="5193792"/>
            <a:ext cx="438912" cy="1495043"/>
          </a:xfrm>
          <a:prstGeom prst="rect">
            <a:avLst/>
          </a:prstGeom>
          <a:solidFill>
            <a:srgbClr val="FFE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87452" y="4873752"/>
            <a:ext cx="393192" cy="393192"/>
          </a:xfrm>
          <a:prstGeom prst="ellipse">
            <a:avLst/>
          </a:prstGeom>
          <a:solidFill>
            <a:srgbClr val="FF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87452" y="4887468"/>
            <a:ext cx="3931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4088" y="4933188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430" b="1">
                <a:solidFill>
                  <a:srgbClr val="A64016"/>
                </a:solidFill>
                <a:latin typeface="Noto Sans CJK SC"/>
              </a:defRPr>
            </a:pPr>
            <a:r>
              <a:t>第三阶段：实验指标检测与数据分析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3739896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4501286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262676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024067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785457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46848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308238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069628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831019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592409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1353800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2115190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2876580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3637971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4399361" y="4837176"/>
            <a:ext cx="0" cy="1856232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566928" y="5495544"/>
            <a:ext cx="14593824" cy="0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66928" y="5788152"/>
            <a:ext cx="14593824" cy="0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66928" y="6080760"/>
            <a:ext cx="14593824" cy="0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66928" y="6373368"/>
            <a:ext cx="14593824" cy="0"/>
          </a:xfrm>
          <a:prstGeom prst="line">
            <a:avLst/>
          </a:prstGeom>
          <a:ln w="5715">
            <a:solidFill>
              <a:srgbClr val="F2E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94944" y="5239512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160" b="0">
                <a:solidFill>
                  <a:srgbClr val="073168"/>
                </a:solidFill>
                <a:latin typeface="Noto Sans CJK SC"/>
              </a:defRPr>
            </a:pPr>
            <a:r>
              <a:t>Western blot检测（SIRT1、PGC-1α）</a:t>
            </a:r>
          </a:p>
        </p:txBody>
      </p:sp>
      <p:sp>
        <p:nvSpPr>
          <p:cNvPr id="129" name="进度条｜Western blot检测（SIRT1、PGC-1α）｜2027.05—2027.06"/>
          <p:cNvSpPr/>
          <p:nvPr/>
        </p:nvSpPr>
        <p:spPr>
          <a:xfrm>
            <a:off x="9119920" y="5244084"/>
            <a:ext cx="142219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FFB85D"/>
              </a:gs>
              <a:gs pos="100000">
                <a:srgbClr val="FF9133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94944" y="5532120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073168"/>
                </a:solidFill>
                <a:latin typeface="Noto Sans CJK SC"/>
              </a:defRPr>
            </a:pPr>
            <a:r>
              <a:t>生化指标检测（ATP、MDA、SOD）</a:t>
            </a:r>
          </a:p>
        </p:txBody>
      </p:sp>
      <p:sp>
        <p:nvSpPr>
          <p:cNvPr id="131" name="进度条｜生化指标检测（ATP、MDA、SOD）｜2027.05—2027.06"/>
          <p:cNvSpPr/>
          <p:nvPr/>
        </p:nvSpPr>
        <p:spPr>
          <a:xfrm>
            <a:off x="9119920" y="5536692"/>
            <a:ext cx="142219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FFB85D"/>
              </a:gs>
              <a:gs pos="100000">
                <a:srgbClr val="FF9133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94944" y="5824728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073168"/>
                </a:solidFill>
                <a:latin typeface="Noto Sans CJK SC"/>
              </a:defRPr>
            </a:pPr>
            <a:r>
              <a:t>数据整理与质量控制</a:t>
            </a:r>
          </a:p>
        </p:txBody>
      </p:sp>
      <p:sp>
        <p:nvSpPr>
          <p:cNvPr id="133" name="进度条｜数据整理与质量控制｜2027.07—2027.07"/>
          <p:cNvSpPr/>
          <p:nvPr/>
        </p:nvSpPr>
        <p:spPr>
          <a:xfrm>
            <a:off x="10642701" y="5829300"/>
            <a:ext cx="66080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FFB85D"/>
              </a:gs>
              <a:gs pos="100000">
                <a:srgbClr val="FF9133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4944" y="6117336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073168"/>
                </a:solidFill>
                <a:latin typeface="Noto Sans CJK SC"/>
              </a:defRPr>
            </a:pPr>
            <a:r>
              <a:t>统计分析与图表绘制</a:t>
            </a:r>
          </a:p>
        </p:txBody>
      </p:sp>
      <p:sp>
        <p:nvSpPr>
          <p:cNvPr id="135" name="进度条｜统计分析与图表绘制｜2027.07—2027.08"/>
          <p:cNvSpPr/>
          <p:nvPr/>
        </p:nvSpPr>
        <p:spPr>
          <a:xfrm>
            <a:off x="10642701" y="6121908"/>
            <a:ext cx="142219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FFB85D"/>
              </a:gs>
              <a:gs pos="100000">
                <a:srgbClr val="FF9133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4944" y="6409944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073168"/>
                </a:solidFill>
                <a:latin typeface="Noto Sans CJK SC"/>
              </a:defRPr>
            </a:pPr>
            <a:r>
              <a:t>结果初步分析</a:t>
            </a:r>
          </a:p>
        </p:txBody>
      </p:sp>
      <p:sp>
        <p:nvSpPr>
          <p:cNvPr id="137" name="进度条｜结果初步分析｜2027.08—2027.08"/>
          <p:cNvSpPr/>
          <p:nvPr/>
        </p:nvSpPr>
        <p:spPr>
          <a:xfrm>
            <a:off x="11404092" y="6414516"/>
            <a:ext cx="66080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FFB85D"/>
              </a:gs>
              <a:gs pos="100000">
                <a:srgbClr val="FF9133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28016" y="6784848"/>
            <a:ext cx="15032736" cy="1234440"/>
          </a:xfrm>
          <a:prstGeom prst="roundRect">
            <a:avLst>
              <a:gd name="adj" fmla="val 6500"/>
            </a:avLst>
          </a:prstGeom>
          <a:solidFill>
            <a:srgbClr val="F7F3FF"/>
          </a:solidFill>
          <a:ln w="6985">
            <a:solidFill>
              <a:srgbClr val="C7B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32588" y="6789420"/>
            <a:ext cx="15023592" cy="356616"/>
          </a:xfrm>
          <a:prstGeom prst="roundRect">
            <a:avLst>
              <a:gd name="adj" fmla="val 6000"/>
            </a:avLst>
          </a:prstGeom>
          <a:solidFill>
            <a:srgbClr val="EA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32588" y="7141464"/>
            <a:ext cx="438912" cy="873252"/>
          </a:xfrm>
          <a:prstGeom prst="rect">
            <a:avLst/>
          </a:prstGeom>
          <a:solidFill>
            <a:srgbClr val="EA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87452" y="6821424"/>
            <a:ext cx="393192" cy="393192"/>
          </a:xfrm>
          <a:prstGeom prst="ellipse">
            <a:avLst/>
          </a:prstGeom>
          <a:solidFill>
            <a:srgbClr val="795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87452" y="6835140"/>
            <a:ext cx="3931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04088" y="6880860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430" b="1">
                <a:solidFill>
                  <a:srgbClr val="073168"/>
                </a:solidFill>
                <a:latin typeface="Noto Sans CJK SC"/>
              </a:defRPr>
            </a:pPr>
            <a:r>
              <a:t>第四阶段：研究结果总结与论文撰写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3739896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501286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262676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6024067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6785457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7546848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308238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069628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9831019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592409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1353800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2115190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2876580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3637971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4399361" y="6784848"/>
            <a:ext cx="0" cy="123444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66928" y="7443216"/>
            <a:ext cx="14593824" cy="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66928" y="7735824"/>
            <a:ext cx="14593824" cy="0"/>
          </a:xfrm>
          <a:prstGeom prst="line">
            <a:avLst/>
          </a:prstGeom>
          <a:ln w="5715">
            <a:solidFill>
              <a:srgbClr val="DFD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694944" y="7187184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073168"/>
                </a:solidFill>
                <a:latin typeface="Noto Sans CJK SC"/>
              </a:defRPr>
            </a:pPr>
            <a:r>
              <a:t>结果整理与讨论</a:t>
            </a:r>
          </a:p>
        </p:txBody>
      </p:sp>
      <p:sp>
        <p:nvSpPr>
          <p:cNvPr id="162" name="进度条｜结果整理与讨论｜2027.09—2027.10"/>
          <p:cNvSpPr/>
          <p:nvPr/>
        </p:nvSpPr>
        <p:spPr>
          <a:xfrm>
            <a:off x="12165482" y="7191756"/>
            <a:ext cx="142219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AA8DF7"/>
              </a:gs>
              <a:gs pos="100000">
                <a:srgbClr val="8562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94944" y="7479792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073168"/>
                </a:solidFill>
                <a:latin typeface="Noto Sans CJK SC"/>
              </a:defRPr>
            </a:pPr>
            <a:r>
              <a:t>学位论文初稿撰写</a:t>
            </a:r>
          </a:p>
        </p:txBody>
      </p:sp>
      <p:sp>
        <p:nvSpPr>
          <p:cNvPr id="164" name="进度条｜学位论文初稿撰写｜2027.10—2027.11"/>
          <p:cNvSpPr/>
          <p:nvPr/>
        </p:nvSpPr>
        <p:spPr>
          <a:xfrm>
            <a:off x="12926872" y="7484364"/>
            <a:ext cx="142219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AA8DF7"/>
              </a:gs>
              <a:gs pos="100000">
                <a:srgbClr val="8562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94944" y="7772400"/>
            <a:ext cx="2962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073168"/>
                </a:solidFill>
                <a:latin typeface="Noto Sans CJK SC"/>
              </a:defRPr>
            </a:pPr>
            <a:r>
              <a:t>论文修改完善</a:t>
            </a:r>
          </a:p>
        </p:txBody>
      </p:sp>
      <p:sp>
        <p:nvSpPr>
          <p:cNvPr id="166" name="进度条｜论文修改完善｜2027.11—2027.12"/>
          <p:cNvSpPr/>
          <p:nvPr/>
        </p:nvSpPr>
        <p:spPr>
          <a:xfrm>
            <a:off x="13688263" y="7776972"/>
            <a:ext cx="1422196" cy="214884"/>
          </a:xfrm>
          <a:prstGeom prst="roundRect">
            <a:avLst>
              <a:gd name="adj" fmla="val 45000"/>
            </a:avLst>
          </a:prstGeom>
          <a:ln w="7620">
            <a:solidFill>
              <a:srgbClr val="FFFFFF"/>
            </a:solidFill>
          </a:ln>
          <a:effectLst/>
          <a:gradFill rotWithShape="1">
            <a:gsLst>
              <a:gs pos="0">
                <a:srgbClr val="AA8DF7"/>
              </a:gs>
              <a:gs pos="100000">
                <a:srgbClr val="8562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128016" y="8119872"/>
            <a:ext cx="7232904" cy="411480"/>
          </a:xfrm>
          <a:prstGeom prst="roundRect">
            <a:avLst>
              <a:gd name="adj" fmla="val 18000"/>
            </a:avLst>
          </a:prstGeom>
          <a:solidFill>
            <a:srgbClr val="EAF5FF"/>
          </a:solidFill>
          <a:ln w="6985">
            <a:solidFill>
              <a:srgbClr val="A3D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94360" y="8202168"/>
            <a:ext cx="228600" cy="246888"/>
          </a:xfrm>
          <a:prstGeom prst="ellipse">
            <a:avLst/>
          </a:prstGeom>
          <a:solidFill>
            <a:srgbClr val="FFE28B"/>
          </a:solidFill>
          <a:ln w="8890">
            <a:solidFill>
              <a:srgbClr val="ED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649224" y="8439912"/>
            <a:ext cx="118872" cy="68580"/>
          </a:xfrm>
          <a:prstGeom prst="roundRect">
            <a:avLst>
              <a:gd name="adj" fmla="val 10000"/>
            </a:avLst>
          </a:prstGeom>
          <a:solidFill>
            <a:srgbClr val="719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 flipV="1">
            <a:off x="704088" y="8083296"/>
            <a:ext cx="0" cy="54864"/>
          </a:xfrm>
          <a:prstGeom prst="line">
            <a:avLst/>
          </a:prstGeom>
          <a:ln w="12700">
            <a:solidFill>
              <a:srgbClr val="E9B2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 flipV="1">
            <a:off x="466344" y="8229600"/>
            <a:ext cx="54863" cy="18288"/>
          </a:xfrm>
          <a:prstGeom prst="line">
            <a:avLst/>
          </a:prstGeom>
          <a:ln w="12700">
            <a:solidFill>
              <a:srgbClr val="E9B2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896112" y="8229600"/>
            <a:ext cx="54864" cy="18288"/>
          </a:xfrm>
          <a:prstGeom prst="line">
            <a:avLst/>
          </a:prstGeom>
          <a:ln w="12700">
            <a:solidFill>
              <a:srgbClr val="E9B2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 flipV="1">
            <a:off x="512064" y="8101583"/>
            <a:ext cx="36576" cy="45721"/>
          </a:xfrm>
          <a:prstGeom prst="line">
            <a:avLst/>
          </a:prstGeom>
          <a:ln w="12700">
            <a:solidFill>
              <a:srgbClr val="E9B2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868680" y="8101583"/>
            <a:ext cx="36576" cy="45721"/>
          </a:xfrm>
          <a:prstGeom prst="line">
            <a:avLst/>
          </a:prstGeom>
          <a:ln w="12700">
            <a:solidFill>
              <a:srgbClr val="E9B2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1143000" y="8243316"/>
            <a:ext cx="598017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240" b="1">
                <a:solidFill>
                  <a:srgbClr val="073168"/>
                </a:solidFill>
                <a:latin typeface="Noto Sans CJK SC"/>
              </a:defRPr>
            </a:pPr>
            <a:r>
              <a:t>说明：研究进度可根据伦理审批、动物实验进展及检测安排进行适当调整。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7772400" y="8119872"/>
            <a:ext cx="0" cy="411480"/>
          </a:xfrm>
          <a:prstGeom prst="line">
            <a:avLst/>
          </a:prstGeom>
          <a:ln w="12700">
            <a:solidFill>
              <a:srgbClr val="739D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/>
          <p:cNvSpPr/>
          <p:nvPr/>
        </p:nvSpPr>
        <p:spPr>
          <a:xfrm>
            <a:off x="8449056" y="8220456"/>
            <a:ext cx="502920" cy="237744"/>
          </a:xfrm>
          <a:prstGeom prst="roundRect">
            <a:avLst>
              <a:gd name="adj" fmla="val 45000"/>
            </a:avLst>
          </a:prstGeom>
          <a:ln>
            <a:noFill/>
          </a:ln>
          <a:effectLst/>
          <a:gradFill rotWithShape="1">
            <a:gsLst>
              <a:gs pos="0">
                <a:srgbClr val="57BAF6"/>
              </a:gs>
              <a:gs pos="100000">
                <a:srgbClr val="379D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052560" y="8252460"/>
            <a:ext cx="9601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1">
                <a:solidFill>
                  <a:srgbClr val="073168"/>
                </a:solidFill>
                <a:latin typeface="Noto Sans CJK SC"/>
              </a:defRPr>
            </a:pPr>
            <a:r>
              <a:t>第一阶段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0104120" y="8220456"/>
            <a:ext cx="502920" cy="237744"/>
          </a:xfrm>
          <a:prstGeom prst="roundRect">
            <a:avLst>
              <a:gd name="adj" fmla="val 45000"/>
            </a:avLst>
          </a:prstGeom>
          <a:ln>
            <a:noFill/>
          </a:ln>
          <a:effectLst/>
          <a:gradFill rotWithShape="1">
            <a:gsLst>
              <a:gs pos="0">
                <a:srgbClr val="67D4A7"/>
              </a:gs>
              <a:gs pos="100000">
                <a:srgbClr val="39B77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707624" y="8252460"/>
            <a:ext cx="9601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1">
                <a:solidFill>
                  <a:srgbClr val="073168"/>
                </a:solidFill>
                <a:latin typeface="Noto Sans CJK SC"/>
              </a:defRPr>
            </a:pPr>
            <a:r>
              <a:t>第二阶段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1759184" y="8220456"/>
            <a:ext cx="502920" cy="237744"/>
          </a:xfrm>
          <a:prstGeom prst="roundRect">
            <a:avLst>
              <a:gd name="adj" fmla="val 45000"/>
            </a:avLst>
          </a:prstGeom>
          <a:ln>
            <a:noFill/>
          </a:ln>
          <a:effectLst/>
          <a:gradFill rotWithShape="1">
            <a:gsLst>
              <a:gs pos="0">
                <a:srgbClr val="FFB85D"/>
              </a:gs>
              <a:gs pos="100000">
                <a:srgbClr val="FF9133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2362688" y="8252460"/>
            <a:ext cx="9601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1">
                <a:solidFill>
                  <a:srgbClr val="073168"/>
                </a:solidFill>
                <a:latin typeface="Noto Sans CJK SC"/>
              </a:defRPr>
            </a:pPr>
            <a:r>
              <a:t>第三阶段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3414248" y="8220456"/>
            <a:ext cx="502920" cy="237744"/>
          </a:xfrm>
          <a:prstGeom prst="roundRect">
            <a:avLst>
              <a:gd name="adj" fmla="val 45000"/>
            </a:avLst>
          </a:prstGeom>
          <a:ln>
            <a:noFill/>
          </a:ln>
          <a:effectLst/>
          <a:gradFill rotWithShape="1">
            <a:gsLst>
              <a:gs pos="0">
                <a:srgbClr val="AA8DF7"/>
              </a:gs>
              <a:gs pos="100000">
                <a:srgbClr val="8562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4017752" y="8252460"/>
            <a:ext cx="9601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  <a:defRPr sz="1350" b="1">
                <a:solidFill>
                  <a:srgbClr val="073168"/>
                </a:solidFill>
                <a:latin typeface="Noto Sans CJK SC"/>
              </a:defRPr>
            </a:pPr>
            <a:r>
              <a:t>第四阶段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