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依据用户提供的图1逐项重建。文字、边框、指标标签、机制箭头以及心肾循环弧形箭头为PowerPoint原生可编辑对象；医学插图为独立透明图片，可移动与缩放。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: 图1 糖尿病肾病及其心血管并发症的共同病理机制"/>
          <p:cNvSpPr txBox="1"/>
          <p:nvPr/>
        </p:nvSpPr>
        <p:spPr>
          <a:xfrm>
            <a:off x="2103120" y="0"/>
            <a:ext cx="11109960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>
                <a:solidFill>
                  <a:srgbClr val="062660"/>
                </a:solidFill>
                <a:latin typeface="Noto Sans CJK SC"/>
                <a:ea typeface="Noto Sans CJK SC"/>
              </a:rPr>
              <a:t>图1 糖尿病肾病及其心血管并发症的共同病理机制</a:t>
            </a:r>
          </a:p>
        </p:txBody>
      </p:sp>
      <p:sp>
        <p:nvSpPr>
          <p:cNvPr id="3" name="Editable graphic"/>
          <p:cNvSpPr/>
          <p:nvPr/>
        </p:nvSpPr>
        <p:spPr>
          <a:xfrm>
            <a:off x="91440" y="667512"/>
            <a:ext cx="2752344" cy="5303520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10795">
            <a:solidFill>
              <a:srgbClr val="7DB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graphic"/>
          <p:cNvSpPr/>
          <p:nvPr/>
        </p:nvSpPr>
        <p:spPr>
          <a:xfrm>
            <a:off x="100584" y="676656"/>
            <a:ext cx="2734056" cy="576072"/>
          </a:xfrm>
          <a:prstGeom prst="roundRect">
            <a:avLst>
              <a:gd name="adj" fmla="val 28571"/>
            </a:avLst>
          </a:prstGeom>
          <a:ln>
            <a:noFill/>
          </a:ln>
          <a:gradFill>
            <a:gsLst>
              <a:gs pos="0">
                <a:srgbClr val="206DB1"/>
              </a:gs>
              <a:gs pos="100000">
                <a:srgbClr val="78B4E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graphic"/>
          <p:cNvSpPr/>
          <p:nvPr/>
        </p:nvSpPr>
        <p:spPr>
          <a:xfrm>
            <a:off x="100584" y="1225296"/>
            <a:ext cx="2734056" cy="4736592"/>
          </a:xfrm>
          <a:prstGeom prst="roundRect">
            <a:avLst>
              <a:gd name="adj" fmla="val 4013"/>
            </a:avLst>
          </a:prstGeom>
          <a:ln>
            <a:noFill/>
          </a:ln>
          <a:gradFill>
            <a:gsLst>
              <a:gs pos="0">
                <a:srgbClr val="F3FAFF"/>
              </a:gs>
              <a:gs pos="100000">
                <a:srgbClr val="E5F4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graphic"/>
          <p:cNvSpPr/>
          <p:nvPr/>
        </p:nvSpPr>
        <p:spPr>
          <a:xfrm>
            <a:off x="228600" y="722376"/>
            <a:ext cx="457200" cy="457200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78B4EA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1"/>
          <p:cNvSpPr txBox="1"/>
          <p:nvPr/>
        </p:nvSpPr>
        <p:spPr>
          <a:xfrm>
            <a:off x="228600" y="713232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206DB1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8" name="Text: 代谢异常"/>
          <p:cNvSpPr txBox="1"/>
          <p:nvPr/>
        </p:nvSpPr>
        <p:spPr>
          <a:xfrm>
            <a:off x="804672" y="704088"/>
            <a:ext cx="1920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FFFFFF"/>
                </a:solidFill>
                <a:latin typeface="Noto Sans CJK SC"/>
                <a:ea typeface="Noto Sans CJK SC"/>
              </a:rPr>
              <a:t>代谢异常</a:t>
            </a:r>
          </a:p>
        </p:txBody>
      </p:sp>
      <p:sp>
        <p:nvSpPr>
          <p:cNvPr id="9" name="Editable graphic"/>
          <p:cNvSpPr/>
          <p:nvPr/>
        </p:nvSpPr>
        <p:spPr>
          <a:xfrm>
            <a:off x="3127248" y="667512"/>
            <a:ext cx="4416552" cy="530352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0795">
            <a:solidFill>
              <a:srgbClr val="F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graphic"/>
          <p:cNvSpPr/>
          <p:nvPr/>
        </p:nvSpPr>
        <p:spPr>
          <a:xfrm>
            <a:off x="3136392" y="676656"/>
            <a:ext cx="4398264" cy="576072"/>
          </a:xfrm>
          <a:prstGeom prst="roundRect">
            <a:avLst>
              <a:gd name="adj" fmla="val 28571"/>
            </a:avLst>
          </a:prstGeom>
          <a:ln>
            <a:noFill/>
          </a:ln>
          <a:gradFill>
            <a:gsLst>
              <a:gs pos="0">
                <a:srgbClr val="BA263B"/>
              </a:gs>
              <a:gs pos="100000">
                <a:srgbClr val="ED929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graphic"/>
          <p:cNvSpPr/>
          <p:nvPr/>
        </p:nvSpPr>
        <p:spPr>
          <a:xfrm>
            <a:off x="3136392" y="1225296"/>
            <a:ext cx="4398264" cy="4736592"/>
          </a:xfrm>
          <a:prstGeom prst="roundRect">
            <a:avLst>
              <a:gd name="adj" fmla="val 2494"/>
            </a:avLst>
          </a:prstGeom>
          <a:ln>
            <a:noFill/>
          </a:ln>
          <a:gradFill>
            <a:gsLst>
              <a:gs pos="0">
                <a:srgbClr val="FFF7F8"/>
              </a:gs>
              <a:gs pos="100000">
                <a:srgbClr val="FFEBE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graphic"/>
          <p:cNvSpPr/>
          <p:nvPr/>
        </p:nvSpPr>
        <p:spPr>
          <a:xfrm>
            <a:off x="3264408" y="722376"/>
            <a:ext cx="457200" cy="457200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ED929D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2"/>
          <p:cNvSpPr txBox="1"/>
          <p:nvPr/>
        </p:nvSpPr>
        <p:spPr>
          <a:xfrm>
            <a:off x="3264408" y="713232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BA263B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4" name="Text: 肾脏早期损伤"/>
          <p:cNvSpPr txBox="1"/>
          <p:nvPr/>
        </p:nvSpPr>
        <p:spPr>
          <a:xfrm>
            <a:off x="3840480" y="704088"/>
            <a:ext cx="3584448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FFFFFF"/>
                </a:solidFill>
                <a:latin typeface="Noto Sans CJK SC"/>
                <a:ea typeface="Noto Sans CJK SC"/>
              </a:rPr>
              <a:t>肾脏早期损伤</a:t>
            </a:r>
          </a:p>
        </p:txBody>
      </p:sp>
      <p:sp>
        <p:nvSpPr>
          <p:cNvPr id="15" name="Editable graphic"/>
          <p:cNvSpPr/>
          <p:nvPr/>
        </p:nvSpPr>
        <p:spPr>
          <a:xfrm>
            <a:off x="7836408" y="667512"/>
            <a:ext cx="3127248" cy="530352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0795">
            <a:solidFill>
              <a:srgbClr val="A1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graphic"/>
          <p:cNvSpPr/>
          <p:nvPr/>
        </p:nvSpPr>
        <p:spPr>
          <a:xfrm>
            <a:off x="7845552" y="676656"/>
            <a:ext cx="3108960" cy="576072"/>
          </a:xfrm>
          <a:prstGeom prst="roundRect">
            <a:avLst>
              <a:gd name="adj" fmla="val 28571"/>
            </a:avLst>
          </a:prstGeom>
          <a:ln>
            <a:noFill/>
          </a:ln>
          <a:gradFill>
            <a:gsLst>
              <a:gs pos="0">
                <a:srgbClr val="2F925D"/>
              </a:gs>
              <a:gs pos="100000">
                <a:srgbClr val="89CFA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graphic"/>
          <p:cNvSpPr/>
          <p:nvPr/>
        </p:nvSpPr>
        <p:spPr>
          <a:xfrm>
            <a:off x="7845552" y="1225296"/>
            <a:ext cx="3108960" cy="4736592"/>
          </a:xfrm>
          <a:prstGeom prst="roundRect">
            <a:avLst>
              <a:gd name="adj" fmla="val 3529"/>
            </a:avLst>
          </a:prstGeom>
          <a:ln>
            <a:noFill/>
          </a:ln>
          <a:gradFill>
            <a:gsLst>
              <a:gs pos="0">
                <a:srgbClr val="F2FCF5"/>
              </a:gs>
              <a:gs pos="100000">
                <a:srgbClr val="E8F9E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graphic"/>
          <p:cNvSpPr/>
          <p:nvPr/>
        </p:nvSpPr>
        <p:spPr>
          <a:xfrm>
            <a:off x="7973568" y="722376"/>
            <a:ext cx="457200" cy="457200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89CFA5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3"/>
          <p:cNvSpPr txBox="1"/>
          <p:nvPr/>
        </p:nvSpPr>
        <p:spPr>
          <a:xfrm>
            <a:off x="7973568" y="713232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2F925D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0" name="Text: 炎症-纤维化轴"/>
          <p:cNvSpPr txBox="1"/>
          <p:nvPr/>
        </p:nvSpPr>
        <p:spPr>
          <a:xfrm>
            <a:off x="8549640" y="704088"/>
            <a:ext cx="2295144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FFFFFF"/>
                </a:solidFill>
                <a:latin typeface="Noto Sans CJK SC"/>
                <a:ea typeface="Noto Sans CJK SC"/>
              </a:rPr>
              <a:t>炎症-纤维化轴</a:t>
            </a:r>
          </a:p>
        </p:txBody>
      </p:sp>
      <p:sp>
        <p:nvSpPr>
          <p:cNvPr id="21" name="Editable graphic"/>
          <p:cNvSpPr/>
          <p:nvPr/>
        </p:nvSpPr>
        <p:spPr>
          <a:xfrm>
            <a:off x="11210544" y="667512"/>
            <a:ext cx="3995928" cy="53035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0795">
            <a:solidFill>
              <a:srgbClr val="A6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graphic"/>
          <p:cNvSpPr/>
          <p:nvPr/>
        </p:nvSpPr>
        <p:spPr>
          <a:xfrm>
            <a:off x="11219688" y="676656"/>
            <a:ext cx="3977639" cy="576072"/>
          </a:xfrm>
          <a:prstGeom prst="roundRect">
            <a:avLst>
              <a:gd name="adj" fmla="val 28571"/>
            </a:avLst>
          </a:prstGeom>
          <a:ln>
            <a:noFill/>
          </a:ln>
          <a:gradFill>
            <a:gsLst>
              <a:gs pos="0">
                <a:srgbClr val="2473BB"/>
              </a:gs>
              <a:gs pos="100000">
                <a:srgbClr val="86B9E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graphic"/>
          <p:cNvSpPr/>
          <p:nvPr/>
        </p:nvSpPr>
        <p:spPr>
          <a:xfrm>
            <a:off x="11219688" y="1225296"/>
            <a:ext cx="3977639" cy="4736592"/>
          </a:xfrm>
          <a:prstGeom prst="roundRect">
            <a:avLst>
              <a:gd name="adj" fmla="val 2758"/>
            </a:avLst>
          </a:prstGeom>
          <a:ln>
            <a:noFill/>
          </a:ln>
          <a:gradFill>
            <a:gsLst>
              <a:gs pos="0">
                <a:srgbClr val="F3FAFF"/>
              </a:gs>
              <a:gs pos="100000">
                <a:srgbClr val="EBF7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graphic"/>
          <p:cNvSpPr/>
          <p:nvPr/>
        </p:nvSpPr>
        <p:spPr>
          <a:xfrm>
            <a:off x="11347704" y="722376"/>
            <a:ext cx="457200" cy="457200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86B9E7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"/>
          <p:cNvSpPr txBox="1"/>
          <p:nvPr/>
        </p:nvSpPr>
        <p:spPr>
          <a:xfrm>
            <a:off x="11347704" y="713232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2473BB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6" name="Text: 血管与心脏损伤"/>
          <p:cNvSpPr txBox="1"/>
          <p:nvPr/>
        </p:nvSpPr>
        <p:spPr>
          <a:xfrm>
            <a:off x="11923776" y="704088"/>
            <a:ext cx="3163824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FFFFFF"/>
                </a:solidFill>
                <a:latin typeface="Noto Sans CJK SC"/>
                <a:ea typeface="Noto Sans CJK SC"/>
              </a:rPr>
              <a:t>血管与心脏损伤</a:t>
            </a:r>
          </a:p>
        </p:txBody>
      </p:sp>
      <p:pic>
        <p:nvPicPr>
          <p:cNvPr id="27" name="Medical illustration: meter" descr="meter.png"/>
          <p:cNvPicPr>
            <a:picLocks noChangeAspect="1"/>
          </p:cNvPicPr>
          <p:nvPr/>
        </p:nvPicPr>
        <p:blipFill>
          <a:blip r:embed="rId2"/>
          <a:srcRect l="11429" r="11429" t="7524" b="7524"/>
          <a:stretch>
            <a:fillRect/>
          </a:stretch>
        </p:blipFill>
        <p:spPr>
          <a:xfrm>
            <a:off x="485104" y="1353312"/>
            <a:ext cx="748863" cy="1252728"/>
          </a:xfrm>
          <a:prstGeom prst="rect">
            <a:avLst/>
          </a:prstGeom>
        </p:spPr>
      </p:pic>
      <p:sp>
        <p:nvSpPr>
          <p:cNvPr id="28" name="Editable glucose-meter display"/>
          <p:cNvSpPr/>
          <p:nvPr/>
        </p:nvSpPr>
        <p:spPr>
          <a:xfrm>
            <a:off x="603504" y="1545336"/>
            <a:ext cx="484632" cy="448056"/>
          </a:xfrm>
          <a:prstGeom prst="roundRect">
            <a:avLst>
              <a:gd name="adj" fmla="val 6122"/>
            </a:avLst>
          </a:prstGeom>
          <a:solidFill>
            <a:srgbClr val="F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3.8"/>
          <p:cNvSpPr txBox="1"/>
          <p:nvPr/>
        </p:nvSpPr>
        <p:spPr>
          <a:xfrm>
            <a:off x="621792" y="1554480"/>
            <a:ext cx="4480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34" b="0">
                <a:solidFill>
                  <a:srgbClr val="171A1A"/>
                </a:solidFill>
                <a:latin typeface="Noto Sans CJK SC"/>
                <a:ea typeface="Noto Sans CJK SC"/>
              </a:rPr>
              <a:t>13.8</a:t>
            </a:r>
          </a:p>
        </p:txBody>
      </p:sp>
      <p:sp>
        <p:nvSpPr>
          <p:cNvPr id="30" name="Text: mmol/L"/>
          <p:cNvSpPr txBox="1"/>
          <p:nvPr/>
        </p:nvSpPr>
        <p:spPr>
          <a:xfrm>
            <a:off x="603504" y="1819656"/>
            <a:ext cx="484632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5" b="1">
                <a:solidFill>
                  <a:srgbClr val="171A1A"/>
                </a:solidFill>
                <a:latin typeface="Noto Sans CJK SC"/>
                <a:ea typeface="Noto Sans CJK SC"/>
              </a:rPr>
              <a:t>mmol/L</a:t>
            </a:r>
          </a:p>
        </p:txBody>
      </p:sp>
      <p:sp>
        <p:nvSpPr>
          <p:cNvPr id="31" name="Editable graphic"/>
          <p:cNvSpPr/>
          <p:nvPr/>
        </p:nvSpPr>
        <p:spPr>
          <a:xfrm>
            <a:off x="1335024" y="1600200"/>
            <a:ext cx="219456" cy="694944"/>
          </a:xfrm>
          <a:prstGeom prst="upArrow">
            <a:avLst/>
          </a:prstGeom>
          <a:solidFill>
            <a:srgbClr val="F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graphic"/>
          <p:cNvSpPr/>
          <p:nvPr/>
        </p:nvSpPr>
        <p:spPr>
          <a:xfrm>
            <a:off x="1700784" y="1517904"/>
            <a:ext cx="128016" cy="128016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graphic"/>
          <p:cNvSpPr/>
          <p:nvPr/>
        </p:nvSpPr>
        <p:spPr>
          <a:xfrm>
            <a:off x="2404872" y="1691640"/>
            <a:ext cx="118872" cy="118872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graphic"/>
          <p:cNvSpPr/>
          <p:nvPr/>
        </p:nvSpPr>
        <p:spPr>
          <a:xfrm>
            <a:off x="1709928" y="1883664"/>
            <a:ext cx="128016" cy="128016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graphic"/>
          <p:cNvSpPr/>
          <p:nvPr/>
        </p:nvSpPr>
        <p:spPr>
          <a:xfrm>
            <a:off x="2020824" y="1792224"/>
            <a:ext cx="128016" cy="128016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graphic"/>
          <p:cNvSpPr/>
          <p:nvPr/>
        </p:nvSpPr>
        <p:spPr>
          <a:xfrm>
            <a:off x="2258568" y="1965960"/>
            <a:ext cx="118872" cy="118872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graphic"/>
          <p:cNvSpPr/>
          <p:nvPr/>
        </p:nvSpPr>
        <p:spPr>
          <a:xfrm>
            <a:off x="1965960" y="2057400"/>
            <a:ext cx="128016" cy="128016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graphic"/>
          <p:cNvSpPr/>
          <p:nvPr/>
        </p:nvSpPr>
        <p:spPr>
          <a:xfrm>
            <a:off x="1572768" y="2139696"/>
            <a:ext cx="128016" cy="128016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D32F4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高血糖"/>
          <p:cNvSpPr txBox="1"/>
          <p:nvPr/>
        </p:nvSpPr>
        <p:spPr>
          <a:xfrm>
            <a:off x="1225296" y="2350008"/>
            <a:ext cx="905256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062660"/>
                </a:solidFill>
                <a:latin typeface="Noto Sans CJK SC"/>
                <a:ea typeface="Noto Sans CJK SC"/>
              </a:rPr>
              <a:t>高血糖</a:t>
            </a:r>
          </a:p>
        </p:txBody>
      </p:sp>
      <p:pic>
        <p:nvPicPr>
          <p:cNvPr id="40" name="Medical illustration: insulin-clean" descr="insulin-clean.png"/>
          <p:cNvPicPr>
            <a:picLocks noChangeAspect="1"/>
          </p:cNvPicPr>
          <p:nvPr/>
        </p:nvPicPr>
        <p:blipFill>
          <a:blip r:embed="rId3"/>
          <a:srcRect t="1519" b="2624"/>
          <a:stretch>
            <a:fillRect/>
          </a:stretch>
        </p:blipFill>
        <p:spPr>
          <a:xfrm>
            <a:off x="274320" y="2843784"/>
            <a:ext cx="2414016" cy="969264"/>
          </a:xfrm>
          <a:prstGeom prst="rect">
            <a:avLst/>
          </a:prstGeom>
        </p:spPr>
      </p:pic>
      <p:sp>
        <p:nvSpPr>
          <p:cNvPr id="41" name="Text: 胰岛素抵抗"/>
          <p:cNvSpPr txBox="1"/>
          <p:nvPr/>
        </p:nvSpPr>
        <p:spPr>
          <a:xfrm>
            <a:off x="685800" y="3785615"/>
            <a:ext cx="190195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062660"/>
                </a:solidFill>
                <a:latin typeface="Noto Sans CJK SC"/>
                <a:ea typeface="Noto Sans CJK SC"/>
              </a:rPr>
              <a:t>胰岛素抵抗</a:t>
            </a:r>
          </a:p>
        </p:txBody>
      </p:sp>
      <p:sp>
        <p:nvSpPr>
          <p:cNvPr id="42" name="Editable graphic"/>
          <p:cNvSpPr/>
          <p:nvPr/>
        </p:nvSpPr>
        <p:spPr>
          <a:xfrm>
            <a:off x="310896" y="4809744"/>
            <a:ext cx="201168" cy="201168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graphic"/>
          <p:cNvSpPr/>
          <p:nvPr/>
        </p:nvSpPr>
        <p:spPr>
          <a:xfrm>
            <a:off x="548640" y="4462272"/>
            <a:ext cx="484632" cy="484632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graphic"/>
          <p:cNvSpPr/>
          <p:nvPr/>
        </p:nvSpPr>
        <p:spPr>
          <a:xfrm>
            <a:off x="1060704" y="4361688"/>
            <a:ext cx="210312" cy="210312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graphic"/>
          <p:cNvSpPr/>
          <p:nvPr/>
        </p:nvSpPr>
        <p:spPr>
          <a:xfrm>
            <a:off x="1353312" y="4361688"/>
            <a:ext cx="201168" cy="201168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graphic"/>
          <p:cNvSpPr/>
          <p:nvPr/>
        </p:nvSpPr>
        <p:spPr>
          <a:xfrm>
            <a:off x="1124712" y="4681728"/>
            <a:ext cx="219456" cy="219456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graphic"/>
          <p:cNvSpPr/>
          <p:nvPr/>
        </p:nvSpPr>
        <p:spPr>
          <a:xfrm>
            <a:off x="548640" y="5029200"/>
            <a:ext cx="182880" cy="182880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graphic"/>
          <p:cNvSpPr/>
          <p:nvPr/>
        </p:nvSpPr>
        <p:spPr>
          <a:xfrm>
            <a:off x="822960" y="5010912"/>
            <a:ext cx="201168" cy="201168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graphic"/>
          <p:cNvSpPr/>
          <p:nvPr/>
        </p:nvSpPr>
        <p:spPr>
          <a:xfrm>
            <a:off x="283464" y="5166360"/>
            <a:ext cx="146304" cy="146304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graphic"/>
          <p:cNvSpPr/>
          <p:nvPr/>
        </p:nvSpPr>
        <p:spPr>
          <a:xfrm>
            <a:off x="996696" y="5202936"/>
            <a:ext cx="155448" cy="155448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BA21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Medical illustration: lipid-vessel" descr="asset_01.png"/>
          <p:cNvPicPr>
            <a:picLocks noChangeAspect="1"/>
          </p:cNvPicPr>
          <p:nvPr/>
        </p:nvPicPr>
        <p:blipFill>
          <a:blip r:embed="rId4"/>
          <a:srcRect l="817" r="1471" t="6045" b="5793"/>
          <a:stretch>
            <a:fillRect/>
          </a:stretch>
        </p:blipFill>
        <p:spPr>
          <a:xfrm>
            <a:off x="1097280" y="4389120"/>
            <a:ext cx="1600200" cy="886968"/>
          </a:xfrm>
          <a:prstGeom prst="rect">
            <a:avLst/>
          </a:prstGeom>
        </p:spPr>
      </p:pic>
      <p:sp>
        <p:nvSpPr>
          <p:cNvPr id="52" name="Text: 脂质代谢异常"/>
          <p:cNvSpPr txBox="1"/>
          <p:nvPr/>
        </p:nvSpPr>
        <p:spPr>
          <a:xfrm>
            <a:off x="402336" y="5321808"/>
            <a:ext cx="22402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062660"/>
                </a:solidFill>
                <a:latin typeface="Noto Sans CJK SC"/>
                <a:ea typeface="Noto Sans CJK SC"/>
              </a:rPr>
              <a:t>脂质代谢异常</a:t>
            </a:r>
          </a:p>
        </p:txBody>
      </p:sp>
      <p:sp>
        <p:nvSpPr>
          <p:cNvPr id="53" name="Editable graphic"/>
          <p:cNvSpPr/>
          <p:nvPr/>
        </p:nvSpPr>
        <p:spPr>
          <a:xfrm>
            <a:off x="2743200" y="2386584"/>
            <a:ext cx="457200" cy="530352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Medical illustration: kidney-tubule" descr="kidney-tubule.png"/>
          <p:cNvPicPr>
            <a:picLocks noChangeAspect="1"/>
          </p:cNvPicPr>
          <p:nvPr/>
        </p:nvPicPr>
        <p:blipFill>
          <a:blip r:embed="rId5"/>
          <a:srcRect l="3429" r="714" t="3631" b="1815"/>
          <a:stretch>
            <a:fillRect/>
          </a:stretch>
        </p:blipFill>
        <p:spPr>
          <a:xfrm>
            <a:off x="3246120" y="1463040"/>
            <a:ext cx="4160520" cy="4370832"/>
          </a:xfrm>
          <a:prstGeom prst="rect">
            <a:avLst/>
          </a:prstGeom>
        </p:spPr>
      </p:pic>
      <p:sp>
        <p:nvSpPr>
          <p:cNvPr id="55" name="Editable graphic"/>
          <p:cNvSpPr/>
          <p:nvPr/>
        </p:nvSpPr>
        <p:spPr>
          <a:xfrm>
            <a:off x="4626864" y="1353312"/>
            <a:ext cx="1664208" cy="356616"/>
          </a:xfrm>
          <a:prstGeom prst="roundRect">
            <a:avLst>
              <a:gd name="adj" fmla="val 30769"/>
            </a:avLst>
          </a:prstGeom>
          <a:ln>
            <a:noFill/>
          </a:ln>
          <a:gradFill>
            <a:gsLst>
              <a:gs pos="0">
                <a:srgbClr val="D5282E"/>
              </a:gs>
              <a:gs pos="100000">
                <a:srgbClr val="F24E5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肾小球高滤过"/>
          <p:cNvSpPr txBox="1"/>
          <p:nvPr/>
        </p:nvSpPr>
        <p:spPr>
          <a:xfrm>
            <a:off x="4672584" y="1344168"/>
            <a:ext cx="1572768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25" b="1">
                <a:solidFill>
                  <a:srgbClr val="FFFFFF"/>
                </a:solidFill>
                <a:latin typeface="Noto Sans CJK SC"/>
                <a:ea typeface="Noto Sans CJK SC"/>
              </a:rPr>
              <a:t>肾小球高滤过</a:t>
            </a:r>
          </a:p>
        </p:txBody>
      </p:sp>
      <p:sp>
        <p:nvSpPr>
          <p:cNvPr id="57" name="Editable graphic"/>
          <p:cNvSpPr/>
          <p:nvPr/>
        </p:nvSpPr>
        <p:spPr>
          <a:xfrm>
            <a:off x="4809744" y="1773936"/>
            <a:ext cx="210312" cy="713232"/>
          </a:xfrm>
          <a:prstGeom prst="upArrow">
            <a:avLst/>
          </a:prstGeom>
          <a:solidFill>
            <a:srgbClr val="F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graphic"/>
          <p:cNvSpPr/>
          <p:nvPr/>
        </p:nvSpPr>
        <p:spPr>
          <a:xfrm rot="540000">
            <a:off x="5138928" y="1783080"/>
            <a:ext cx="210312" cy="713232"/>
          </a:xfrm>
          <a:prstGeom prst="upArrow">
            <a:avLst/>
          </a:prstGeom>
          <a:solidFill>
            <a:srgbClr val="F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肾小球基底膜增厚"/>
          <p:cNvSpPr txBox="1"/>
          <p:nvPr/>
        </p:nvSpPr>
        <p:spPr>
          <a:xfrm>
            <a:off x="5961888" y="1865376"/>
            <a:ext cx="1517904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62660"/>
                </a:solidFill>
                <a:latin typeface="Noto Sans CJK SC"/>
                <a:ea typeface="Noto Sans CJK SC"/>
              </a:rPr>
              <a:t>肾小球基底膜增厚</a:t>
            </a:r>
          </a:p>
        </p:txBody>
      </p:sp>
      <p:sp>
        <p:nvSpPr>
          <p:cNvPr id="60" name="Editable graphic"/>
          <p:cNvSpPr/>
          <p:nvPr/>
        </p:nvSpPr>
        <p:spPr>
          <a:xfrm>
            <a:off x="5907024" y="2203704"/>
            <a:ext cx="1527048" cy="1271016"/>
          </a:xfrm>
          <a:prstGeom prst="roundRect">
            <a:avLst>
              <a:gd name="adj" fmla="val 6474"/>
            </a:avLst>
          </a:prstGeom>
          <a:solidFill>
            <a:srgbClr val="FFF6F7"/>
          </a:solidFill>
          <a:ln w="10795">
            <a:solidFill>
              <a:srgbClr val="D7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Medical illustration: podocyte-inset" descr="podocyte-inset.png"/>
          <p:cNvPicPr>
            <a:picLocks noChangeAspect="1"/>
          </p:cNvPicPr>
          <p:nvPr/>
        </p:nvPicPr>
        <p:blipFill>
          <a:blip r:embed="rId6"/>
          <a:srcRect l="6593" r="6593" t="8571" b="8571"/>
          <a:stretch>
            <a:fillRect/>
          </a:stretch>
        </p:blipFill>
        <p:spPr>
          <a:xfrm>
            <a:off x="5934456" y="2298790"/>
            <a:ext cx="1472184" cy="1080843"/>
          </a:xfrm>
          <a:prstGeom prst="rect">
            <a:avLst/>
          </a:prstGeom>
        </p:spPr>
      </p:pic>
      <p:cxnSp>
        <p:nvCxnSpPr>
          <p:cNvPr id="62" name="Connector 61"/>
          <p:cNvCxnSpPr/>
          <p:nvPr/>
        </p:nvCxnSpPr>
        <p:spPr>
          <a:xfrm flipV="1">
            <a:off x="5221224" y="2212848"/>
            <a:ext cx="685800" cy="320040"/>
          </a:xfrm>
          <a:prstGeom prst="line">
            <a:avLst/>
          </a:prstGeom>
          <a:ln w="12700">
            <a:solidFill>
              <a:srgbClr val="B92F3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57800" y="2971800"/>
            <a:ext cx="649224" cy="448056"/>
          </a:xfrm>
          <a:prstGeom prst="line">
            <a:avLst/>
          </a:prstGeom>
          <a:ln w="12700">
            <a:solidFill>
              <a:srgbClr val="B92F3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ditable graphic"/>
          <p:cNvSpPr/>
          <p:nvPr/>
        </p:nvSpPr>
        <p:spPr>
          <a:xfrm rot="3780000">
            <a:off x="6711696" y="2249424"/>
            <a:ext cx="356616" cy="109728"/>
          </a:xfrm>
          <a:prstGeom prst="rightArrow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graphic"/>
          <p:cNvSpPr/>
          <p:nvPr/>
        </p:nvSpPr>
        <p:spPr>
          <a:xfrm rot="16800000">
            <a:off x="6620256" y="3227832"/>
            <a:ext cx="265176" cy="100584"/>
          </a:xfrm>
          <a:prstGeom prst="rightArrow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足细胞减少"/>
          <p:cNvSpPr txBox="1"/>
          <p:nvPr/>
        </p:nvSpPr>
        <p:spPr>
          <a:xfrm>
            <a:off x="5998464" y="3483864"/>
            <a:ext cx="1316736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62660"/>
                </a:solidFill>
                <a:latin typeface="Noto Sans CJK SC"/>
                <a:ea typeface="Noto Sans CJK SC"/>
              </a:rPr>
              <a:t>足细胞减少</a:t>
            </a:r>
          </a:p>
        </p:txBody>
      </p:sp>
      <p:sp>
        <p:nvSpPr>
          <p:cNvPr id="67" name="Editable graphic"/>
          <p:cNvSpPr/>
          <p:nvPr/>
        </p:nvSpPr>
        <p:spPr>
          <a:xfrm>
            <a:off x="3282696" y="4069080"/>
            <a:ext cx="1307592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795">
            <a:solidFill>
              <a:srgbClr val="CC8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近端肾小管 / 重吸收↑"/>
          <p:cNvSpPr txBox="1"/>
          <p:nvPr/>
        </p:nvSpPr>
        <p:spPr>
          <a:xfrm>
            <a:off x="3374136" y="4105656"/>
            <a:ext cx="1115568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>
                <a:solidFill>
                  <a:srgbClr val="062660"/>
                </a:solidFill>
                <a:latin typeface="Noto Sans CJK SC"/>
                <a:ea typeface="Noto Sans CJK SC"/>
              </a:rPr>
              <a:t>近端肾小管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>
                <a:solidFill>
                  <a:srgbClr val="062660"/>
                </a:solidFill>
                <a:latin typeface="Noto Sans CJK SC"/>
                <a:ea typeface="Noto Sans CJK SC"/>
              </a:rPr>
              <a:t>重吸收↑</a:t>
            </a:r>
          </a:p>
        </p:txBody>
      </p:sp>
      <p:sp>
        <p:nvSpPr>
          <p:cNvPr id="69" name="Editable graphic"/>
          <p:cNvSpPr/>
          <p:nvPr/>
        </p:nvSpPr>
        <p:spPr>
          <a:xfrm>
            <a:off x="4572000" y="4370832"/>
            <a:ext cx="237744" cy="118872"/>
          </a:xfrm>
          <a:prstGeom prst="rightArrow">
            <a:avLst/>
          </a:prstGeom>
          <a:solidFill>
            <a:srgbClr val="D6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graphic"/>
          <p:cNvSpPr/>
          <p:nvPr/>
        </p:nvSpPr>
        <p:spPr>
          <a:xfrm>
            <a:off x="5605272" y="4517136"/>
            <a:ext cx="256032" cy="566928"/>
          </a:xfrm>
          <a:prstGeom prst="upArrow">
            <a:avLst/>
          </a:prstGeom>
          <a:solidFill>
            <a:srgbClr val="F5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Medical illustration: stress-mito" descr="stress-mito.png"/>
          <p:cNvPicPr>
            <a:picLocks noChangeAspect="1"/>
          </p:cNvPicPr>
          <p:nvPr/>
        </p:nvPicPr>
        <p:blipFill>
          <a:blip r:embed="rId7"/>
          <a:srcRect l="5096" r="5096" t="6838" b="6838"/>
          <a:stretch>
            <a:fillRect/>
          </a:stretch>
        </p:blipFill>
        <p:spPr>
          <a:xfrm>
            <a:off x="5879592" y="4651734"/>
            <a:ext cx="594360" cy="425747"/>
          </a:xfrm>
          <a:prstGeom prst="rect">
            <a:avLst/>
          </a:prstGeom>
        </p:spPr>
      </p:pic>
      <p:sp>
        <p:nvSpPr>
          <p:cNvPr id="72" name="Text: Na⁺"/>
          <p:cNvSpPr txBox="1"/>
          <p:nvPr/>
        </p:nvSpPr>
        <p:spPr>
          <a:xfrm>
            <a:off x="4937760" y="4754880"/>
            <a:ext cx="2194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81" b="1">
                <a:solidFill>
                  <a:srgbClr val="FFFFFF"/>
                </a:solidFill>
                <a:latin typeface="Noto Sans CJK SC"/>
                <a:ea typeface="Noto Sans CJK SC"/>
              </a:rPr>
              <a:t>Na⁺</a:t>
            </a:r>
          </a:p>
        </p:txBody>
      </p:sp>
      <p:sp>
        <p:nvSpPr>
          <p:cNvPr id="73" name="Text: Na⁺"/>
          <p:cNvSpPr txBox="1"/>
          <p:nvPr/>
        </p:nvSpPr>
        <p:spPr>
          <a:xfrm>
            <a:off x="5321808" y="4626864"/>
            <a:ext cx="2194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81" b="1">
                <a:solidFill>
                  <a:srgbClr val="FFFFFF"/>
                </a:solidFill>
                <a:latin typeface="Noto Sans CJK SC"/>
                <a:ea typeface="Noto Sans CJK SC"/>
              </a:rPr>
              <a:t>Na⁺</a:t>
            </a:r>
          </a:p>
        </p:txBody>
      </p:sp>
      <p:sp>
        <p:nvSpPr>
          <p:cNvPr id="74" name="Editable graphic"/>
          <p:cNvSpPr/>
          <p:nvPr/>
        </p:nvSpPr>
        <p:spPr>
          <a:xfrm>
            <a:off x="6473952" y="4544568"/>
            <a:ext cx="649224" cy="594360"/>
          </a:xfrm>
          <a:prstGeom prst="star12">
            <a:avLst>
              <a:gd name="adj" fmla="val 32000"/>
            </a:avLst>
          </a:prstGeom>
          <a:solidFill>
            <a:srgbClr val="D93848"/>
          </a:solidFill>
          <a:ln w="10795">
            <a:solidFill>
              <a:srgbClr val="B7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: ROS"/>
          <p:cNvSpPr txBox="1"/>
          <p:nvPr/>
        </p:nvSpPr>
        <p:spPr>
          <a:xfrm>
            <a:off x="6565392" y="4709160"/>
            <a:ext cx="4480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CJK SC"/>
                <a:ea typeface="Noto Sans CJK SC"/>
              </a:rPr>
              <a:t>ROS</a:t>
            </a:r>
          </a:p>
        </p:txBody>
      </p:sp>
      <p:sp>
        <p:nvSpPr>
          <p:cNvPr id="76" name="Editable graphic"/>
          <p:cNvSpPr/>
          <p:nvPr/>
        </p:nvSpPr>
        <p:spPr>
          <a:xfrm rot="3360000">
            <a:off x="6016752" y="5111496"/>
            <a:ext cx="274320" cy="91440"/>
          </a:xfrm>
          <a:prstGeom prst="rightArrow">
            <a:avLst/>
          </a:prstGeom>
          <a:solidFill>
            <a:srgbClr val="1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: 肾小管代谢应激"/>
          <p:cNvSpPr txBox="1"/>
          <p:nvPr/>
        </p:nvSpPr>
        <p:spPr>
          <a:xfrm>
            <a:off x="5907024" y="5349240"/>
            <a:ext cx="1380744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>
                <a:solidFill>
                  <a:srgbClr val="062660"/>
                </a:solidFill>
                <a:latin typeface="Noto Sans CJK SC"/>
                <a:ea typeface="Noto Sans CJK SC"/>
              </a:rPr>
              <a:t>肾小管代谢应激</a:t>
            </a:r>
          </a:p>
        </p:txBody>
      </p:sp>
      <p:sp>
        <p:nvSpPr>
          <p:cNvPr id="78" name="Editable graphic"/>
          <p:cNvSpPr/>
          <p:nvPr/>
        </p:nvSpPr>
        <p:spPr>
          <a:xfrm>
            <a:off x="3255264" y="5047488"/>
            <a:ext cx="1234440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0795">
            <a:solidFill>
              <a:srgbClr val="CC8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graphic"/>
          <p:cNvSpPr/>
          <p:nvPr/>
        </p:nvSpPr>
        <p:spPr>
          <a:xfrm>
            <a:off x="3410712" y="5175504"/>
            <a:ext cx="201168" cy="201168"/>
          </a:xfrm>
          <a:prstGeom prst="hexagon">
            <a:avLst/>
          </a:prstGeom>
          <a:ln w="10795">
            <a:solidFill>
              <a:srgbClr val="B92D31"/>
            </a:solidFill>
          </a:ln>
          <a:gradFill>
            <a:gsLst>
              <a:gs pos="0">
                <a:srgbClr val="FF8589"/>
              </a:gs>
              <a:gs pos="100000">
                <a:srgbClr val="DD1D2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: 葡萄糖"/>
          <p:cNvSpPr txBox="1"/>
          <p:nvPr/>
        </p:nvSpPr>
        <p:spPr>
          <a:xfrm>
            <a:off x="3712463" y="5102352"/>
            <a:ext cx="73152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62660"/>
                </a:solidFill>
                <a:latin typeface="Noto Sans CJK SC"/>
                <a:ea typeface="Noto Sans CJK SC"/>
              </a:rPr>
              <a:t>葡萄糖</a:t>
            </a:r>
          </a:p>
        </p:txBody>
      </p:sp>
      <p:sp>
        <p:nvSpPr>
          <p:cNvPr id="81" name="Editable graphic"/>
          <p:cNvSpPr/>
          <p:nvPr/>
        </p:nvSpPr>
        <p:spPr>
          <a:xfrm>
            <a:off x="3401568" y="5468112"/>
            <a:ext cx="237744" cy="237744"/>
          </a:xfrm>
          <a:prstGeom prst="ellipse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168BDA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Na⁺"/>
          <p:cNvSpPr txBox="1"/>
          <p:nvPr/>
        </p:nvSpPr>
        <p:spPr>
          <a:xfrm>
            <a:off x="3419856" y="5486400"/>
            <a:ext cx="20116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26" b="1">
                <a:solidFill>
                  <a:srgbClr val="FFFFFF"/>
                </a:solidFill>
                <a:latin typeface="Noto Sans CJK SC"/>
                <a:ea typeface="Noto Sans CJK SC"/>
              </a:rPr>
              <a:t>Na⁺</a:t>
            </a:r>
          </a:p>
        </p:txBody>
      </p:sp>
      <p:sp>
        <p:nvSpPr>
          <p:cNvPr id="83" name="Text: 钠离子"/>
          <p:cNvSpPr txBox="1"/>
          <p:nvPr/>
        </p:nvSpPr>
        <p:spPr>
          <a:xfrm>
            <a:off x="3721608" y="5468112"/>
            <a:ext cx="71323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62660"/>
                </a:solidFill>
                <a:latin typeface="Noto Sans CJK SC"/>
                <a:ea typeface="Noto Sans CJK SC"/>
              </a:rPr>
              <a:t>钠离子</a:t>
            </a:r>
          </a:p>
        </p:txBody>
      </p:sp>
      <p:sp>
        <p:nvSpPr>
          <p:cNvPr id="84" name="Editable graphic"/>
          <p:cNvSpPr/>
          <p:nvPr/>
        </p:nvSpPr>
        <p:spPr>
          <a:xfrm>
            <a:off x="7470648" y="2386584"/>
            <a:ext cx="466344" cy="530352"/>
          </a:xfrm>
          <a:prstGeom prst="rightArrow">
            <a:avLst/>
          </a:prstGeom>
          <a:ln>
            <a:noFill/>
          </a:ln>
          <a:gradFill>
            <a:gsLst>
              <a:gs pos="0">
                <a:srgbClr val="FFE3E7"/>
              </a:gs>
              <a:gs pos="100000">
                <a:srgbClr val="D51C3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: RAS激活"/>
          <p:cNvSpPr txBox="1"/>
          <p:nvPr/>
        </p:nvSpPr>
        <p:spPr>
          <a:xfrm>
            <a:off x="8147304" y="1371600"/>
            <a:ext cx="114300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660"/>
                </a:solidFill>
                <a:latin typeface="Noto Sans CJK SC"/>
                <a:ea typeface="Noto Sans CJK SC"/>
              </a:rPr>
              <a:t>RAS激活</a:t>
            </a:r>
          </a:p>
        </p:txBody>
      </p:sp>
      <p:pic>
        <p:nvPicPr>
          <p:cNvPr id="86" name="Medical illustration: liver" descr="liver.png"/>
          <p:cNvPicPr>
            <a:picLocks noChangeAspect="1"/>
          </p:cNvPicPr>
          <p:nvPr/>
        </p:nvPicPr>
        <p:blipFill>
          <a:blip r:embed="rId8"/>
          <a:srcRect l="5627" r="5115" t="5405" b="8108"/>
          <a:stretch>
            <a:fillRect/>
          </a:stretch>
        </p:blipFill>
        <p:spPr>
          <a:xfrm>
            <a:off x="7946136" y="1831786"/>
            <a:ext cx="640080" cy="469514"/>
          </a:xfrm>
          <a:prstGeom prst="rect">
            <a:avLst/>
          </a:prstGeom>
        </p:spPr>
      </p:pic>
      <p:sp>
        <p:nvSpPr>
          <p:cNvPr id="87" name="Text: 血管紧张素原"/>
          <p:cNvSpPr txBox="1"/>
          <p:nvPr/>
        </p:nvSpPr>
        <p:spPr>
          <a:xfrm>
            <a:off x="7909560" y="2313432"/>
            <a:ext cx="11338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62660"/>
                </a:solidFill>
                <a:latin typeface="Noto Sans CJK SC"/>
                <a:ea typeface="Noto Sans CJK SC"/>
              </a:rPr>
              <a:t>血管紧张素原</a:t>
            </a:r>
          </a:p>
        </p:txBody>
      </p:sp>
      <p:sp>
        <p:nvSpPr>
          <p:cNvPr id="88" name="Editable graphic"/>
          <p:cNvSpPr/>
          <p:nvPr/>
        </p:nvSpPr>
        <p:spPr>
          <a:xfrm>
            <a:off x="8476488" y="2121408"/>
            <a:ext cx="219456" cy="91440"/>
          </a:xfrm>
          <a:prstGeom prst="rightArrow">
            <a:avLst/>
          </a:prstGeom>
          <a:solidFill>
            <a:srgbClr val="467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graphic"/>
          <p:cNvSpPr/>
          <p:nvPr/>
        </p:nvSpPr>
        <p:spPr>
          <a:xfrm>
            <a:off x="8732520" y="1993392"/>
            <a:ext cx="557784" cy="365760"/>
          </a:xfrm>
          <a:prstGeom prst="roundRect">
            <a:avLst>
              <a:gd name="adj" fmla="val 49000"/>
            </a:avLst>
          </a:prstGeom>
          <a:solidFill>
            <a:srgbClr val="E1F1FF"/>
          </a:solidFill>
          <a:ln w="10795">
            <a:solidFill>
              <a:srgbClr val="88B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: Ang I"/>
          <p:cNvSpPr txBox="1"/>
          <p:nvPr/>
        </p:nvSpPr>
        <p:spPr>
          <a:xfrm>
            <a:off x="8778240" y="1993392"/>
            <a:ext cx="466344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062660"/>
                </a:solidFill>
                <a:latin typeface="Noto Sans CJK SC"/>
                <a:ea typeface="Noto Sans CJK SC"/>
              </a:rPr>
              <a:t>Ang I</a:t>
            </a:r>
          </a:p>
        </p:txBody>
      </p:sp>
      <p:sp>
        <p:nvSpPr>
          <p:cNvPr id="91" name="Text: ACE"/>
          <p:cNvSpPr txBox="1"/>
          <p:nvPr/>
        </p:nvSpPr>
        <p:spPr>
          <a:xfrm>
            <a:off x="9281160" y="1837943"/>
            <a:ext cx="40233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062660"/>
                </a:solidFill>
                <a:latin typeface="Noto Sans CJK SC"/>
                <a:ea typeface="Noto Sans CJK SC"/>
              </a:rPr>
              <a:t>ACE</a:t>
            </a:r>
          </a:p>
        </p:txBody>
      </p:sp>
      <p:sp>
        <p:nvSpPr>
          <p:cNvPr id="92" name="Editable graphic"/>
          <p:cNvSpPr/>
          <p:nvPr/>
        </p:nvSpPr>
        <p:spPr>
          <a:xfrm>
            <a:off x="9326880" y="2121408"/>
            <a:ext cx="274320" cy="91440"/>
          </a:xfrm>
          <a:prstGeom prst="rightArrow">
            <a:avLst/>
          </a:prstGeom>
          <a:solidFill>
            <a:srgbClr val="477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graphic"/>
          <p:cNvSpPr/>
          <p:nvPr/>
        </p:nvSpPr>
        <p:spPr>
          <a:xfrm>
            <a:off x="9674352" y="1993392"/>
            <a:ext cx="530352" cy="365760"/>
          </a:xfrm>
          <a:prstGeom prst="roundRect">
            <a:avLst>
              <a:gd name="adj" fmla="val 49000"/>
            </a:avLst>
          </a:prstGeom>
          <a:solidFill>
            <a:srgbClr val="FFE7E8"/>
          </a:solidFill>
          <a:ln w="10795">
            <a:solidFill>
              <a:srgbClr val="EC9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: Ang II"/>
          <p:cNvSpPr txBox="1"/>
          <p:nvPr/>
        </p:nvSpPr>
        <p:spPr>
          <a:xfrm>
            <a:off x="9710928" y="1993392"/>
            <a:ext cx="45720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>
                <a:solidFill>
                  <a:srgbClr val="782A34"/>
                </a:solidFill>
                <a:latin typeface="Noto Sans CJK SC"/>
                <a:ea typeface="Noto Sans CJK SC"/>
              </a:rPr>
              <a:t>Ang II</a:t>
            </a:r>
          </a:p>
        </p:txBody>
      </p:sp>
      <p:sp>
        <p:nvSpPr>
          <p:cNvPr id="95" name="Editable graphic"/>
          <p:cNvSpPr/>
          <p:nvPr/>
        </p:nvSpPr>
        <p:spPr>
          <a:xfrm>
            <a:off x="10241280" y="2121408"/>
            <a:ext cx="256032" cy="91440"/>
          </a:xfrm>
          <a:prstGeom prst="rightArrow">
            <a:avLst/>
          </a:prstGeom>
          <a:solidFill>
            <a:srgbClr val="477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Medical illustration: adrenal" descr="adrenal.png"/>
          <p:cNvPicPr>
            <a:picLocks noChangeAspect="1"/>
          </p:cNvPicPr>
          <p:nvPr/>
        </p:nvPicPr>
        <p:blipFill>
          <a:blip r:embed="rId9"/>
          <a:srcRect l="8759" r="8759" t="8602" b="8602"/>
          <a:stretch>
            <a:fillRect/>
          </a:stretch>
        </p:blipFill>
        <p:spPr>
          <a:xfrm>
            <a:off x="10387584" y="1676831"/>
            <a:ext cx="512064" cy="523392"/>
          </a:xfrm>
          <a:prstGeom prst="rect">
            <a:avLst/>
          </a:prstGeom>
        </p:spPr>
      </p:pic>
      <p:sp>
        <p:nvSpPr>
          <p:cNvPr id="97" name="Text: 醛固酮"/>
          <p:cNvSpPr txBox="1"/>
          <p:nvPr/>
        </p:nvSpPr>
        <p:spPr>
          <a:xfrm>
            <a:off x="10305288" y="2249424"/>
            <a:ext cx="63093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62660"/>
                </a:solidFill>
                <a:latin typeface="Noto Sans CJK SC"/>
                <a:ea typeface="Noto Sans CJK SC"/>
              </a:rPr>
              <a:t>醛固酮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570464" y="2514600"/>
            <a:ext cx="0" cy="109728"/>
          </a:xfrm>
          <a:prstGeom prst="line">
            <a:avLst/>
          </a:prstGeom>
          <a:ln w="17780">
            <a:solidFill>
              <a:srgbClr val="728D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9473184" y="2624328"/>
            <a:ext cx="1097280" cy="0"/>
          </a:xfrm>
          <a:prstGeom prst="line">
            <a:avLst/>
          </a:prstGeom>
          <a:ln w="17780">
            <a:solidFill>
              <a:srgbClr val="728D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Editable graphic"/>
          <p:cNvSpPr/>
          <p:nvPr/>
        </p:nvSpPr>
        <p:spPr>
          <a:xfrm rot="5400000">
            <a:off x="9372600" y="2734056"/>
            <a:ext cx="201168" cy="109728"/>
          </a:xfrm>
          <a:prstGeom prst="rightArrow">
            <a:avLst/>
          </a:prstGeom>
          <a:solidFill>
            <a:srgbClr val="607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graphic"/>
          <p:cNvSpPr/>
          <p:nvPr/>
        </p:nvSpPr>
        <p:spPr>
          <a:xfrm>
            <a:off x="8531352" y="2926080"/>
            <a:ext cx="914400" cy="676656"/>
          </a:xfrm>
          <a:prstGeom prst="star12">
            <a:avLst>
              <a:gd name="adj" fmla="val 34000"/>
            </a:avLst>
          </a:prstGeom>
          <a:solidFill>
            <a:srgbClr val="FFE8C9"/>
          </a:solidFill>
          <a:ln w="10795">
            <a:solidFill>
              <a:srgbClr val="E3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: ROS"/>
          <p:cNvSpPr txBox="1"/>
          <p:nvPr/>
        </p:nvSpPr>
        <p:spPr>
          <a:xfrm>
            <a:off x="8695944" y="3081528"/>
            <a:ext cx="603504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382621"/>
                </a:solidFill>
                <a:latin typeface="Noto Sans CJK SC"/>
                <a:ea typeface="Noto Sans CJK SC"/>
              </a:rPr>
              <a:t>ROS</a:t>
            </a:r>
          </a:p>
        </p:txBody>
      </p:sp>
      <p:sp>
        <p:nvSpPr>
          <p:cNvPr id="103" name="Text: 氧化应激"/>
          <p:cNvSpPr txBox="1"/>
          <p:nvPr/>
        </p:nvSpPr>
        <p:spPr>
          <a:xfrm>
            <a:off x="9582912" y="3035808"/>
            <a:ext cx="1197864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660"/>
                </a:solidFill>
                <a:latin typeface="Noto Sans CJK SC"/>
                <a:ea typeface="Noto Sans CJK SC"/>
              </a:rPr>
              <a:t>氧化应激</a:t>
            </a:r>
          </a:p>
        </p:txBody>
      </p:sp>
      <p:sp>
        <p:nvSpPr>
          <p:cNvPr id="104" name="Editable graphic"/>
          <p:cNvSpPr/>
          <p:nvPr/>
        </p:nvSpPr>
        <p:spPr>
          <a:xfrm>
            <a:off x="9409176" y="3602736"/>
            <a:ext cx="137160" cy="256032"/>
          </a:xfrm>
          <a:prstGeom prst="downArrow">
            <a:avLst/>
          </a:prstGeom>
          <a:solidFill>
            <a:srgbClr val="47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Medical illustration: immune-cells" descr="immune-cells.png"/>
          <p:cNvPicPr>
            <a:picLocks noChangeAspect="1"/>
          </p:cNvPicPr>
          <p:nvPr/>
        </p:nvPicPr>
        <p:blipFill>
          <a:blip r:embed="rId10"/>
          <a:srcRect l="5263" r="6648" t="3704" b="2020"/>
          <a:stretch>
            <a:fillRect/>
          </a:stretch>
        </p:blipFill>
        <p:spPr>
          <a:xfrm>
            <a:off x="8083459" y="3712463"/>
            <a:ext cx="1298121" cy="1143000"/>
          </a:xfrm>
          <a:prstGeom prst="rect">
            <a:avLst/>
          </a:prstGeom>
        </p:spPr>
      </p:pic>
      <p:sp>
        <p:nvSpPr>
          <p:cNvPr id="106" name="Text: 炎症细胞募集"/>
          <p:cNvSpPr txBox="1"/>
          <p:nvPr/>
        </p:nvSpPr>
        <p:spPr>
          <a:xfrm>
            <a:off x="9500616" y="4005072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062660"/>
                </a:solidFill>
                <a:latin typeface="Noto Sans CJK SC"/>
                <a:ea typeface="Noto Sans CJK SC"/>
              </a:rPr>
              <a:t>炎症细胞募集</a:t>
            </a:r>
          </a:p>
        </p:txBody>
      </p:sp>
      <p:sp>
        <p:nvSpPr>
          <p:cNvPr id="107" name="Text: 巨噬细胞、T淋巴细胞等"/>
          <p:cNvSpPr txBox="1"/>
          <p:nvPr/>
        </p:nvSpPr>
        <p:spPr>
          <a:xfrm>
            <a:off x="9372600" y="4379976"/>
            <a:ext cx="151790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94" b="1">
                <a:solidFill>
                  <a:srgbClr val="062660"/>
                </a:solidFill>
                <a:latin typeface="Noto Sans CJK SC"/>
                <a:ea typeface="Noto Sans CJK SC"/>
              </a:rPr>
              <a:t>巨噬细胞、T淋巴细胞等</a:t>
            </a:r>
          </a:p>
        </p:txBody>
      </p:sp>
      <p:sp>
        <p:nvSpPr>
          <p:cNvPr id="108" name="Editable graphic"/>
          <p:cNvSpPr/>
          <p:nvPr/>
        </p:nvSpPr>
        <p:spPr>
          <a:xfrm>
            <a:off x="9409176" y="4791456"/>
            <a:ext cx="137160" cy="237744"/>
          </a:xfrm>
          <a:prstGeom prst="downArrow">
            <a:avLst/>
          </a:prstGeom>
          <a:solidFill>
            <a:srgbClr val="47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Medical illustration: fibrosis" descr="fibrosis.png"/>
          <p:cNvPicPr>
            <a:picLocks noChangeAspect="1"/>
          </p:cNvPicPr>
          <p:nvPr/>
        </p:nvPicPr>
        <p:blipFill>
          <a:blip r:embed="rId11"/>
          <a:srcRect l="5974" r="3896" t="7921" b="7921"/>
          <a:stretch>
            <a:fillRect/>
          </a:stretch>
        </p:blipFill>
        <p:spPr>
          <a:xfrm>
            <a:off x="7998471" y="5038344"/>
            <a:ext cx="1157200" cy="850392"/>
          </a:xfrm>
          <a:prstGeom prst="rect">
            <a:avLst/>
          </a:prstGeom>
        </p:spPr>
      </p:pic>
      <p:sp>
        <p:nvSpPr>
          <p:cNvPr id="110" name="Text: 胶原沉积/纤维化"/>
          <p:cNvSpPr txBox="1"/>
          <p:nvPr/>
        </p:nvSpPr>
        <p:spPr>
          <a:xfrm>
            <a:off x="9253728" y="5148072"/>
            <a:ext cx="16459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2" b="1">
                <a:solidFill>
                  <a:srgbClr val="062660"/>
                </a:solidFill>
                <a:latin typeface="Noto Sans CJK SC"/>
                <a:ea typeface="Noto Sans CJK SC"/>
              </a:rPr>
              <a:t>胶原沉积/纤维化</a:t>
            </a:r>
          </a:p>
        </p:txBody>
      </p:sp>
      <p:sp>
        <p:nvSpPr>
          <p:cNvPr id="111" name="Text: 成纤维细胞活化、ECM沉积"/>
          <p:cNvSpPr txBox="1"/>
          <p:nvPr/>
        </p:nvSpPr>
        <p:spPr>
          <a:xfrm>
            <a:off x="9189720" y="5486400"/>
            <a:ext cx="170992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3" b="1">
                <a:solidFill>
                  <a:srgbClr val="062660"/>
                </a:solidFill>
                <a:latin typeface="Noto Sans CJK SC"/>
                <a:ea typeface="Noto Sans CJK SC"/>
              </a:rPr>
              <a:t>成纤维细胞活化、ECM沉积</a:t>
            </a:r>
          </a:p>
        </p:txBody>
      </p:sp>
      <p:sp>
        <p:nvSpPr>
          <p:cNvPr id="112" name="Editable graphic"/>
          <p:cNvSpPr/>
          <p:nvPr/>
        </p:nvSpPr>
        <p:spPr>
          <a:xfrm>
            <a:off x="10881360" y="2395728"/>
            <a:ext cx="448056" cy="530352"/>
          </a:xfrm>
          <a:prstGeom prst="rightArrow">
            <a:avLst/>
          </a:prstGeom>
          <a:ln>
            <a:noFill/>
          </a:ln>
          <a:gradFill>
            <a:gsLst>
              <a:gs pos="0">
                <a:srgbClr val="D4F3E1"/>
              </a:gs>
              <a:gs pos="100000">
                <a:srgbClr val="13885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graphic"/>
          <p:cNvSpPr/>
          <p:nvPr/>
        </p:nvSpPr>
        <p:spPr>
          <a:xfrm>
            <a:off x="11311128" y="1353312"/>
            <a:ext cx="1837943" cy="1609344"/>
          </a:xfrm>
          <a:prstGeom prst="roundRect">
            <a:avLst>
              <a:gd name="adj" fmla="val 7954"/>
            </a:avLst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graphic"/>
          <p:cNvSpPr/>
          <p:nvPr/>
        </p:nvSpPr>
        <p:spPr>
          <a:xfrm>
            <a:off x="13277088" y="1353312"/>
            <a:ext cx="1837943" cy="1609344"/>
          </a:xfrm>
          <a:prstGeom prst="roundRect">
            <a:avLst>
              <a:gd name="adj" fmla="val 7954"/>
            </a:avLst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Medical illustration: endothelium" descr="endothelium.png"/>
          <p:cNvPicPr>
            <a:picLocks noChangeAspect="1"/>
          </p:cNvPicPr>
          <p:nvPr/>
        </p:nvPicPr>
        <p:blipFill>
          <a:blip r:embed="rId12"/>
          <a:srcRect l="2994" r="3593" t="9057" b="9057"/>
          <a:stretch>
            <a:fillRect/>
          </a:stretch>
        </p:blipFill>
        <p:spPr>
          <a:xfrm>
            <a:off x="11555593" y="1371600"/>
            <a:ext cx="1367301" cy="950976"/>
          </a:xfrm>
          <a:prstGeom prst="rect">
            <a:avLst/>
          </a:prstGeom>
        </p:spPr>
      </p:pic>
      <p:sp>
        <p:nvSpPr>
          <p:cNvPr id="116" name="Text: 内皮功能障碍"/>
          <p:cNvSpPr txBox="1"/>
          <p:nvPr/>
        </p:nvSpPr>
        <p:spPr>
          <a:xfrm>
            <a:off x="11338560" y="2350008"/>
            <a:ext cx="1801368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内皮功能障碍</a:t>
            </a:r>
          </a:p>
        </p:txBody>
      </p:sp>
      <p:sp>
        <p:nvSpPr>
          <p:cNvPr id="117" name="Text: NO减少、炎症因子增加"/>
          <p:cNvSpPr txBox="1"/>
          <p:nvPr/>
        </p:nvSpPr>
        <p:spPr>
          <a:xfrm>
            <a:off x="11329416" y="2624328"/>
            <a:ext cx="18196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62660"/>
                </a:solidFill>
                <a:latin typeface="Noto Sans CJK SC"/>
                <a:ea typeface="Noto Sans CJK SC"/>
              </a:rPr>
              <a:t>NO减少、炎症因子增加</a:t>
            </a:r>
          </a:p>
        </p:txBody>
      </p:sp>
      <p:pic>
        <p:nvPicPr>
          <p:cNvPr id="118" name="Medical illustration: microcirculation" descr="microcirculation.png"/>
          <p:cNvPicPr>
            <a:picLocks noChangeAspect="1"/>
          </p:cNvPicPr>
          <p:nvPr/>
        </p:nvPicPr>
        <p:blipFill>
          <a:blip r:embed="rId13"/>
          <a:srcRect l="2632" r="6316" t="7619" b="7619"/>
          <a:stretch>
            <a:fillRect/>
          </a:stretch>
        </p:blipFill>
        <p:spPr>
          <a:xfrm>
            <a:off x="13558891" y="1353312"/>
            <a:ext cx="1256049" cy="969264"/>
          </a:xfrm>
          <a:prstGeom prst="rect">
            <a:avLst/>
          </a:prstGeom>
        </p:spPr>
      </p:pic>
      <p:sp>
        <p:nvSpPr>
          <p:cNvPr id="119" name="Text: 微循环异常"/>
          <p:cNvSpPr txBox="1"/>
          <p:nvPr/>
        </p:nvSpPr>
        <p:spPr>
          <a:xfrm>
            <a:off x="13350240" y="2340864"/>
            <a:ext cx="17007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微循环异常</a:t>
            </a:r>
          </a:p>
        </p:txBody>
      </p:sp>
      <p:sp>
        <p:nvSpPr>
          <p:cNvPr id="120" name="Text: 毛细血管稀疏、灌注不足"/>
          <p:cNvSpPr txBox="1"/>
          <p:nvPr/>
        </p:nvSpPr>
        <p:spPr>
          <a:xfrm>
            <a:off x="13258800" y="2642616"/>
            <a:ext cx="18653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4" b="1">
                <a:solidFill>
                  <a:srgbClr val="062660"/>
                </a:solidFill>
                <a:latin typeface="Noto Sans CJK SC"/>
                <a:ea typeface="Noto Sans CJK SC"/>
              </a:rPr>
              <a:t>毛细血管稀疏、灌注不足</a:t>
            </a:r>
          </a:p>
        </p:txBody>
      </p:sp>
      <p:pic>
        <p:nvPicPr>
          <p:cNvPr id="121" name="Medical illustration: atherosclerosis" descr="atherosclerosis.png"/>
          <p:cNvPicPr>
            <a:picLocks noChangeAspect="1"/>
          </p:cNvPicPr>
          <p:nvPr/>
        </p:nvPicPr>
        <p:blipFill>
          <a:blip r:embed="rId14"/>
          <a:srcRect l="4829" r="4427" t="4478" b="4478"/>
          <a:stretch>
            <a:fillRect/>
          </a:stretch>
        </p:blipFill>
        <p:spPr>
          <a:xfrm>
            <a:off x="11329416" y="3560351"/>
            <a:ext cx="1033271" cy="1118041"/>
          </a:xfrm>
          <a:prstGeom prst="rect">
            <a:avLst/>
          </a:prstGeom>
        </p:spPr>
      </p:pic>
      <p:sp>
        <p:nvSpPr>
          <p:cNvPr id="122" name="Text: 动脉粥样硬化"/>
          <p:cNvSpPr txBox="1"/>
          <p:nvPr/>
        </p:nvSpPr>
        <p:spPr>
          <a:xfrm>
            <a:off x="11283696" y="4809744"/>
            <a:ext cx="130759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62660"/>
                </a:solidFill>
                <a:latin typeface="Noto Sans CJK SC"/>
                <a:ea typeface="Noto Sans CJK SC"/>
              </a:rPr>
              <a:t>动脉粥样硬化</a:t>
            </a:r>
          </a:p>
        </p:txBody>
      </p:sp>
      <p:sp>
        <p:nvSpPr>
          <p:cNvPr id="123" name="Text: 脂质沉积、斑块形成"/>
          <p:cNvSpPr txBox="1"/>
          <p:nvPr/>
        </p:nvSpPr>
        <p:spPr>
          <a:xfrm>
            <a:off x="11274552" y="5157216"/>
            <a:ext cx="13990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62660"/>
                </a:solidFill>
                <a:latin typeface="Noto Sans CJK SC"/>
                <a:ea typeface="Noto Sans CJK SC"/>
              </a:rPr>
              <a:t>脂质沉积、斑块形成</a:t>
            </a:r>
          </a:p>
        </p:txBody>
      </p:sp>
      <p:pic>
        <p:nvPicPr>
          <p:cNvPr id="124" name="Medical illustration: heart" descr="heart.png"/>
          <p:cNvPicPr>
            <a:picLocks noChangeAspect="1"/>
          </p:cNvPicPr>
          <p:nvPr/>
        </p:nvPicPr>
        <p:blipFill>
          <a:blip r:embed="rId15"/>
          <a:srcRect l="8955" r="8955" t="885" b="7080"/>
          <a:stretch>
            <a:fillRect/>
          </a:stretch>
        </p:blipFill>
        <p:spPr>
          <a:xfrm>
            <a:off x="12469074" y="3282696"/>
            <a:ext cx="1295986" cy="1837943"/>
          </a:xfrm>
          <a:prstGeom prst="rect">
            <a:avLst/>
          </a:prstGeom>
        </p:spPr>
      </p:pic>
      <p:sp>
        <p:nvSpPr>
          <p:cNvPr id="125" name="Editable graphic"/>
          <p:cNvSpPr/>
          <p:nvPr/>
        </p:nvSpPr>
        <p:spPr>
          <a:xfrm>
            <a:off x="13862304" y="3072384"/>
            <a:ext cx="1207008" cy="704088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 w="10795">
            <a:solidFill>
              <a:srgbClr val="3C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Medical illustration: ventricle" descr="ventricle.png"/>
          <p:cNvPicPr>
            <a:picLocks noChangeAspect="1"/>
          </p:cNvPicPr>
          <p:nvPr/>
        </p:nvPicPr>
        <p:blipFill>
          <a:blip r:embed="rId16"/>
          <a:srcRect l="4734" r="4734" t="2663" b="7101"/>
          <a:stretch>
            <a:fillRect/>
          </a:stretch>
        </p:blipFill>
        <p:spPr>
          <a:xfrm>
            <a:off x="13991054" y="3108960"/>
            <a:ext cx="949506" cy="630936"/>
          </a:xfrm>
          <a:prstGeom prst="rect">
            <a:avLst/>
          </a:prstGeom>
        </p:spPr>
      </p:pic>
      <p:cxnSp>
        <p:nvCxnSpPr>
          <p:cNvPr id="127" name="Connector 126"/>
          <p:cNvCxnSpPr/>
          <p:nvPr/>
        </p:nvCxnSpPr>
        <p:spPr>
          <a:xfrm flipV="1">
            <a:off x="13459968" y="3209544"/>
            <a:ext cx="384048" cy="539495"/>
          </a:xfrm>
          <a:prstGeom prst="line">
            <a:avLst/>
          </a:prstGeom>
          <a:ln w="13970">
            <a:solidFill>
              <a:srgbClr val="111A2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Editable graphic"/>
          <p:cNvSpPr/>
          <p:nvPr/>
        </p:nvSpPr>
        <p:spPr>
          <a:xfrm rot="18960000">
            <a:off x="13725144" y="3200400"/>
            <a:ext cx="192024" cy="73152"/>
          </a:xfrm>
          <a:prstGeom prst="rightArrow">
            <a:avLst/>
          </a:prstGeom>
          <a:solidFill>
            <a:srgbClr val="10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: 左心室肥厚"/>
          <p:cNvSpPr txBox="1"/>
          <p:nvPr/>
        </p:nvSpPr>
        <p:spPr>
          <a:xfrm>
            <a:off x="13807440" y="3794760"/>
            <a:ext cx="127101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62660"/>
                </a:solidFill>
                <a:latin typeface="Noto Sans CJK SC"/>
                <a:ea typeface="Noto Sans CJK SC"/>
              </a:rPr>
              <a:t>左心室肥厚</a:t>
            </a:r>
          </a:p>
        </p:txBody>
      </p:sp>
      <p:sp>
        <p:nvSpPr>
          <p:cNvPr id="130" name="Text: 心肌重构"/>
          <p:cNvSpPr txBox="1"/>
          <p:nvPr/>
        </p:nvSpPr>
        <p:spPr>
          <a:xfrm>
            <a:off x="13944600" y="4050791"/>
            <a:ext cx="10058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62660"/>
                </a:solidFill>
                <a:latin typeface="Noto Sans CJK SC"/>
                <a:ea typeface="Noto Sans CJK SC"/>
              </a:rPr>
              <a:t>心肌重构</a:t>
            </a:r>
          </a:p>
        </p:txBody>
      </p:sp>
      <p:sp>
        <p:nvSpPr>
          <p:cNvPr id="131" name="Editable graphic"/>
          <p:cNvSpPr/>
          <p:nvPr/>
        </p:nvSpPr>
        <p:spPr>
          <a:xfrm>
            <a:off x="13871448" y="4361688"/>
            <a:ext cx="1207008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0795">
            <a:solidFill>
              <a:srgbClr val="3C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Medical illustration: myocardium" descr="myocardium.png"/>
          <p:cNvPicPr>
            <a:picLocks noChangeAspect="1"/>
          </p:cNvPicPr>
          <p:nvPr/>
        </p:nvPicPr>
        <p:blipFill>
          <a:blip r:embed="rId17"/>
          <a:srcRect l="4158" r="4752" t="6805" b="7101"/>
          <a:stretch>
            <a:fillRect/>
          </a:stretch>
        </p:blipFill>
        <p:spPr>
          <a:xfrm>
            <a:off x="14012410" y="4389120"/>
            <a:ext cx="925083" cy="585216"/>
          </a:xfrm>
          <a:prstGeom prst="rect">
            <a:avLst/>
          </a:prstGeom>
        </p:spPr>
      </p:pic>
      <p:sp>
        <p:nvSpPr>
          <p:cNvPr id="133" name="Editable graphic"/>
          <p:cNvSpPr/>
          <p:nvPr/>
        </p:nvSpPr>
        <p:spPr>
          <a:xfrm rot="840000">
            <a:off x="13395960" y="4434840"/>
            <a:ext cx="475488" cy="109728"/>
          </a:xfrm>
          <a:prstGeom prst="rightArrow">
            <a:avLst/>
          </a:prstGeom>
          <a:solidFill>
            <a:srgbClr val="16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: 心肌纤维化"/>
          <p:cNvSpPr txBox="1"/>
          <p:nvPr/>
        </p:nvSpPr>
        <p:spPr>
          <a:xfrm>
            <a:off x="13816584" y="5010912"/>
            <a:ext cx="127101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62660"/>
                </a:solidFill>
                <a:latin typeface="Noto Sans CJK SC"/>
                <a:ea typeface="Noto Sans CJK SC"/>
              </a:rPr>
              <a:t>心肌纤维化</a:t>
            </a:r>
          </a:p>
        </p:txBody>
      </p:sp>
      <p:sp>
        <p:nvSpPr>
          <p:cNvPr id="135" name="Text: 心肌僵硬、舒张功能受损"/>
          <p:cNvSpPr txBox="1"/>
          <p:nvPr/>
        </p:nvSpPr>
        <p:spPr>
          <a:xfrm>
            <a:off x="13569696" y="5276088"/>
            <a:ext cx="159105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7" b="1">
                <a:solidFill>
                  <a:srgbClr val="062660"/>
                </a:solidFill>
                <a:latin typeface="Noto Sans CJK SC"/>
                <a:ea typeface="Noto Sans CJK SC"/>
              </a:rPr>
              <a:t>心肌僵硬、舒张功能受损</a:t>
            </a:r>
          </a:p>
        </p:txBody>
      </p:sp>
      <p:sp>
        <p:nvSpPr>
          <p:cNvPr id="136" name="Editable graphic"/>
          <p:cNvSpPr/>
          <p:nvPr/>
        </p:nvSpPr>
        <p:spPr>
          <a:xfrm>
            <a:off x="13121640" y="5257800"/>
            <a:ext cx="164592" cy="210312"/>
          </a:xfrm>
          <a:prstGeom prst="downArrow">
            <a:avLst/>
          </a:prstGeom>
          <a:solidFill>
            <a:srgbClr val="EC4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graphic"/>
          <p:cNvSpPr/>
          <p:nvPr/>
        </p:nvSpPr>
        <p:spPr>
          <a:xfrm>
            <a:off x="12024360" y="5541264"/>
            <a:ext cx="2468880" cy="347472"/>
          </a:xfrm>
          <a:prstGeom prst="roundRect">
            <a:avLst>
              <a:gd name="adj" fmla="val 31578"/>
            </a:avLst>
          </a:prstGeom>
          <a:solidFill>
            <a:srgbClr val="F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: 心力衰竭风险↑"/>
          <p:cNvSpPr txBox="1"/>
          <p:nvPr/>
        </p:nvSpPr>
        <p:spPr>
          <a:xfrm>
            <a:off x="12115800" y="5541264"/>
            <a:ext cx="22860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8F0A17"/>
                </a:solidFill>
                <a:latin typeface="Noto Sans CJK SC"/>
                <a:ea typeface="Noto Sans CJK SC"/>
              </a:rPr>
              <a:t>心力衰竭风险↑</a:t>
            </a:r>
          </a:p>
        </p:txBody>
      </p:sp>
      <p:sp>
        <p:nvSpPr>
          <p:cNvPr id="139" name="Editable heart–kidney cycle curve"/>
          <p:cNvSpPr/>
          <p:nvPr/>
        </p:nvSpPr>
        <p:spPr>
          <a:xfrm>
            <a:off x="5376672" y="6172200"/>
            <a:ext cx="4361688" cy="557784"/>
          </a:xfrm>
          <a:custGeom>
            <a:avLst/>
            <a:gdLst/>
            <a:ahLst/>
            <a:cxnLst/>
            <a:rect l="l" t="t" r="r" b="b"/>
            <a:pathLst>
              <a:path w="477" h="61">
                <a:moveTo>
                  <a:pt x="8" y="61"/>
                </a:moveTo>
                <a:lnTo>
                  <a:pt x="13" y="57"/>
                </a:lnTo>
                <a:lnTo>
                  <a:pt x="19" y="53"/>
                </a:lnTo>
                <a:lnTo>
                  <a:pt x="26" y="50"/>
                </a:lnTo>
                <a:lnTo>
                  <a:pt x="32" y="47"/>
                </a:lnTo>
                <a:lnTo>
                  <a:pt x="39" y="43"/>
                </a:lnTo>
                <a:lnTo>
                  <a:pt x="47" y="40"/>
                </a:lnTo>
                <a:lnTo>
                  <a:pt x="55" y="37"/>
                </a:lnTo>
                <a:lnTo>
                  <a:pt x="63" y="35"/>
                </a:lnTo>
                <a:lnTo>
                  <a:pt x="72" y="32"/>
                </a:lnTo>
                <a:lnTo>
                  <a:pt x="80" y="30"/>
                </a:lnTo>
                <a:lnTo>
                  <a:pt x="89" y="28"/>
                </a:lnTo>
                <a:lnTo>
                  <a:pt x="99" y="25"/>
                </a:lnTo>
                <a:lnTo>
                  <a:pt x="108" y="24"/>
                </a:lnTo>
                <a:lnTo>
                  <a:pt x="118" y="22"/>
                </a:lnTo>
                <a:lnTo>
                  <a:pt x="128" y="20"/>
                </a:lnTo>
                <a:lnTo>
                  <a:pt x="138" y="19"/>
                </a:lnTo>
                <a:lnTo>
                  <a:pt x="148" y="17"/>
                </a:lnTo>
                <a:lnTo>
                  <a:pt x="159" y="16"/>
                </a:lnTo>
                <a:lnTo>
                  <a:pt x="169" y="15"/>
                </a:lnTo>
                <a:lnTo>
                  <a:pt x="180" y="14"/>
                </a:lnTo>
                <a:lnTo>
                  <a:pt x="191" y="14"/>
                </a:lnTo>
                <a:lnTo>
                  <a:pt x="202" y="13"/>
                </a:lnTo>
                <a:lnTo>
                  <a:pt x="213" y="13"/>
                </a:lnTo>
                <a:lnTo>
                  <a:pt x="224" y="12"/>
                </a:lnTo>
                <a:lnTo>
                  <a:pt x="235" y="12"/>
                </a:lnTo>
                <a:lnTo>
                  <a:pt x="246" y="12"/>
                </a:lnTo>
                <a:lnTo>
                  <a:pt x="257" y="13"/>
                </a:lnTo>
                <a:lnTo>
                  <a:pt x="268" y="13"/>
                </a:lnTo>
                <a:lnTo>
                  <a:pt x="279" y="13"/>
                </a:lnTo>
                <a:lnTo>
                  <a:pt x="289" y="14"/>
                </a:lnTo>
                <a:lnTo>
                  <a:pt x="300" y="15"/>
                </a:lnTo>
                <a:lnTo>
                  <a:pt x="311" y="15"/>
                </a:lnTo>
                <a:lnTo>
                  <a:pt x="322" y="16"/>
                </a:lnTo>
                <a:lnTo>
                  <a:pt x="332" y="18"/>
                </a:lnTo>
                <a:lnTo>
                  <a:pt x="343" y="19"/>
                </a:lnTo>
                <a:lnTo>
                  <a:pt x="353" y="20"/>
                </a:lnTo>
                <a:lnTo>
                  <a:pt x="363" y="22"/>
                </a:lnTo>
                <a:lnTo>
                  <a:pt x="373" y="23"/>
                </a:lnTo>
                <a:lnTo>
                  <a:pt x="383" y="25"/>
                </a:lnTo>
                <a:lnTo>
                  <a:pt x="392" y="27"/>
                </a:lnTo>
                <a:lnTo>
                  <a:pt x="402" y="29"/>
                </a:lnTo>
                <a:lnTo>
                  <a:pt x="411" y="31"/>
                </a:lnTo>
                <a:lnTo>
                  <a:pt x="419" y="33"/>
                </a:lnTo>
                <a:lnTo>
                  <a:pt x="428" y="35"/>
                </a:lnTo>
                <a:lnTo>
                  <a:pt x="436" y="38"/>
                </a:lnTo>
                <a:lnTo>
                  <a:pt x="444" y="40"/>
                </a:lnTo>
                <a:lnTo>
                  <a:pt x="451" y="43"/>
                </a:lnTo>
                <a:lnTo>
                  <a:pt x="458" y="46"/>
                </a:lnTo>
                <a:lnTo>
                  <a:pt x="465" y="48"/>
                </a:lnTo>
                <a:lnTo>
                  <a:pt x="471" y="51"/>
                </a:lnTo>
                <a:lnTo>
                  <a:pt x="477" y="41"/>
                </a:lnTo>
                <a:lnTo>
                  <a:pt x="470" y="37"/>
                </a:lnTo>
                <a:lnTo>
                  <a:pt x="463" y="35"/>
                </a:lnTo>
                <a:lnTo>
                  <a:pt x="455" y="32"/>
                </a:lnTo>
                <a:lnTo>
                  <a:pt x="447" y="29"/>
                </a:lnTo>
                <a:lnTo>
                  <a:pt x="439" y="26"/>
                </a:lnTo>
                <a:lnTo>
                  <a:pt x="431" y="24"/>
                </a:lnTo>
                <a:lnTo>
                  <a:pt x="422" y="21"/>
                </a:lnTo>
                <a:lnTo>
                  <a:pt x="413" y="19"/>
                </a:lnTo>
                <a:lnTo>
                  <a:pt x="404" y="17"/>
                </a:lnTo>
                <a:lnTo>
                  <a:pt x="395" y="15"/>
                </a:lnTo>
                <a:lnTo>
                  <a:pt x="385" y="13"/>
                </a:lnTo>
                <a:lnTo>
                  <a:pt x="375" y="11"/>
                </a:lnTo>
                <a:lnTo>
                  <a:pt x="365" y="10"/>
                </a:lnTo>
                <a:lnTo>
                  <a:pt x="355" y="8"/>
                </a:lnTo>
                <a:lnTo>
                  <a:pt x="344" y="7"/>
                </a:lnTo>
                <a:lnTo>
                  <a:pt x="334" y="6"/>
                </a:lnTo>
                <a:lnTo>
                  <a:pt x="323" y="4"/>
                </a:lnTo>
                <a:lnTo>
                  <a:pt x="312" y="3"/>
                </a:lnTo>
                <a:lnTo>
                  <a:pt x="301" y="3"/>
                </a:lnTo>
                <a:lnTo>
                  <a:pt x="290" y="2"/>
                </a:lnTo>
                <a:lnTo>
                  <a:pt x="279" y="1"/>
                </a:lnTo>
                <a:lnTo>
                  <a:pt x="268" y="1"/>
                </a:lnTo>
                <a:lnTo>
                  <a:pt x="257" y="1"/>
                </a:lnTo>
                <a:lnTo>
                  <a:pt x="246" y="0"/>
                </a:lnTo>
                <a:lnTo>
                  <a:pt x="234" y="0"/>
                </a:lnTo>
                <a:lnTo>
                  <a:pt x="223" y="0"/>
                </a:lnTo>
                <a:lnTo>
                  <a:pt x="212" y="1"/>
                </a:lnTo>
                <a:lnTo>
                  <a:pt x="201" y="1"/>
                </a:lnTo>
                <a:lnTo>
                  <a:pt x="190" y="2"/>
                </a:lnTo>
                <a:lnTo>
                  <a:pt x="179" y="2"/>
                </a:lnTo>
                <a:lnTo>
                  <a:pt x="168" y="3"/>
                </a:lnTo>
                <a:lnTo>
                  <a:pt x="157" y="4"/>
                </a:lnTo>
                <a:lnTo>
                  <a:pt x="147" y="5"/>
                </a:lnTo>
                <a:lnTo>
                  <a:pt x="136" y="7"/>
                </a:lnTo>
                <a:lnTo>
                  <a:pt x="126" y="8"/>
                </a:lnTo>
                <a:lnTo>
                  <a:pt x="116" y="10"/>
                </a:lnTo>
                <a:lnTo>
                  <a:pt x="106" y="12"/>
                </a:lnTo>
                <a:lnTo>
                  <a:pt x="96" y="14"/>
                </a:lnTo>
                <a:lnTo>
                  <a:pt x="87" y="16"/>
                </a:lnTo>
                <a:lnTo>
                  <a:pt x="77" y="18"/>
                </a:lnTo>
                <a:lnTo>
                  <a:pt x="68" y="21"/>
                </a:lnTo>
                <a:lnTo>
                  <a:pt x="59" y="23"/>
                </a:lnTo>
                <a:lnTo>
                  <a:pt x="51" y="26"/>
                </a:lnTo>
                <a:lnTo>
                  <a:pt x="43" y="29"/>
                </a:lnTo>
                <a:lnTo>
                  <a:pt x="35" y="32"/>
                </a:lnTo>
                <a:lnTo>
                  <a:pt x="27" y="36"/>
                </a:lnTo>
                <a:lnTo>
                  <a:pt x="20" y="39"/>
                </a:lnTo>
                <a:lnTo>
                  <a:pt x="13" y="43"/>
                </a:lnTo>
                <a:lnTo>
                  <a:pt x="7" y="47"/>
                </a:lnTo>
                <a:lnTo>
                  <a:pt x="0" y="51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FFFFF"/>
              </a:gs>
              <a:gs pos="100000">
                <a:srgbClr val="F2677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graphic"/>
          <p:cNvSpPr/>
          <p:nvPr/>
        </p:nvSpPr>
        <p:spPr>
          <a:xfrm rot="6941622">
            <a:off x="9573768" y="6446520"/>
            <a:ext cx="274320" cy="292608"/>
          </a:xfrm>
          <a:prstGeom prst="triangle">
            <a:avLst/>
          </a:prstGeom>
          <a:solidFill>
            <a:srgbClr val="F26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heart–kidney cycle curve"/>
          <p:cNvSpPr/>
          <p:nvPr/>
        </p:nvSpPr>
        <p:spPr>
          <a:xfrm>
            <a:off x="5559552" y="7050024"/>
            <a:ext cx="4343400" cy="512064"/>
          </a:xfrm>
          <a:custGeom>
            <a:avLst/>
            <a:gdLst/>
            <a:ahLst/>
            <a:cxnLst/>
            <a:rect l="l" t="t" r="r" b="b"/>
            <a:pathLst>
              <a:path w="475" h="56">
                <a:moveTo>
                  <a:pt x="469" y="0"/>
                </a:moveTo>
                <a:lnTo>
                  <a:pt x="462" y="3"/>
                </a:lnTo>
                <a:lnTo>
                  <a:pt x="455" y="7"/>
                </a:lnTo>
                <a:lnTo>
                  <a:pt x="447" y="10"/>
                </a:lnTo>
                <a:lnTo>
                  <a:pt x="439" y="13"/>
                </a:lnTo>
                <a:lnTo>
                  <a:pt x="431" y="16"/>
                </a:lnTo>
                <a:lnTo>
                  <a:pt x="423" y="19"/>
                </a:lnTo>
                <a:lnTo>
                  <a:pt x="414" y="22"/>
                </a:lnTo>
                <a:lnTo>
                  <a:pt x="405" y="24"/>
                </a:lnTo>
                <a:lnTo>
                  <a:pt x="396" y="26"/>
                </a:lnTo>
                <a:lnTo>
                  <a:pt x="387" y="29"/>
                </a:lnTo>
                <a:lnTo>
                  <a:pt x="378" y="31"/>
                </a:lnTo>
                <a:lnTo>
                  <a:pt x="369" y="33"/>
                </a:lnTo>
                <a:lnTo>
                  <a:pt x="359" y="34"/>
                </a:lnTo>
                <a:lnTo>
                  <a:pt x="349" y="36"/>
                </a:lnTo>
                <a:lnTo>
                  <a:pt x="340" y="37"/>
                </a:lnTo>
                <a:lnTo>
                  <a:pt x="330" y="39"/>
                </a:lnTo>
                <a:lnTo>
                  <a:pt x="320" y="40"/>
                </a:lnTo>
                <a:lnTo>
                  <a:pt x="310" y="41"/>
                </a:lnTo>
                <a:lnTo>
                  <a:pt x="299" y="42"/>
                </a:lnTo>
                <a:lnTo>
                  <a:pt x="289" y="42"/>
                </a:lnTo>
                <a:lnTo>
                  <a:pt x="279" y="43"/>
                </a:lnTo>
                <a:lnTo>
                  <a:pt x="269" y="43"/>
                </a:lnTo>
                <a:lnTo>
                  <a:pt x="258" y="44"/>
                </a:lnTo>
                <a:lnTo>
                  <a:pt x="248" y="44"/>
                </a:lnTo>
                <a:lnTo>
                  <a:pt x="237" y="44"/>
                </a:lnTo>
                <a:lnTo>
                  <a:pt x="227" y="44"/>
                </a:lnTo>
                <a:lnTo>
                  <a:pt x="217" y="43"/>
                </a:lnTo>
                <a:lnTo>
                  <a:pt x="206" y="43"/>
                </a:lnTo>
                <a:lnTo>
                  <a:pt x="196" y="42"/>
                </a:lnTo>
                <a:lnTo>
                  <a:pt x="186" y="42"/>
                </a:lnTo>
                <a:lnTo>
                  <a:pt x="175" y="41"/>
                </a:lnTo>
                <a:lnTo>
                  <a:pt x="165" y="40"/>
                </a:lnTo>
                <a:lnTo>
                  <a:pt x="155" y="39"/>
                </a:lnTo>
                <a:lnTo>
                  <a:pt x="145" y="38"/>
                </a:lnTo>
                <a:lnTo>
                  <a:pt x="135" y="37"/>
                </a:lnTo>
                <a:lnTo>
                  <a:pt x="125" y="35"/>
                </a:lnTo>
                <a:lnTo>
                  <a:pt x="115" y="34"/>
                </a:lnTo>
                <a:lnTo>
                  <a:pt x="106" y="32"/>
                </a:lnTo>
                <a:lnTo>
                  <a:pt x="96" y="30"/>
                </a:lnTo>
                <a:lnTo>
                  <a:pt x="87" y="28"/>
                </a:lnTo>
                <a:lnTo>
                  <a:pt x="78" y="26"/>
                </a:lnTo>
                <a:lnTo>
                  <a:pt x="69" y="24"/>
                </a:lnTo>
                <a:lnTo>
                  <a:pt x="60" y="22"/>
                </a:lnTo>
                <a:lnTo>
                  <a:pt x="51" y="20"/>
                </a:lnTo>
                <a:lnTo>
                  <a:pt x="43" y="17"/>
                </a:lnTo>
                <a:lnTo>
                  <a:pt x="35" y="15"/>
                </a:lnTo>
                <a:lnTo>
                  <a:pt x="27" y="12"/>
                </a:lnTo>
                <a:lnTo>
                  <a:pt x="19" y="9"/>
                </a:lnTo>
                <a:lnTo>
                  <a:pt x="12" y="6"/>
                </a:lnTo>
                <a:lnTo>
                  <a:pt x="4" y="3"/>
                </a:lnTo>
                <a:lnTo>
                  <a:pt x="0" y="15"/>
                </a:lnTo>
                <a:lnTo>
                  <a:pt x="7" y="18"/>
                </a:lnTo>
                <a:lnTo>
                  <a:pt x="15" y="21"/>
                </a:lnTo>
                <a:lnTo>
                  <a:pt x="23" y="23"/>
                </a:lnTo>
                <a:lnTo>
                  <a:pt x="31" y="26"/>
                </a:lnTo>
                <a:lnTo>
                  <a:pt x="40" y="29"/>
                </a:lnTo>
                <a:lnTo>
                  <a:pt x="48" y="31"/>
                </a:lnTo>
                <a:lnTo>
                  <a:pt x="57" y="34"/>
                </a:lnTo>
                <a:lnTo>
                  <a:pt x="66" y="36"/>
                </a:lnTo>
                <a:lnTo>
                  <a:pt x="75" y="38"/>
                </a:lnTo>
                <a:lnTo>
                  <a:pt x="85" y="40"/>
                </a:lnTo>
                <a:lnTo>
                  <a:pt x="94" y="42"/>
                </a:lnTo>
                <a:lnTo>
                  <a:pt x="104" y="44"/>
                </a:lnTo>
                <a:lnTo>
                  <a:pt x="113" y="45"/>
                </a:lnTo>
                <a:lnTo>
                  <a:pt x="123" y="47"/>
                </a:lnTo>
                <a:lnTo>
                  <a:pt x="133" y="48"/>
                </a:lnTo>
                <a:lnTo>
                  <a:pt x="143" y="50"/>
                </a:lnTo>
                <a:lnTo>
                  <a:pt x="154" y="51"/>
                </a:lnTo>
                <a:lnTo>
                  <a:pt x="164" y="52"/>
                </a:lnTo>
                <a:lnTo>
                  <a:pt x="174" y="53"/>
                </a:lnTo>
                <a:lnTo>
                  <a:pt x="185" y="54"/>
                </a:lnTo>
                <a:lnTo>
                  <a:pt x="195" y="54"/>
                </a:lnTo>
                <a:lnTo>
                  <a:pt x="206" y="55"/>
                </a:lnTo>
                <a:lnTo>
                  <a:pt x="216" y="55"/>
                </a:lnTo>
                <a:lnTo>
                  <a:pt x="227" y="56"/>
                </a:lnTo>
                <a:lnTo>
                  <a:pt x="237" y="56"/>
                </a:lnTo>
                <a:lnTo>
                  <a:pt x="248" y="56"/>
                </a:lnTo>
                <a:lnTo>
                  <a:pt x="258" y="56"/>
                </a:lnTo>
                <a:lnTo>
                  <a:pt x="269" y="55"/>
                </a:lnTo>
                <a:lnTo>
                  <a:pt x="279" y="55"/>
                </a:lnTo>
                <a:lnTo>
                  <a:pt x="290" y="54"/>
                </a:lnTo>
                <a:lnTo>
                  <a:pt x="300" y="54"/>
                </a:lnTo>
                <a:lnTo>
                  <a:pt x="311" y="53"/>
                </a:lnTo>
                <a:lnTo>
                  <a:pt x="321" y="52"/>
                </a:lnTo>
                <a:lnTo>
                  <a:pt x="331" y="51"/>
                </a:lnTo>
                <a:lnTo>
                  <a:pt x="341" y="49"/>
                </a:lnTo>
                <a:lnTo>
                  <a:pt x="351" y="48"/>
                </a:lnTo>
                <a:lnTo>
                  <a:pt x="361" y="46"/>
                </a:lnTo>
                <a:lnTo>
                  <a:pt x="371" y="44"/>
                </a:lnTo>
                <a:lnTo>
                  <a:pt x="381" y="42"/>
                </a:lnTo>
                <a:lnTo>
                  <a:pt x="390" y="40"/>
                </a:lnTo>
                <a:lnTo>
                  <a:pt x="399" y="38"/>
                </a:lnTo>
                <a:lnTo>
                  <a:pt x="409" y="36"/>
                </a:lnTo>
                <a:lnTo>
                  <a:pt x="418" y="33"/>
                </a:lnTo>
                <a:lnTo>
                  <a:pt x="426" y="30"/>
                </a:lnTo>
                <a:lnTo>
                  <a:pt x="435" y="27"/>
                </a:lnTo>
                <a:lnTo>
                  <a:pt x="443" y="24"/>
                </a:lnTo>
                <a:lnTo>
                  <a:pt x="452" y="21"/>
                </a:lnTo>
                <a:lnTo>
                  <a:pt x="460" y="18"/>
                </a:lnTo>
                <a:lnTo>
                  <a:pt x="467" y="14"/>
                </a:lnTo>
                <a:lnTo>
                  <a:pt x="475" y="10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FFFFF"/>
              </a:gs>
              <a:gs pos="100000">
                <a:srgbClr val="277DC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graphic"/>
          <p:cNvSpPr/>
          <p:nvPr/>
        </p:nvSpPr>
        <p:spPr>
          <a:xfrm rot="17571289">
            <a:off x="5440680" y="6986016"/>
            <a:ext cx="274320" cy="292608"/>
          </a:xfrm>
          <a:prstGeom prst="triangle">
            <a:avLst/>
          </a:prstGeom>
          <a:solidFill>
            <a:srgbClr val="2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Medical illustration: kidney" descr="kidney.png"/>
          <p:cNvPicPr>
            <a:picLocks noChangeAspect="1"/>
          </p:cNvPicPr>
          <p:nvPr/>
        </p:nvPicPr>
        <p:blipFill>
          <a:blip r:embed="rId18"/>
          <a:srcRect l="1529" r="1529" t="4420" b="4420"/>
          <a:stretch>
            <a:fillRect/>
          </a:stretch>
        </p:blipFill>
        <p:spPr>
          <a:xfrm>
            <a:off x="4638344" y="6236208"/>
            <a:ext cx="708558" cy="1106424"/>
          </a:xfrm>
          <a:prstGeom prst="rect">
            <a:avLst/>
          </a:prstGeom>
        </p:spPr>
      </p:pic>
      <p:pic>
        <p:nvPicPr>
          <p:cNvPr id="144" name="Medical illustration: heart" descr="heart.png"/>
          <p:cNvPicPr>
            <a:picLocks noChangeAspect="1"/>
          </p:cNvPicPr>
          <p:nvPr/>
        </p:nvPicPr>
        <p:blipFill>
          <a:blip r:embed="rId15"/>
          <a:srcRect l="8955" r="8955" t="885" b="7080"/>
          <a:stretch>
            <a:fillRect/>
          </a:stretch>
        </p:blipFill>
        <p:spPr>
          <a:xfrm>
            <a:off x="9952071" y="6163056"/>
            <a:ext cx="825304" cy="1170432"/>
          </a:xfrm>
          <a:prstGeom prst="rect">
            <a:avLst/>
          </a:prstGeom>
        </p:spPr>
      </p:pic>
      <p:sp>
        <p:nvSpPr>
          <p:cNvPr id="145" name="Editable graphic"/>
          <p:cNvSpPr/>
          <p:nvPr/>
        </p:nvSpPr>
        <p:spPr>
          <a:xfrm>
            <a:off x="4242816" y="7342631"/>
            <a:ext cx="1261872" cy="374904"/>
          </a:xfrm>
          <a:prstGeom prst="roundRect">
            <a:avLst>
              <a:gd name="adj" fmla="val 49000"/>
            </a:avLst>
          </a:prstGeom>
          <a:ln>
            <a:noFill/>
          </a:ln>
          <a:gradFill>
            <a:gsLst>
              <a:gs pos="0">
                <a:srgbClr val="EF5A5B"/>
              </a:gs>
              <a:gs pos="100000">
                <a:srgbClr val="C91F2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: 肾脏损伤"/>
          <p:cNvSpPr txBox="1"/>
          <p:nvPr/>
        </p:nvSpPr>
        <p:spPr>
          <a:xfrm>
            <a:off x="4288536" y="7351775"/>
            <a:ext cx="117043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Noto Sans CJK SC"/>
                <a:ea typeface="Noto Sans CJK SC"/>
              </a:rPr>
              <a:t>肾脏损伤</a:t>
            </a:r>
          </a:p>
        </p:txBody>
      </p:sp>
      <p:sp>
        <p:nvSpPr>
          <p:cNvPr id="147" name="Editable graphic"/>
          <p:cNvSpPr/>
          <p:nvPr/>
        </p:nvSpPr>
        <p:spPr>
          <a:xfrm>
            <a:off x="9829800" y="7342631"/>
            <a:ext cx="1207008" cy="365760"/>
          </a:xfrm>
          <a:prstGeom prst="roundRect">
            <a:avLst>
              <a:gd name="adj" fmla="val 49000"/>
            </a:avLst>
          </a:prstGeom>
          <a:ln>
            <a:noFill/>
          </a:ln>
          <a:gradFill>
            <a:gsLst>
              <a:gs pos="0">
                <a:srgbClr val="4D98DF"/>
              </a:gs>
              <a:gs pos="100000">
                <a:srgbClr val="1D60A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: 心脏损伤"/>
          <p:cNvSpPr txBox="1"/>
          <p:nvPr/>
        </p:nvSpPr>
        <p:spPr>
          <a:xfrm>
            <a:off x="9875520" y="7342631"/>
            <a:ext cx="1115568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Noto Sans CJK SC"/>
                <a:ea typeface="Noto Sans CJK SC"/>
              </a:rPr>
              <a:t>心脏损伤</a:t>
            </a:r>
          </a:p>
        </p:txBody>
      </p:sp>
      <p:sp>
        <p:nvSpPr>
          <p:cNvPr id="149" name="Editable graphic"/>
          <p:cNvSpPr/>
          <p:nvPr/>
        </p:nvSpPr>
        <p:spPr>
          <a:xfrm>
            <a:off x="6492240" y="5980176"/>
            <a:ext cx="2404872" cy="55778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: 肾功能下降加重心脏负荷"/>
          <p:cNvSpPr txBox="1"/>
          <p:nvPr/>
        </p:nvSpPr>
        <p:spPr>
          <a:xfrm>
            <a:off x="6629400" y="6007608"/>
            <a:ext cx="211226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43" b="1">
                <a:solidFill>
                  <a:srgbClr val="A70B15"/>
                </a:solidFill>
                <a:latin typeface="Noto Sans CJK SC"/>
                <a:ea typeface="Noto Sans CJK SC"/>
              </a:rPr>
              <a:t>肾功能下降加重心脏负荷</a:t>
            </a:r>
          </a:p>
        </p:txBody>
      </p:sp>
      <p:sp>
        <p:nvSpPr>
          <p:cNvPr id="151" name="Text: （容量负荷、毒素蓄积、RAS激活等）"/>
          <p:cNvSpPr txBox="1"/>
          <p:nvPr/>
        </p:nvSpPr>
        <p:spPr>
          <a:xfrm>
            <a:off x="6473952" y="6254496"/>
            <a:ext cx="243230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>
                <a:solidFill>
                  <a:srgbClr val="9A1020"/>
                </a:solidFill>
                <a:latin typeface="Noto Sans CJK SC"/>
                <a:ea typeface="Noto Sans CJK SC"/>
              </a:rPr>
              <a:t>（容量负荷、毒素蓄积、RAS激活等）</a:t>
            </a:r>
          </a:p>
        </p:txBody>
      </p:sp>
      <p:sp>
        <p:nvSpPr>
          <p:cNvPr id="152" name="Editable graphic"/>
          <p:cNvSpPr/>
          <p:nvPr/>
        </p:nvSpPr>
        <p:spPr>
          <a:xfrm>
            <a:off x="5980176" y="6656832"/>
            <a:ext cx="3300984" cy="438912"/>
          </a:xfrm>
          <a:prstGeom prst="roundRect">
            <a:avLst>
              <a:gd name="adj" fmla="val 49000"/>
            </a:avLst>
          </a:prstGeom>
          <a:solidFill>
            <a:srgbClr val="FF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: 心肾相互促进，形成恶性循环"/>
          <p:cNvSpPr txBox="1"/>
          <p:nvPr/>
        </p:nvSpPr>
        <p:spPr>
          <a:xfrm>
            <a:off x="6099048" y="6656832"/>
            <a:ext cx="3063240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4" b="1">
                <a:solidFill>
                  <a:srgbClr val="940A13"/>
                </a:solidFill>
                <a:latin typeface="Noto Sans CJK SC"/>
                <a:ea typeface="Noto Sans CJK SC"/>
              </a:rPr>
              <a:t>心肾相互促进，形成恶性循环</a:t>
            </a:r>
          </a:p>
        </p:txBody>
      </p:sp>
      <p:sp>
        <p:nvSpPr>
          <p:cNvPr id="154" name="Editable graphic"/>
          <p:cNvSpPr/>
          <p:nvPr/>
        </p:nvSpPr>
        <p:spPr>
          <a:xfrm>
            <a:off x="6537960" y="7324344"/>
            <a:ext cx="2167128" cy="384048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: 心功能障碍加重肾脏损伤"/>
          <p:cNvSpPr txBox="1"/>
          <p:nvPr/>
        </p:nvSpPr>
        <p:spPr>
          <a:xfrm>
            <a:off x="6629400" y="7278624"/>
            <a:ext cx="2066543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13" b="1">
                <a:solidFill>
                  <a:srgbClr val="062660"/>
                </a:solidFill>
                <a:latin typeface="Noto Sans CJK SC"/>
                <a:ea typeface="Noto Sans CJK SC"/>
              </a:rPr>
              <a:t>心功能障碍加重肾脏损伤</a:t>
            </a:r>
          </a:p>
        </p:txBody>
      </p:sp>
      <p:sp>
        <p:nvSpPr>
          <p:cNvPr id="156" name="Text: （肾灌注减少、静脉淤血、神经体液激活等）"/>
          <p:cNvSpPr txBox="1"/>
          <p:nvPr/>
        </p:nvSpPr>
        <p:spPr>
          <a:xfrm>
            <a:off x="6217920" y="7552944"/>
            <a:ext cx="289864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17" b="1">
                <a:solidFill>
                  <a:srgbClr val="062660"/>
                </a:solidFill>
                <a:latin typeface="Noto Sans CJK SC"/>
                <a:ea typeface="Noto Sans CJK SC"/>
              </a:rPr>
              <a:t>（肾灌注减少、静脉淤血、神经体液激活等）</a:t>
            </a:r>
          </a:p>
        </p:txBody>
      </p:sp>
      <p:sp>
        <p:nvSpPr>
          <p:cNvPr id="157" name="Editable graphic"/>
          <p:cNvSpPr/>
          <p:nvPr/>
        </p:nvSpPr>
        <p:spPr>
          <a:xfrm>
            <a:off x="2423160" y="7927848"/>
            <a:ext cx="10442448" cy="521207"/>
          </a:xfrm>
          <a:prstGeom prst="roundRect">
            <a:avLst>
              <a:gd name="adj" fmla="val 24561"/>
            </a:avLst>
          </a:prstGeom>
          <a:ln w="10795">
            <a:solidFill>
              <a:srgbClr val="5799F0"/>
            </a:solidFill>
          </a:ln>
          <a:gradFill>
            <a:gsLst>
              <a:gs pos="0">
                <a:srgbClr val="F6FBFF"/>
              </a:gs>
              <a:gs pos="100000">
                <a:srgbClr val="EDF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: 共同病理基础：代谢负荷增加 + 血流动力学紊乱 + 炎症与纤维化 + 血管内皮损伤"/>
          <p:cNvSpPr txBox="1"/>
          <p:nvPr/>
        </p:nvSpPr>
        <p:spPr>
          <a:xfrm>
            <a:off x="2807208" y="7936992"/>
            <a:ext cx="966520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>
                <a:solidFill>
                  <a:srgbClr val="062660"/>
                </a:solidFill>
                <a:latin typeface="Noto Sans CJK SC"/>
                <a:ea typeface="Noto Sans CJK SC"/>
              </a:rPr>
              <a:t>共同病理基础：代谢负荷增加 + 血流动力学紊乱 + 炎症与纤维化 + 血管内皮损伤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